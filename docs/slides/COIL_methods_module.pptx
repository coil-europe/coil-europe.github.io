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MATERIAL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 module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Six methods explained with the COIL data, from the idea to the result.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regression · panel data · classification · PCA · clustering · missing values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MODULE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per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does, in plain words. No formulas you need to memorise.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7432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with the COIL dataset, so you can reproduce every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463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output means, and the most common mistakes.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26517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4944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yourself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in Power BI and Gretl. Code in Python and R only if your course uses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to program. Everything in this module can be done with menus; the code is there for those who prefer it, and it is on the website ready to run.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project follows the same six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47088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48256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8144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16752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14600"/>
            <a:ext cx="64008" cy="20116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624328"/>
            <a:ext cx="7909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that apply to every method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971800"/>
            <a:ext cx="7909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COIL data are 32 countries. That is a small sample: keep models simple and report n in every table.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over many years. Choose the same year(s) for all countries.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is not causation. Your results describe patterns; explain them with the national context, do not claim effects.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method answers your question?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with X, other things equal?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hold within countries over time?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country in the high or the low group?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values are missing. What now?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two indicators move together across countries?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 for "do they move together?"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correlation coefficient r goes from −1 to +1. Close to +1: when one indicator is high, the other tends to be high. Close to −1: one high, the other low. Close to 0: no linear pattern.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the scatter plot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 per country. The picture shows outliers and curves that r cannot.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measures straight-line patterns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curved relationship can have a small 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year for every country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2015 in one country with 2023 in another mixes time and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countries use the Internet more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orrel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0.73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users vs GDP per capita, 2023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(EU aggregate excluded)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association; without Luxembourg and Ireland, far to the right, r is still 0.74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 (IT.NET.USER.ZS, NY.GDP.PCAP.PP.KD). Spain, Slovakia and Montenegro in coral.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= 0.73 tells you, and what it does not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higher income per person tend to have a larger share of Internet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the country furthest above the line: about 6 points more users than expected for its income. Montenegro is slightly above, Slovakia slightly below.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guide: |r| below 0.3 weak, 0.3 to 0.7 moderate, above 0.7 strong.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say that income causes Internet use (or the reverse).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very rich countries can pull r up or down: check without them.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percentages or per-capita values, never totals, when countries differ in size.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GDP per capita,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pane &gt; Trend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quick measure &gt; Correlation coefficient.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year ==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two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Correlation matrix.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Graph specified vars &gt; X-Y scatter.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print(s[["IT_NET_USER_ZS", "NY_GDP_PCAP_PP_KD"]].corr())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cor(s$IT_NET_USER_ZS, s$NY_GDP_PCAP_PP_KD, use = "complete.obs")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one indicator change when another changes, keeping the rest constant?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 through the cloud of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b1·X1 + b2·X2 + error. Each coefficient b is the average change in Y when that X increases by one unit and the other X stay the same.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(b)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sign of the association, in the units of Y per unit of 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0.05: the pattern is unlikely to be pure chance. It says nothing about how large or important it 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differences in Y between countries that the model reproduces (0 to 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Youth unemployment, education and income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regr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-10.0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log GDP per capita (p =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tertiary enrolment (p = 0.909)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0.32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countries, 2022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youth unemployment = b0 + b1·tertiary enrolment + b2·log(GDP per capita). The line in the chart uses income only.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table in plain English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Income: with GDP per capita 10% higher, youth unemployment is about 1.0 points lower, for the same tertiary enrolment.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enrolment: no association once income is taken into account (p = 0.909).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reproduces about 32% of the differences between countries; the rest depends on other things (labour laws, training systems…).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log X: coefficient × 0.095 ≈ change in Y for a 10% higher 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Association, not effect: income could stand for many other things.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countries: add two or three variables at most.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outliers in the scatter before you trust the line.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try models until one is significant: decide the model from your question.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X: scatter chart + Analytics pane &gt; Trend line shows the fitted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X: Power BI has no regression table.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GDP per capita, then Add &gt; Logs of selected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Ordinary Least Squares.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SL_UEM_1524_ZS. Regressors: SE_TER_ENRR and l_NY_GDP_PCAP_PP_KD.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"SL_UEM_1524_ZS ~ SE_TER_ENRR + log_gdp"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print(m.summary())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lm(SL_UEM_1524_ZS ~ SE_TER_ENRR + log_gdp, data = 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data and time trends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countries followed over the years: compare each country with itself.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countries or within a country?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regression on all country-years mixes two things: differences between countries and changes within each country. Country fixed effects keep only the changes within each country.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fixed effects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stable about a country (history, institutions, climate) is taken out.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trend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what changes for everybody over the years.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the same country are not independent: cluster by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Ageing and health expenditure, 2010–2023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+0.25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country-years together (p &lt;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-0.10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countries, with fixed effects and trend (p = 0.276)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+0.08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GDP per year, common trend (p = 0.056)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447 observations, 32 countries. Coefficient: change in health spending (% of GDP) per extra point of population aged 65+.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two answers differ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countries: older societies spend more on health.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countries: in these 14 years, ageing faster did not go with spending more, once the common trend is removed.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true; they answer different questions. Say which one your question is about.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(COVID-19) moves every country: look at the chart, consider year dummies.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ordinary standard errors p = 0.08; clustered by country p ≈ 0.27. Always cluster.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differences between software (0.27 vs 0.28) are normal.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chart: X = year, Y = health expenditure, Legend = country: shows the panel.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itself: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 (unit iso3, time year).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&lt;=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trend = year - 2010.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Panel &gt; Fixed or random effects: choose Fixed effects, tick Robust standard errors.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y, x = "SH_XPD_CHEX_GD_ZS", "SP_POP_65UP_TO_ZS"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d[d.year.between(2010, 2023)].dropna(subset=[y, x]).copy()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p["trend"] = p.year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f"{y} ~ {x} + trend + C(iso3)"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data=p).fit(cov_type="cluster",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cov_kwds={"groups": pd.factorize(p.iso3)[0]})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print(m.params[[x, "trend"]], m.pvalues[[x, "trend"]])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library(fixest)   # install.packages("fixest") once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&lt;- subset(d, year &gt;= 2010 &amp; year &lt;=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p$trend &lt;- p$year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feols(SH_XPD_CHEX_GD_ZS ~ SP_POP_65UP_TO_ZS + trend | iso3,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p, cluster = ~iso3)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coeftable(m)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group of a country: high or low?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number to a probability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 gives each country a probability (0 to 1) of being in the "high" group. Above 0.5 we classify it as high. Then we count how many we got right.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groups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 above or below the median of the indicator.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2×2 table: real group against predicted group.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countries classified correctly. Compare it with 50%, the result of guessing.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or low female participation?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asific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 countries classified correctly (24 of 32)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participation: the line between high and low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0.042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helps to classify; fertility does not (p = 0.217)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high participation ~ fertility rate + log GDP per capita, 2022.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confusion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low, predicted low: 12. Real low, predicted high: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high, predicted high: 12. Real high, predicted low: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classified high but is low; Slovakia is classified low but is high. Wrong cases are interesting: explain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measured on the same countries used to fit the model is optimistic. With so few countries, use leave-one-out cross-validation if you can.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at the median throws information away: say why you do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influencers visual: Analyze = high/low group, Explain by = fertility and GDP per capita. Good for exploring.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the confusion matrix: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high = SL_TLF_CACT_FE_ZS &gt; 53.8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Limited dependent variable &gt; Logit &gt; Binary.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high. Regressors: SP_DYN_TFRT_IN, l_NY_GDP_PCAP_PP_KD. The output reports the cases correctly predicted.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= s.SL_TLF_CACT_FE_ZS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s["high"] = (fem &gt; fem.median()).astype(int)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smf.logit("high ~ SP_DYN_TFRT_IN + log_gdp",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s["pred"] = (m.predict(s) &gt; 0.5).astype(int)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print(pd.crosstab(s.high, s.pred))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&lt;- s$SL_TLF_CACT_FE_ZS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s$high &lt;- as.integer(fem &gt; median(fem))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glm(high ~ SP_DYN_TFRT_IN + log_gdp, family = binomial, data = 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s$pred &lt;- as.integer(predict(m, type = "response") &gt; 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table(real = s$high, predicted = s$pred)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component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many related indicators in two or three new ones.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variables, almost the same information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indicators say similar things (richer countries have more Internet users and live longer). PCA builds new variables, the components, that collect what the indicators share.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indicator with the biggest numbers dominates.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explained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information each component keeps.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indicator weighs in a component. They tell you what the component means.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indicators, two components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variance in component 1: "development"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component 2: "ageing"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by the two together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2022, standardised: GDP per capita, services, Internet users, population 65+, unemployment, life expectancy.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Naming the components from the loadings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GDP per capita 0.53, Internet 0.5, life expectancy 0.45, services 0.4, unemployment -0.29. High = more developed.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population 65+ 0.87, unemployment -0.41. High = older population.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chart, Montenegro is low on both; Spain is near the centre on development.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a component is arbitrary: two programs can flip it.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components is your interpretation: show the loadings.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components afterwards in clustering or regression if you need fewer variables.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has no PCA. Use Gretl (no code), or a Python/R visual with the code below.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six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Principal components.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uses the correlation matrix by default, so the variables are standardised.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"SP_POP_65UP_TO_ZS", "SL_UEM_TOTL_ZS", "SP_DYN_LE00_IN"]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2022].dropna(subset=cols)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 = PCA().fit(z)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print(pca.explained_variance_ratio_.round(3))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print(pd.DataFrame(pca.components_[:2].T, index=cols).round(2))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"SP_POP_65UP_TO_ZS", "SL_UEM_TOTL_ZS", "SP_DYN_LE00_IN")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2022)[,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 &lt;- prcomp(s, scale. = TRUE)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summary(pc)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round(pc$rotation[, 1:2], 2)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look alike?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Groups of similar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 puts each country in one of k groups so that countries in the same group are as close as possible to the group centre. You choose 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every indicator counts the same.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(higher is better) and whether the groups make sense.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their centres (averages), not by the cluster number.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digital profiles in Europe, 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use, high broadband: 94.8% use the Internet, 38.8 broadband per 100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broadband: 87.2% use the Internet, 29.4 broadband per 100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84.8% use the Internet, 42.3 broadband per 100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k = 3 (silhouette 0.432, the highest between 2 and 6), Internet users and fixed broadband, standardised.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our three countries fall?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Spain: High use, high broadband. Slovakia and Montenegro: Lower broadband.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BGR, CZE, FRA, GRC, PRT: many broadband lines but fewer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by k: 2 → 0.397, 3 → 0.432, 4 → 0.381, 5 → 0.38, 6 → 0.384.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always finds groups, even if there are none: check the silhouette and the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random seed and use many starts, or the groups change each time.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groups are stable in another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broadband,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(…) &gt; Automatically find clusters.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number of clusters to 3.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has no built-in k-means.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Power BI (no code), or Python or 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["IT_NET_USER_ZS", "IT_NET_BBND_P2"]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2023].dropna(subset=cols).copy()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 = KMeans(n_clusters=3, n_init=25, random_state=2026)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s["cluster"] = km.fit_predict(z)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print(s.groupby("cluster")[cols].mean().round(1))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print(s.groupby("cluster").iso3.apply(list))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c("iso3", "IT_NET_USER_ZS", "IT_NET_BBND_P2")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2023)[,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set.seed(2026)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&lt;- kmeans(scale(s[, -1]), centers = 3, nstart = 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split(s$iso3, k$cluster)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values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normal. Hiding them is not.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honest options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4389120" cy="2724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available, pink = missing, 2010–2024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0" y="1234440"/>
            <a:ext cx="347472" cy="347472"/>
          </a:xfrm>
          <a:prstGeom prst="ellipse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32120" y="1188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 or indicator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0" y="201168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32120" y="1965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country out, and say so (n = …)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0" y="2788920"/>
            <a:ext cx="347472" cy="347472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3212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only between two known years, and mark it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0" y="3566160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532120" y="3520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documented source (Eurostat, MONSTAT…)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gaps: Power BI &gt; Transform data &gt; View &gt; Column quality. Gretl: Variable &gt; Summary statistics (number of missing values).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RESULTS TO THE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rules for charts people understand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chart; write it as the title ("Richer countries use the Internet more").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axes with units, year and source.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Spain, Slovakia and Montenegro; keep the others grey.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for comparing countries, lines for time, scatter for two indicators.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3D, no pie charts with many slices.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636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limits on the dashboard: n, years, gaps, association not causation.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code, ready to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website (Resources): methods.py (Python), methods.R (R) and methods.inp (Gretl). They reproduce every number in this module. Put them in the same folder as coil_indicators_gretl.csv.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Ask your home teacher, or bring the problem to the mid-point clinic (week 5).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Methods module</dc:title>
  <dc:subject>PptxGenJS Presentation</dc:subject>
  <dc:creator>Ulysseus COIL teaching team</dc:creator>
  <cp:lastModifiedBy>Ulysseus COIL teaching team</cp:lastModifiedBy>
  <cp:revision>1</cp:revision>
  <dcterms:created xsi:type="dcterms:W3CDTF">2026-10-09T13:00:24Z</dcterms:created>
  <dcterms:modified xsi:type="dcterms:W3CDTF">2026-10-09T13:00:24Z</dcterms:modified>
</cp:coreProperties>
</file>