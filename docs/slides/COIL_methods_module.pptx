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55A5A"/>
          </a:solidFill>
          <a:ln w="12700">
            <a:solidFill>
              <a:srgbClr val="E55A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09360" y="-1463040"/>
            <a:ext cx="4572000" cy="45720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2011680"/>
            <a:ext cx="3108960" cy="3108960"/>
          </a:xfrm>
          <a:prstGeom prst="ellipse">
            <a:avLst/>
          </a:prstGeom>
          <a:solidFill>
            <a:srgbClr val="E55A5A">
              <a:alpha val="15000"/>
            </a:srgbClr>
          </a:solidFill>
          <a:ln w="12700">
            <a:solidFill>
              <a:srgbClr val="E55A5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MATERIAL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Methods module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Europe with Data. Six methods explained with the COIL data, from the idea to the result.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· regression · panel data · classification · PCA · clustering · missing values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886200"/>
            <a:ext cx="5062347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069080"/>
            <a:ext cx="1203579" cy="41148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39" y="4000500"/>
            <a:ext cx="603504" cy="548640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8723" y="4000500"/>
            <a:ext cx="994410" cy="548640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4613" y="4000500"/>
            <a:ext cx="569214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THIS MODULE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slides per method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Methods module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965960" cy="2651760"/>
          </a:xfrm>
          <a:prstGeom prst="rect">
            <a:avLst/>
          </a:prstGeom>
          <a:solidFill>
            <a:srgbClr val="F4F3F9"/>
          </a:solidFill>
          <a:ln w="12700">
            <a:solidFill>
              <a:srgbClr val="F4F3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5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method does, in plain words. No formulas you need to memorise.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234440"/>
            <a:ext cx="1965960" cy="2651760"/>
          </a:xfrm>
          <a:prstGeom prst="rect">
            <a:avLst/>
          </a:prstGeom>
          <a:solidFill>
            <a:srgbClr val="F4F3F9"/>
          </a:solidFill>
          <a:ln w="12700">
            <a:solidFill>
              <a:srgbClr val="F4F3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13716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5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743200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example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24688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with the COIL dataset, so you can reproduce every number.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234440"/>
            <a:ext cx="1965960" cy="2651760"/>
          </a:xfrm>
          <a:prstGeom prst="rect">
            <a:avLst/>
          </a:prstGeom>
          <a:solidFill>
            <a:srgbClr val="F4F3F9"/>
          </a:solidFill>
          <a:ln w="12700">
            <a:solidFill>
              <a:srgbClr val="F4F3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3716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5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846320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24688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output means, and the most common mistakes.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1234440"/>
            <a:ext cx="1965960" cy="2651760"/>
          </a:xfrm>
          <a:prstGeom prst="rect">
            <a:avLst/>
          </a:prstGeom>
          <a:solidFill>
            <a:srgbClr val="312A63"/>
          </a:solidFill>
          <a:ln w="12700">
            <a:solidFill>
              <a:srgbClr val="312A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13716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5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949440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it yourself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49440" y="24688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Menus in Power BI and Gretl. Code in Python and R only if your course uses it.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need to program. Everything in this module can be done with menus; the code is there for those who prefer it, and it is on the website ready to run.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project follows the same six steps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Methods module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325880" cy="731520"/>
          </a:xfrm>
          <a:prstGeom prst="chevron">
            <a:avLst/>
          </a:prstGeom>
          <a:solidFill>
            <a:srgbClr val="312A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46304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847088" y="1463040"/>
            <a:ext cx="1325880" cy="731520"/>
          </a:xfrm>
          <a:prstGeom prst="chevron">
            <a:avLst/>
          </a:prstGeom>
          <a:solidFill>
            <a:srgbClr val="312A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48256" y="146304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36976" y="1463040"/>
            <a:ext cx="1325880" cy="731520"/>
          </a:xfrm>
          <a:prstGeom prst="chevron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38144" y="146304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26864" y="1463040"/>
            <a:ext cx="1325880" cy="731520"/>
          </a:xfrm>
          <a:prstGeom prst="chevron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46304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16752" y="1463040"/>
            <a:ext cx="1325880" cy="731520"/>
          </a:xfrm>
          <a:prstGeom prst="chevron">
            <a:avLst/>
          </a:prstGeom>
          <a:solidFill>
            <a:srgbClr val="E55A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46304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06640" y="1463040"/>
            <a:ext cx="1325880" cy="731520"/>
          </a:xfrm>
          <a:prstGeom prst="chevron">
            <a:avLst/>
          </a:prstGeom>
          <a:solidFill>
            <a:srgbClr val="E55A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07808" y="146304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514600"/>
            <a:ext cx="8229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514600"/>
            <a:ext cx="64008" cy="2011680"/>
          </a:xfrm>
          <a:prstGeom prst="rect">
            <a:avLst/>
          </a:prstGeom>
          <a:solidFill>
            <a:srgbClr val="E55A5A"/>
          </a:solidFill>
          <a:ln w="12700">
            <a:solidFill>
              <a:srgbClr val="E55A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2624328"/>
            <a:ext cx="7909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that apply to every method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" y="2971800"/>
            <a:ext cx="79095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COIL data are 32 countries. That is a small sample: keep models simple and report n in every table.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 = one year, many countries. Panel = many countries over many years. Choose the same year(s) for all countries.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is not causation. Your results describe patterns; explain them with the national context, do not claim effects.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method answers your question?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Methods module</a:t>
            </a:r>
            <a:endParaRPr lang="en-US" sz="8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2377440"/>
                <a:gridCol w="1097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question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A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A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A6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two indicators move together?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much does Y change with X, other things equal?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it hold within countries over time?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Panel regression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a country in the high or the low group?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many indicators be summarised in a few?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countries look alike?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 values are missing. What now?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values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1B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E5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548640" y="24231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Correlation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31546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two indicators move together across countries?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Methods module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· THE IDEA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number for "do they move together?"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Methods module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3337560"/>
          </a:xfrm>
          <a:prstGeom prst="rect">
            <a:avLst/>
          </a:prstGeom>
          <a:solidFill>
            <a:srgbClr val="312A63"/>
          </a:solidFill>
          <a:ln w="12700">
            <a:solidFill>
              <a:srgbClr val="312A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71600"/>
            <a:ext cx="3520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correlation coefficient r goes from −1 to +1. Close to +1: when one indicator is high, the other tends to be high. Close to −1: one high, the other low. Close to 0: no linear pattern.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3440" y="1216152"/>
            <a:ext cx="347472" cy="347472"/>
          </a:xfrm>
          <a:prstGeom prst="ellipse">
            <a:avLst/>
          </a:prstGeom>
          <a:solidFill>
            <a:srgbClr val="E55A5A"/>
          </a:solidFill>
          <a:ln w="12700">
            <a:solidFill>
              <a:srgbClr val="E55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216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66360" y="11887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look at the scatter plot first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66360" y="1499616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dot per country. The picture shows outliers and curves that r cannot.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331720"/>
            <a:ext cx="347472" cy="34747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66360" y="230428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measures straight-line patterns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66360" y="2615184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curved relationship can have a small 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3447288"/>
            <a:ext cx="347472" cy="347472"/>
          </a:xfrm>
          <a:prstGeom prst="ellipse">
            <a:avLst/>
          </a:prstGeom>
          <a:solidFill>
            <a:srgbClr val="E55A5A"/>
          </a:solidFill>
          <a:ln w="12700">
            <a:solidFill>
              <a:srgbClr val="E55A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3447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66360" y="341985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year for every country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66360" y="3730752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2015 in one country with 2023 in another mixes time and country.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· EXAMPLE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Richer countries use the Internet more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Methods module</a:t>
            </a:r>
            <a:endParaRPr lang="en-US" sz="850" dirty="0"/>
          </a:p>
        </p:txBody>
      </p:sp>
      <p:pic>
        <p:nvPicPr>
          <p:cNvPr id="5" name="Image 0" descr="C:\Users\danir\Desktop\COIL Ulysseus\presentaciones\figuras\correla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502920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0" y="10515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E5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0.73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669280" y="17647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users vs GDP per capita, 2023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0" y="21488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669280" y="28620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(EU aggregate excluded)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69280" y="32461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5669280" y="39593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association; without Luxembourg and Ireland, far to the right, r is still 0.74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World Bank (IT.NET.USER.ZS, NY.GDP.PCAP.PP.KD). Spain, Slovakia and Montenegro in coral.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· READING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 = 0.73 tells you, and what it does not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Methods module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5720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64008" cy="3383280"/>
          </a:xfrm>
          <a:prstGeom prst="rect">
            <a:avLst/>
          </a:prstGeom>
          <a:solidFill>
            <a:srgbClr val="312A63"/>
          </a:solidFill>
          <a:ln w="12700">
            <a:solidFill>
              <a:srgbClr val="312A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29844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1645920"/>
            <a:ext cx="425196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with higher income per person tend to have a larger share of Internet users.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 is the country furthest above the line: about 6 points more users than expected for its income. Montenegro is slightly above, Slovakia slightly below.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 guide: |r| below 0.3 weak, 0.3 to 0.7 moderate, above 0.7 strong.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212080" y="1188720"/>
            <a:ext cx="3474720" cy="3383280"/>
          </a:xfrm>
          <a:prstGeom prst="rect">
            <a:avLst/>
          </a:prstGeom>
          <a:solidFill>
            <a:srgbClr val="FFF7F7"/>
          </a:solidFill>
          <a:ln w="9525">
            <a:solidFill>
              <a:srgbClr val="DDDA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212080" y="1188720"/>
            <a:ext cx="64008" cy="3383280"/>
          </a:xfrm>
          <a:prstGeom prst="rect">
            <a:avLst/>
          </a:prstGeom>
          <a:solidFill>
            <a:srgbClr val="E55A5A"/>
          </a:solidFill>
          <a:ln w="12700">
            <a:solidFill>
              <a:srgbClr val="E55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13248" y="129844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13248" y="1645920"/>
            <a:ext cx="315468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say that income causes Internet use (or the reverse).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very rich countries can pull r up or down: check without them.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percentages or per-capita values, never totals, when countries differ in size.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· DO IT YOURSELF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Correlation in your tool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Methods module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64008" cy="1783080"/>
          </a:xfrm>
          <a:prstGeom prst="rect">
            <a:avLst/>
          </a:prstGeom>
          <a:solidFill>
            <a:srgbClr val="E55A5A"/>
          </a:solidFill>
          <a:ln w="12700">
            <a:solidFill>
              <a:srgbClr val="E55A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20700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menus, no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554480"/>
            <a:ext cx="370332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chart: X = GDP per capita, Y = Internet users, Values = country.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year = 2023.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pane &gt; Trend line.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quick measure &gt; Correlation coefficient.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0233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97280"/>
            <a:ext cx="64008" cy="1783080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20700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Gretl · menus, no code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64608" y="1554480"/>
            <a:ext cx="370332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&gt; Restrict, based on criterion: year == 2023.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two variables.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&gt; Correlation matrix.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&gt; Graph specified vars &gt; X-Y scatter.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9718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CODE · ONLY IF YOUR COURSE USES PYTHON OR 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4023360" cy="1463040"/>
          </a:xfrm>
          <a:prstGeom prst="rect">
            <a:avLst/>
          </a:prstGeom>
          <a:solidFill>
            <a:srgbClr val="1B1636"/>
          </a:solidFill>
          <a:ln w="12700">
            <a:solidFill>
              <a:srgbClr val="1B163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200400"/>
            <a:ext cx="4023360" cy="256032"/>
          </a:xfrm>
          <a:prstGeom prst="rect">
            <a:avLst/>
          </a:prstGeom>
          <a:solidFill>
            <a:srgbClr val="312A63"/>
          </a:solidFill>
          <a:ln w="12700">
            <a:solidFill>
              <a:srgbClr val="312A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00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511296"/>
            <a:ext cx="3840480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d[d.year == 2023]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print(s[["IT_NET_USER_ZS", "NY_GDP_PCAP_PP_KD"]].corr())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63440" y="3200400"/>
            <a:ext cx="4023360" cy="1463040"/>
          </a:xfrm>
          <a:prstGeom prst="rect">
            <a:avLst/>
          </a:prstGeom>
          <a:solidFill>
            <a:srgbClr val="1B1636"/>
          </a:solidFill>
          <a:ln w="12700">
            <a:solidFill>
              <a:srgbClr val="1B163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3200400"/>
            <a:ext cx="4023360" cy="2560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200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3511296"/>
            <a:ext cx="3840480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&lt;- subset(d, year == 2023)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cor(s$IT_NET_USER_ZS, s$NY_GDP_PCAP_PP_KD, use = "complete.obs")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1B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E5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548640" y="24231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regression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31546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does one indicator change when another changes, keeping the rest constant?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Methods module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· THE IDEA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line through the cloud of countries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Methods module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33375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71600"/>
            <a:ext cx="3520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= b0 + b1·X1 + b2·X2 + error. Each coefficient b is the average change in Y when that X increases by one unit and the other X stay the same.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3440" y="1216152"/>
            <a:ext cx="347472" cy="347472"/>
          </a:xfrm>
          <a:prstGeom prst="ellipse">
            <a:avLst/>
          </a:prstGeom>
          <a:solidFill>
            <a:srgbClr val="E55A5A"/>
          </a:solidFill>
          <a:ln w="12700">
            <a:solidFill>
              <a:srgbClr val="E55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216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66360" y="11887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(b)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66360" y="1499616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and sign of the association, in the units of Y per unit of X.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331720"/>
            <a:ext cx="347472" cy="34747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66360" y="230428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66360" y="2615184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0.05: the pattern is unlikely to be pure chance. It says nothing about how large or important it is.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3447288"/>
            <a:ext cx="347472" cy="347472"/>
          </a:xfrm>
          <a:prstGeom prst="ellipse">
            <a:avLst/>
          </a:prstGeom>
          <a:solidFill>
            <a:srgbClr val="E55A5A"/>
          </a:solidFill>
          <a:ln w="12700">
            <a:solidFill>
              <a:srgbClr val="E55A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3447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66360" y="341985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66360" y="3730752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the differences in Y between countries that the model reproduces (0 to 1).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· EXAMPLE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Youth unemployment, education and income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Methods module</a:t>
            </a:r>
            <a:endParaRPr lang="en-US" sz="850" dirty="0"/>
          </a:p>
        </p:txBody>
      </p:sp>
      <p:pic>
        <p:nvPicPr>
          <p:cNvPr id="5" name="Image 0" descr="C:\Users\danir\Desktop\COIL Ulysseus\presentaciones\figuras\regre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502920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0" y="10515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E5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-10.0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669280" y="17647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of log GDP per capita (p = 0.001)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0" y="21488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0.006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669280" y="28620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of tertiary enrolment (p = 0.909)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69280" y="32461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R² = 0.32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5669280" y="39593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countries, 2022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youth unemployment = b0 + b1·tertiary enrolment + b2·log(GDP per capita). The line in the chart uses income only.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· READING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the table in plain English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Methods module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5720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64008" cy="3383280"/>
          </a:xfrm>
          <a:prstGeom prst="rect">
            <a:avLst/>
          </a:prstGeom>
          <a:solidFill>
            <a:srgbClr val="312A63"/>
          </a:solidFill>
          <a:ln w="12700">
            <a:solidFill>
              <a:srgbClr val="312A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29844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1645920"/>
            <a:ext cx="425196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Income: with GDP per capita 10% higher, youth unemployment is about 1.0 points lower, for the same tertiary enrolment.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enrolment: no association once income is taken into account (p = 0.909).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reproduces about 32% of the differences between countries; the rest depends on other things (labour laws, training systems…).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log X: coefficient × 0.095 ≈ change in Y for a 10% higher X.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212080" y="1188720"/>
            <a:ext cx="3474720" cy="3383280"/>
          </a:xfrm>
          <a:prstGeom prst="rect">
            <a:avLst/>
          </a:prstGeom>
          <a:solidFill>
            <a:srgbClr val="FFF7F7"/>
          </a:solidFill>
          <a:ln w="9525">
            <a:solidFill>
              <a:srgbClr val="DDDA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212080" y="1188720"/>
            <a:ext cx="64008" cy="3383280"/>
          </a:xfrm>
          <a:prstGeom prst="rect">
            <a:avLst/>
          </a:prstGeom>
          <a:solidFill>
            <a:srgbClr val="E55A5A"/>
          </a:solidFill>
          <a:ln w="12700">
            <a:solidFill>
              <a:srgbClr val="E55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13248" y="129844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13248" y="1645920"/>
            <a:ext cx="315468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Association, not effect: income could stand for many other things.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countries: add two or three variables at most.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outliers in the scatter before you trust the line.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try models until one is significant: decide the model from your question.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· DO IT YOURSELF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 in your tool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Methods module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64008" cy="1783080"/>
          </a:xfrm>
          <a:prstGeom prst="rect">
            <a:avLst/>
          </a:prstGeom>
          <a:solidFill>
            <a:srgbClr val="E55A5A"/>
          </a:solidFill>
          <a:ln w="12700">
            <a:solidFill>
              <a:srgbClr val="E55A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20700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menus, no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554480"/>
            <a:ext cx="370332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X: scatter chart + Analytics pane &gt; Trend line shows the fitted line.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more X: Power BI has no regression table. Use Gretl (no code) or a Python/R visual.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0233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97280"/>
            <a:ext cx="64008" cy="1783080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20700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Gretl · menus, no code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64608" y="1554480"/>
            <a:ext cx="370332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&gt; Restrict: year == 2022.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GDP per capita, then Add &gt; Logs of selected variables.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&gt; Ordinary Least Squares.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Dependent: SL_UEM_1524_ZS. Regressors: SE_TER_ENRR and l_NY_GDP_PCAP_PP_KD.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9718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CODE · ONLY IF YOUR COURSE USES PYTHON OR 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4023360" cy="1463040"/>
          </a:xfrm>
          <a:prstGeom prst="rect">
            <a:avLst/>
          </a:prstGeom>
          <a:solidFill>
            <a:srgbClr val="1B1636"/>
          </a:solidFill>
          <a:ln w="12700">
            <a:solidFill>
              <a:srgbClr val="1B163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200400"/>
            <a:ext cx="4023360" cy="256032"/>
          </a:xfrm>
          <a:prstGeom prst="rect">
            <a:avLst/>
          </a:prstGeom>
          <a:solidFill>
            <a:srgbClr val="312A63"/>
          </a:solidFill>
          <a:ln w="12700">
            <a:solidFill>
              <a:srgbClr val="312A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00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511296"/>
            <a:ext cx="3840480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d[d.year == 2022]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"SL_UEM_1524_ZS ~ SE_TER_ENRR + log_gdp"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smf.ols(f, data=s).fit()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print(m.summary())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63440" y="3200400"/>
            <a:ext cx="4023360" cy="1463040"/>
          </a:xfrm>
          <a:prstGeom prst="rect">
            <a:avLst/>
          </a:prstGeom>
          <a:solidFill>
            <a:srgbClr val="1B1636"/>
          </a:solidFill>
          <a:ln w="12700">
            <a:solidFill>
              <a:srgbClr val="1B163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3200400"/>
            <a:ext cx="4023360" cy="2560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200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3511296"/>
            <a:ext cx="3840480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&lt;- subset(d, year == 2022)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&lt;- lm(SL_UEM_1524_ZS ~ SE_TER_ENRR + log_gdp, data = s)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summary(m)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1B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E5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548640" y="24231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Panel data and time trends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31546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countries followed over the years: compare each country with itself.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Methods module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· THE IDEA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Between countries or within a country?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Methods module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3337560"/>
          </a:xfrm>
          <a:prstGeom prst="rect">
            <a:avLst/>
          </a:prstGeom>
          <a:solidFill>
            <a:srgbClr val="312A63"/>
          </a:solidFill>
          <a:ln w="12700">
            <a:solidFill>
              <a:srgbClr val="312A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71600"/>
            <a:ext cx="3520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simple regression on all country-years mixes two things: differences between countries and changes within each country. Country fixed effects keep only the changes within each country.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3440" y="1216152"/>
            <a:ext cx="347472" cy="347472"/>
          </a:xfrm>
          <a:prstGeom prst="ellipse">
            <a:avLst/>
          </a:prstGeom>
          <a:solidFill>
            <a:srgbClr val="E55A5A"/>
          </a:solidFill>
          <a:ln w="12700">
            <a:solidFill>
              <a:srgbClr val="E55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216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66360" y="11887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fixed effects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66360" y="1499616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stable about a country (history, institutions, climate) is taken out.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331720"/>
            <a:ext cx="347472" cy="34747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66360" y="230428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trend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66360" y="2615184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what changes for everybody over the years.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3447288"/>
            <a:ext cx="347472" cy="347472"/>
          </a:xfrm>
          <a:prstGeom prst="ellipse">
            <a:avLst/>
          </a:prstGeom>
          <a:solidFill>
            <a:srgbClr val="E55A5A"/>
          </a:solidFill>
          <a:ln w="12700">
            <a:solidFill>
              <a:srgbClr val="E55A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3447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66360" y="341985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standard errors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66360" y="3730752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the same country are not independent: cluster by country.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· EXAMPLE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Ageing and health expenditure, 2010–2023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Methods module</a:t>
            </a:r>
            <a:endParaRPr lang="en-US" sz="850" dirty="0"/>
          </a:p>
        </p:txBody>
      </p:sp>
      <p:pic>
        <p:nvPicPr>
          <p:cNvPr id="5" name="Image 0" descr="C:\Users\danir\Desktop\COIL Ulysseus\presentaciones\figuras\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502920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0" y="10515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+0.25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669280" y="17647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country-years together (p &lt; 0.001)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0" y="21488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E5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-0.10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669280" y="28620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countries, with fixed effects and trend (p = 0.276)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69280" y="32461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+0.08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5669280" y="39593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of GDP per year, common trend (p = 0.056)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447 observations, 32 countries. Coefficient: change in health spending (% of GDP) per extra point of population aged 65+.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· READING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two answers differ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Methods module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5720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64008" cy="3383280"/>
          </a:xfrm>
          <a:prstGeom prst="rect">
            <a:avLst/>
          </a:prstGeom>
          <a:solidFill>
            <a:srgbClr val="312A63"/>
          </a:solidFill>
          <a:ln w="12700">
            <a:solidFill>
              <a:srgbClr val="312A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29844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1645920"/>
            <a:ext cx="425196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countries: older societies spend more on health.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countries: in these 14 years, ageing faster did not go with spending more, once the common trend is removed.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true; they answer different questions. Say which one your question is about.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212080" y="1188720"/>
            <a:ext cx="3474720" cy="3383280"/>
          </a:xfrm>
          <a:prstGeom prst="rect">
            <a:avLst/>
          </a:prstGeom>
          <a:solidFill>
            <a:srgbClr val="FFF7F7"/>
          </a:solidFill>
          <a:ln w="9525">
            <a:solidFill>
              <a:srgbClr val="DDDA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212080" y="1188720"/>
            <a:ext cx="64008" cy="3383280"/>
          </a:xfrm>
          <a:prstGeom prst="rect">
            <a:avLst/>
          </a:prstGeom>
          <a:solidFill>
            <a:srgbClr val="E55A5A"/>
          </a:solidFill>
          <a:ln w="12700">
            <a:solidFill>
              <a:srgbClr val="E55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13248" y="129844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13248" y="1645920"/>
            <a:ext cx="315468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(COVID-19) moves every country: look at the chart, consider year dummies.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ordinary standard errors p = 0.08; clustered by country p ≈ 0.27. Always cluster.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differences between software (0.27 vs 0.28) are normal.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· DO IT YOURSELF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Panel regression in your tool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Methods module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64008" cy="1783080"/>
          </a:xfrm>
          <a:prstGeom prst="rect">
            <a:avLst/>
          </a:prstGeom>
          <a:solidFill>
            <a:srgbClr val="E55A5A"/>
          </a:solidFill>
          <a:ln w="12700">
            <a:solidFill>
              <a:srgbClr val="E55A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20700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menus, no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554480"/>
            <a:ext cx="370332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chart: X = year, Y = health expenditure, Legend = country: shows the panel.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itself: use Gretl (no code) or a Python/R visual.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0233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97280"/>
            <a:ext cx="64008" cy="1783080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20700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Gretl · menus, no code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64608" y="1554480"/>
            <a:ext cx="370332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&gt; Dataset structure &gt; Panel (unit iso3, time year).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&gt; Restrict: year &lt;= 2023.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&gt; Define new variable: trend = year - 2010.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&gt; Panel &gt; Fixed or random effects: choose Fixed effects, tick Robust standard errors.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9718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CODE · ONLY IF YOUR COURSE USES PYTHON OR 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4023360" cy="1463040"/>
          </a:xfrm>
          <a:prstGeom prst="rect">
            <a:avLst/>
          </a:prstGeom>
          <a:solidFill>
            <a:srgbClr val="1B1636"/>
          </a:solidFill>
          <a:ln w="12700">
            <a:solidFill>
              <a:srgbClr val="1B163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200400"/>
            <a:ext cx="4023360" cy="256032"/>
          </a:xfrm>
          <a:prstGeom prst="rect">
            <a:avLst/>
          </a:prstGeom>
          <a:solidFill>
            <a:srgbClr val="312A63"/>
          </a:solidFill>
          <a:ln w="12700">
            <a:solidFill>
              <a:srgbClr val="312A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00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511296"/>
            <a:ext cx="3840480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y, x = "SH_XPD_CHEX_GD_ZS", "SP_POP_65UP_TO_ZS"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d[d.year.between(2010, 2023)].dropna(subset=[y, x]).copy()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p["trend"] = p.year - 2010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f"{y} ~ {x} + trend + C(iso3)"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smf.ols(f, data=p).fit(cov_type="cluster",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cov_kwds={"groups": pd.factorize(p.iso3)[0]})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print(m.params[[x, "trend"]], m.pvalues[[x, "trend"]])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63440" y="3200400"/>
            <a:ext cx="4023360" cy="1463040"/>
          </a:xfrm>
          <a:prstGeom prst="rect">
            <a:avLst/>
          </a:prstGeom>
          <a:solidFill>
            <a:srgbClr val="1B1636"/>
          </a:solidFill>
          <a:ln w="12700">
            <a:solidFill>
              <a:srgbClr val="1B163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3200400"/>
            <a:ext cx="4023360" cy="2560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200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3511296"/>
            <a:ext cx="3840480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library(fixest)   # install.packages("fixest") once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&lt;- subset(d, year &gt;= 2010 &amp; year &lt;= 2023)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p$trend &lt;- p$year - 2010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&lt;- feols(SH_XPD_CHEX_GD_ZS ~ SP_POP_65UP_TO_ZS + trend | iso3,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data = p, cluster = ~iso3)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coeftable(m)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11B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E5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548640" y="24231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31546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group of a country: high or low?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Methods module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· THE IDEA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 number to a probability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Methods module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33375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71600"/>
            <a:ext cx="3520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 regression gives each country a probability (0 to 1) of being in the "high" group. Above 0.5 we classify it as high. Then we count how many we got right.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3440" y="1216152"/>
            <a:ext cx="347472" cy="347472"/>
          </a:xfrm>
          <a:prstGeom prst="ellipse">
            <a:avLst/>
          </a:prstGeom>
          <a:solidFill>
            <a:srgbClr val="E55A5A"/>
          </a:solidFill>
          <a:ln w="12700">
            <a:solidFill>
              <a:srgbClr val="E55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216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66360" y="11887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groups first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66360" y="1499616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example above or below the median of the indicator.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331720"/>
            <a:ext cx="347472" cy="34747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66360" y="230428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66360" y="2615184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2×2 table: real group against predicted group.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3447288"/>
            <a:ext cx="347472" cy="347472"/>
          </a:xfrm>
          <a:prstGeom prst="ellipse">
            <a:avLst/>
          </a:prstGeom>
          <a:solidFill>
            <a:srgbClr val="E55A5A"/>
          </a:solidFill>
          <a:ln w="12700">
            <a:solidFill>
              <a:srgbClr val="E55A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3447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66360" y="341985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66360" y="3730752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countries classified correctly. Compare it with 50%, the result of guessing.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· EXAMPLE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or low female participation?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Methods module</a:t>
            </a:r>
            <a:endParaRPr lang="en-US" sz="850" dirty="0"/>
          </a:p>
        </p:txBody>
      </p:sp>
      <p:pic>
        <p:nvPicPr>
          <p:cNvPr id="5" name="Image 0" descr="C:\Users\danir\Desktop\COIL Ulysseus\presentaciones\figuras\clasifica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502920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0" y="10515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E5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669280" y="17647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32 countries classified correctly (24 of 32)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0" y="21488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53.8%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669280" y="28620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participation: the line between high and low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69280" y="32461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 = 0.042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5669280" y="39593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helps to classify; fertility does not (p = 0.217)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regression: high participation ~ fertility rate + log GDP per capita, 2022.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· READING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the confusion matrix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Methods module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5720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64008" cy="3383280"/>
          </a:xfrm>
          <a:prstGeom prst="rect">
            <a:avLst/>
          </a:prstGeom>
          <a:solidFill>
            <a:srgbClr val="312A63"/>
          </a:solidFill>
          <a:ln w="12700">
            <a:solidFill>
              <a:srgbClr val="312A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29844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1645920"/>
            <a:ext cx="425196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low, predicted low: 12. Real low, predicted high: 4.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high, predicted high: 12. Real high, predicted low: 4.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 is classified high but is low; Slovakia is classified low but is high. Wrong cases are interesting: explain them.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212080" y="1188720"/>
            <a:ext cx="3474720" cy="3383280"/>
          </a:xfrm>
          <a:prstGeom prst="rect">
            <a:avLst/>
          </a:prstGeom>
          <a:solidFill>
            <a:srgbClr val="FFF7F7"/>
          </a:solidFill>
          <a:ln w="9525">
            <a:solidFill>
              <a:srgbClr val="DDDA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212080" y="1188720"/>
            <a:ext cx="64008" cy="3383280"/>
          </a:xfrm>
          <a:prstGeom prst="rect">
            <a:avLst/>
          </a:prstGeom>
          <a:solidFill>
            <a:srgbClr val="E55A5A"/>
          </a:solidFill>
          <a:ln w="12700">
            <a:solidFill>
              <a:srgbClr val="E55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13248" y="129844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13248" y="1645920"/>
            <a:ext cx="315468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measured on the same countries used to fit the model is optimistic. With so few countries, use leave-one-out cross-validation if you can.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at the median throws information away: say why you do it.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· DO IT YOURSELF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 in your tool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Methods module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64008" cy="1783080"/>
          </a:xfrm>
          <a:prstGeom prst="rect">
            <a:avLst/>
          </a:prstGeom>
          <a:solidFill>
            <a:srgbClr val="E55A5A"/>
          </a:solidFill>
          <a:ln w="12700">
            <a:solidFill>
              <a:srgbClr val="E55A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20700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menus, no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554480"/>
            <a:ext cx="370332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influencers visual: Analyze = high/low group, Explain by = fertility and GDP per capita. Good for exploring.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and the confusion matrix: Gretl (no code) or a Python/R visual.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0233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97280"/>
            <a:ext cx="64008" cy="1783080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20700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Gretl · menus, no code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64608" y="1554480"/>
            <a:ext cx="370332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&gt; Restrict: year == 2022.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&gt; Define new variable: high = SL_TLF_CACT_FE_ZS &gt; 53.8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&gt; Limited dependent variable &gt; Logit &gt; Binary.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Dependent: high. Regressors: SP_DYN_TFRT_IN, l_NY_GDP_PCAP_PP_KD. The output reports the cases correctly predicted.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9718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CODE · ONLY IF YOUR COURSE USES PYTHON OR 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4023360" cy="1463040"/>
          </a:xfrm>
          <a:prstGeom prst="rect">
            <a:avLst/>
          </a:prstGeom>
          <a:solidFill>
            <a:srgbClr val="1B1636"/>
          </a:solidFill>
          <a:ln w="12700">
            <a:solidFill>
              <a:srgbClr val="1B163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200400"/>
            <a:ext cx="4023360" cy="256032"/>
          </a:xfrm>
          <a:prstGeom prst="rect">
            <a:avLst/>
          </a:prstGeom>
          <a:solidFill>
            <a:srgbClr val="312A63"/>
          </a:solidFill>
          <a:ln w="12700">
            <a:solidFill>
              <a:srgbClr val="312A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00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511296"/>
            <a:ext cx="3840480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d[d.year == 2022].copy()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fem = s.SL_TLF_CACT_FE_ZS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s["high"] = (fem &gt; fem.median()).astype(int)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smf.logit("high ~ SP_DYN_TFRT_IN + log_gdp", data=s).fit()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s["pred"] = (m.predict(s) &gt; 0.5).astype(int)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print(pd.crosstab(s.high, s.pred))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63440" y="3200400"/>
            <a:ext cx="4023360" cy="1463040"/>
          </a:xfrm>
          <a:prstGeom prst="rect">
            <a:avLst/>
          </a:prstGeom>
          <a:solidFill>
            <a:srgbClr val="1B1636"/>
          </a:solidFill>
          <a:ln w="12700">
            <a:solidFill>
              <a:srgbClr val="1B163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3200400"/>
            <a:ext cx="4023360" cy="2560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200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3511296"/>
            <a:ext cx="3840480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&lt;- subset(d, year == 2022)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fem &lt;- s$SL_TLF_CACT_FE_ZS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s$high &lt;- as.integer(fem &gt; median(fem))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&lt;- glm(high ~ SP_DYN_TFRT_IN + log_gdp, family = binomial, data = s)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s$pred &lt;- as.integer(predict(m, type = "response") &gt; 0.5)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table(real = s$high, predicted = s$pred)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11B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E5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548640" y="24231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Principal component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31546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many related indicators in two or three new ones.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Methods module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· THE IDEA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Fewer variables, almost the same information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Methods module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3337560"/>
          </a:xfrm>
          <a:prstGeom prst="rect">
            <a:avLst/>
          </a:prstGeom>
          <a:solidFill>
            <a:srgbClr val="312A63"/>
          </a:solidFill>
          <a:ln w="12700">
            <a:solidFill>
              <a:srgbClr val="312A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71600"/>
            <a:ext cx="3520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Many indicators say similar things (richer countries have more Internet users and live longer). PCA builds new variables, the components, that collect what the indicators share.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3440" y="1216152"/>
            <a:ext cx="347472" cy="347472"/>
          </a:xfrm>
          <a:prstGeom prst="ellipse">
            <a:avLst/>
          </a:prstGeom>
          <a:solidFill>
            <a:srgbClr val="E55A5A"/>
          </a:solidFill>
          <a:ln w="12700">
            <a:solidFill>
              <a:srgbClr val="E55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216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66360" y="11887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first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66360" y="1499616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the indicator with the biggest numbers dominates.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331720"/>
            <a:ext cx="347472" cy="34747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66360" y="230428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explained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66360" y="2615184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information each component keeps.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3447288"/>
            <a:ext cx="347472" cy="347472"/>
          </a:xfrm>
          <a:prstGeom prst="ellipse">
            <a:avLst/>
          </a:prstGeom>
          <a:solidFill>
            <a:srgbClr val="E55A5A"/>
          </a:solidFill>
          <a:ln w="12700">
            <a:solidFill>
              <a:srgbClr val="E55A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3447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66360" y="341985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66360" y="3730752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each indicator weighs in a component. They tell you what the component means.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· EXAMPLE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indicators, two components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Methods module</a:t>
            </a:r>
            <a:endParaRPr lang="en-US" sz="850" dirty="0"/>
          </a:p>
        </p:txBody>
      </p:sp>
      <p:pic>
        <p:nvPicPr>
          <p:cNvPr id="5" name="Image 0" descr="C:\Users\danir\Desktop\COIL Ulysseus\presentaciones\figuras\p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502920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0" y="10515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E5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669280" y="17647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variance in component 1: "development"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0" y="21488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18%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669280" y="28620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component 2: "ageing"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69280" y="32461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5669280" y="39593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by the two together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2022, standardised: GDP per capita, services, Internet users, population 65+, unemployment, life expectancy.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· READING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Naming the components from the loadings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Methods module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5720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64008" cy="3383280"/>
          </a:xfrm>
          <a:prstGeom prst="rect">
            <a:avLst/>
          </a:prstGeom>
          <a:solidFill>
            <a:srgbClr val="312A63"/>
          </a:solidFill>
          <a:ln w="12700">
            <a:solidFill>
              <a:srgbClr val="312A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29844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1645920"/>
            <a:ext cx="425196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1: GDP per capita 0.53, Internet 0.5, life expectancy 0.45, services 0.4, unemployment -0.29. High = more developed.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2: population 65+ 0.87, unemployment -0.41. High = older population.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chart, Montenegro is low on both; Spain is near the centre on development.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212080" y="1188720"/>
            <a:ext cx="3474720" cy="3383280"/>
          </a:xfrm>
          <a:prstGeom prst="rect">
            <a:avLst/>
          </a:prstGeom>
          <a:solidFill>
            <a:srgbClr val="FFF7F7"/>
          </a:solidFill>
          <a:ln w="9525">
            <a:solidFill>
              <a:srgbClr val="DDDA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212080" y="1188720"/>
            <a:ext cx="64008" cy="3383280"/>
          </a:xfrm>
          <a:prstGeom prst="rect">
            <a:avLst/>
          </a:prstGeom>
          <a:solidFill>
            <a:srgbClr val="E55A5A"/>
          </a:solidFill>
          <a:ln w="12700">
            <a:solidFill>
              <a:srgbClr val="E55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13248" y="129844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13248" y="1645920"/>
            <a:ext cx="315468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 of a component is arbitrary: two programs can flip it.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components is your interpretation: show the loadings.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components afterwards in clustering or regression if you need fewer variables.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· DO IT YOURSELF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PCA in your tool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Methods module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64008" cy="1783080"/>
          </a:xfrm>
          <a:prstGeom prst="rect">
            <a:avLst/>
          </a:prstGeom>
          <a:solidFill>
            <a:srgbClr val="E55A5A"/>
          </a:solidFill>
          <a:ln w="12700">
            <a:solidFill>
              <a:srgbClr val="E55A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20700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menus, no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554480"/>
            <a:ext cx="370332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has no PCA. Use Gretl (no code), or a Python/R visual with the code below.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0233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97280"/>
            <a:ext cx="64008" cy="1783080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20700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Gretl · menus, no code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64608" y="1554480"/>
            <a:ext cx="370332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&gt; Restrict: year == 2022.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six variables.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&gt; Principal components.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Gretl uses the correlation matrix by default, so the variables are standardised.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9718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CODE · ONLY IF YOUR COURSE USES PYTHON OR 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4023360" cy="1463040"/>
          </a:xfrm>
          <a:prstGeom prst="rect">
            <a:avLst/>
          </a:prstGeom>
          <a:solidFill>
            <a:srgbClr val="1B1636"/>
          </a:solidFill>
          <a:ln w="12700">
            <a:solidFill>
              <a:srgbClr val="1B163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200400"/>
            <a:ext cx="4023360" cy="256032"/>
          </a:xfrm>
          <a:prstGeom prst="rect">
            <a:avLst/>
          </a:prstGeom>
          <a:solidFill>
            <a:srgbClr val="312A63"/>
          </a:solidFill>
          <a:ln w="12700">
            <a:solidFill>
              <a:srgbClr val="312A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00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511296"/>
            <a:ext cx="3840480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cols = ["NY_GDP_PCAP_PP_KD", "NV_SRV_TOTL_ZS", "IT_NET_USER_ZS",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"SP_POP_65UP_TO_ZS", "SL_UEM_TOTL_ZS", "SP_DYN_LE00_IN"]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d[d.year == 2022].dropna(subset=cols)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StandardScaler().fit_transform(s[cols])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pca = PCA().fit(z)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print(pca.explained_variance_ratio_.round(3))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print(pd.DataFrame(pca.components_[:2].T, index=cols).round(2))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63440" y="3200400"/>
            <a:ext cx="4023360" cy="1463040"/>
          </a:xfrm>
          <a:prstGeom prst="rect">
            <a:avLst/>
          </a:prstGeom>
          <a:solidFill>
            <a:srgbClr val="1B1636"/>
          </a:solidFill>
          <a:ln w="12700">
            <a:solidFill>
              <a:srgbClr val="1B163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3200400"/>
            <a:ext cx="4023360" cy="2560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200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3511296"/>
            <a:ext cx="3840480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cols &lt;- c("NY_GDP_PCAP_PP_KD", "NV_SRV_TOTL_ZS", "IT_NET_USER_ZS",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"SP_POP_65UP_TO_ZS", "SL_UEM_TOTL_ZS", "SP_DYN_LE00_IN")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&lt;- na.omit(subset(d, year == 2022)[, cols])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 &lt;- prcomp(s, scale. = TRUE)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summary(pc)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round(pc$rotation[, 1:2], 2)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11B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E5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548640" y="24231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31546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countries look alike?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Methods module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· THE IDEA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Groups of similar countries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Methods module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33375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71600"/>
            <a:ext cx="3520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k-means puts each country in one of k groups so that countries in the same group are as close as possible to the group centre. You choose k.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3440" y="1216152"/>
            <a:ext cx="347472" cy="347472"/>
          </a:xfrm>
          <a:prstGeom prst="ellipse">
            <a:avLst/>
          </a:prstGeom>
          <a:solidFill>
            <a:srgbClr val="E55A5A"/>
          </a:solidFill>
          <a:ln w="12700">
            <a:solidFill>
              <a:srgbClr val="E55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216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66360" y="11887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first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66360" y="1499616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that every indicator counts the same.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331720"/>
            <a:ext cx="347472" cy="34747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66360" y="230428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66360" y="2615184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 (higher is better) and whether the groups make sense.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3447288"/>
            <a:ext cx="347472" cy="347472"/>
          </a:xfrm>
          <a:prstGeom prst="ellipse">
            <a:avLst/>
          </a:prstGeom>
          <a:solidFill>
            <a:srgbClr val="E55A5A"/>
          </a:solidFill>
          <a:ln w="12700">
            <a:solidFill>
              <a:srgbClr val="E55A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3447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66360" y="341985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groups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66360" y="3730752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their centres (averages), not by the cluster number.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· EXAMPLE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digital profiles in Europe, 2023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Methods module</a:t>
            </a:r>
            <a:endParaRPr lang="en-US" sz="850" dirty="0"/>
          </a:p>
        </p:txBody>
      </p:sp>
      <p:pic>
        <p:nvPicPr>
          <p:cNvPr id="5" name="Image 0" descr="C:\Users\danir\Desktop\COIL Ulysseus\presentaciones\figuras\clust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502920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0" y="10515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669280" y="17647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use, high broadband: 94.8% use the Internet, 38.8 broadband per 100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0" y="21488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669280" y="28620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broadband: 87.2% use the Internet, 29.4 broadband per 100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69280" y="32461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E5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5669280" y="39593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broadband, lower use: 84.8% use the Internet, 42.3 broadband per 100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k-means, k = 3 (silhouette 0.432, the highest between 2 and 6), Internet users and fixed broadband, standardised.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· READING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 our three countries fall?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Methods module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5720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64008" cy="3383280"/>
          </a:xfrm>
          <a:prstGeom prst="rect">
            <a:avLst/>
          </a:prstGeom>
          <a:solidFill>
            <a:srgbClr val="312A63"/>
          </a:solidFill>
          <a:ln w="12700">
            <a:solidFill>
              <a:srgbClr val="312A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29844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1645920"/>
            <a:ext cx="425196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Spain: High use, high broadband. Slovakia and Montenegro: Lower broadband.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broadband, lower use: BGR, CZE, FRA, GRC, PRT: many broadband lines but fewer users.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by k: 2 → 0.397, 3 → 0.432, 4 → 0.381, 5 → 0.38, 6 → 0.384.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212080" y="1188720"/>
            <a:ext cx="3474720" cy="3383280"/>
          </a:xfrm>
          <a:prstGeom prst="rect">
            <a:avLst/>
          </a:prstGeom>
          <a:solidFill>
            <a:srgbClr val="FFF7F7"/>
          </a:solidFill>
          <a:ln w="9525">
            <a:solidFill>
              <a:srgbClr val="DDDA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212080" y="1188720"/>
            <a:ext cx="64008" cy="3383280"/>
          </a:xfrm>
          <a:prstGeom prst="rect">
            <a:avLst/>
          </a:prstGeom>
          <a:solidFill>
            <a:srgbClr val="E55A5A"/>
          </a:solidFill>
          <a:ln w="12700">
            <a:solidFill>
              <a:srgbClr val="E55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13248" y="129844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13248" y="1645920"/>
            <a:ext cx="315468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always finds groups, even if there are none: check the silhouette and the chart.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random seed and use many starts, or the groups change each time.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the groups are stable in another year.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· DO IT YOURSELF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Clustering in your tool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Methods module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64008" cy="1783080"/>
          </a:xfrm>
          <a:prstGeom prst="rect">
            <a:avLst/>
          </a:prstGeom>
          <a:solidFill>
            <a:srgbClr val="E55A5A"/>
          </a:solidFill>
          <a:ln w="12700">
            <a:solidFill>
              <a:srgbClr val="E55A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20700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menus, no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554480"/>
            <a:ext cx="370332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chart: X = broadband, Y = Internet users, Values = country.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year = 2023.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options (…) &gt; Automatically find clusters.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number of clusters to 3.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0233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97280"/>
            <a:ext cx="64008" cy="1783080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20700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Gretl · menus, no code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64608" y="1554480"/>
            <a:ext cx="370332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Gretl has no built-in k-means.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Power BI (no code), or Python or 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9718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CODE · ONLY IF YOUR COURSE USES PYTHON OR 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4023360" cy="1463040"/>
          </a:xfrm>
          <a:prstGeom prst="rect">
            <a:avLst/>
          </a:prstGeom>
          <a:solidFill>
            <a:srgbClr val="1B1636"/>
          </a:solidFill>
          <a:ln w="12700">
            <a:solidFill>
              <a:srgbClr val="1B163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200400"/>
            <a:ext cx="4023360" cy="256032"/>
          </a:xfrm>
          <a:prstGeom prst="rect">
            <a:avLst/>
          </a:prstGeom>
          <a:solidFill>
            <a:srgbClr val="312A63"/>
          </a:solidFill>
          <a:ln w="12700">
            <a:solidFill>
              <a:srgbClr val="312A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00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511296"/>
            <a:ext cx="3840480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cols = ["IT_NET_USER_ZS", "IT_NET_BBND_P2"]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d[d.year == 2023].dropna(subset=cols).copy()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StandardScaler().fit_transform(s[cols])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 = KMeans(n_clusters=3, n_init=25, random_state=2026)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s["cluster"] = km.fit_predict(z)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print(s.groupby("cluster")[cols].mean().round(1))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print(s.groupby("cluster").iso3.apply(list))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63440" y="3200400"/>
            <a:ext cx="4023360" cy="1463040"/>
          </a:xfrm>
          <a:prstGeom prst="rect">
            <a:avLst/>
          </a:prstGeom>
          <a:solidFill>
            <a:srgbClr val="1B1636"/>
          </a:solidFill>
          <a:ln w="12700">
            <a:solidFill>
              <a:srgbClr val="1B163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3200400"/>
            <a:ext cx="4023360" cy="2560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200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3511296"/>
            <a:ext cx="3840480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cols &lt;- c("iso3", "IT_NET_USER_ZS", "IT_NET_BBND_P2")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&lt;- na.omit(subset(d, year == 2023)[, cols])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set.seed(2026)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&lt;- kmeans(scale(s[, -1]), centers = 3, nstart = 25)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split(s$iso3, k$cluster)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11B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E5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548640" y="24231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Missing values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31546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are normal. Hiding them is not.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Methods module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honest options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Methods module</a:t>
            </a:r>
            <a:endParaRPr lang="en-US" sz="850" dirty="0"/>
          </a:p>
        </p:txBody>
      </p:sp>
      <p:pic>
        <p:nvPicPr>
          <p:cNvPr id="5" name="Image 0" descr="C:\Users\danir\Desktop\COIL Ulysseus\presentaciones\figuras\huec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4389120" cy="2724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8404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= available, pink = missing, 2010–2024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029200" y="1234440"/>
            <a:ext cx="347472" cy="347472"/>
          </a:xfrm>
          <a:prstGeom prst="ellipse">
            <a:avLst/>
          </a:prstGeom>
          <a:solidFill>
            <a:srgbClr val="312A63"/>
          </a:solidFill>
          <a:ln w="12700">
            <a:solidFill>
              <a:srgbClr val="312A6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0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532120" y="1188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year or indicator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029200" y="2011680"/>
            <a:ext cx="347472" cy="34747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0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532120" y="19659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the country out, and say so (n = …)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029200" y="2788920"/>
            <a:ext cx="347472" cy="347472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0" y="2788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532120" y="27432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Interpolate only between two known years, and mark it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029200" y="3566160"/>
            <a:ext cx="347472" cy="347472"/>
          </a:xfrm>
          <a:prstGeom prst="ellipse">
            <a:avLst/>
          </a:prstGeom>
          <a:solidFill>
            <a:srgbClr val="E55A5A"/>
          </a:solidFill>
          <a:ln w="12700">
            <a:solidFill>
              <a:srgbClr val="E55A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0" y="3566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532120" y="35204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documented source (Eurostat, MONSTAT…)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gaps: Power BI &gt; Transform data &gt; View &gt; Column quality. Gretl: Variable &gt; Summary statistics (number of missing values).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RESULTS TO THE DASHBOARD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rules for charts people understand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Methods module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65760" cy="365760"/>
          </a:xfrm>
          <a:prstGeom prst="ellipse">
            <a:avLst/>
          </a:prstGeom>
          <a:solidFill>
            <a:srgbClr val="E55A5A"/>
          </a:solidFill>
          <a:ln w="12700">
            <a:solidFill>
              <a:srgbClr val="E55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18872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message per chart; write it as the title ("Richer countries use the Internet more").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365760" cy="3657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66360" y="118872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axes with units, year and source.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365760" cy="365760"/>
          </a:xfrm>
          <a:prstGeom prst="ellipse">
            <a:avLst/>
          </a:prstGeom>
          <a:solidFill>
            <a:srgbClr val="E55A5A"/>
          </a:solidFill>
          <a:ln w="12700">
            <a:solidFill>
              <a:srgbClr val="E55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28600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Spain, Slovakia and Montenegro; keep the others grey.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331720"/>
            <a:ext cx="365760" cy="3657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66360" y="228600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for comparing countries, lines for time, scatter for two indicators.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365760" cy="365760"/>
          </a:xfrm>
          <a:prstGeom prst="ellipse">
            <a:avLst/>
          </a:prstGeom>
          <a:solidFill>
            <a:srgbClr val="E55A5A"/>
          </a:solidFill>
          <a:ln w="12700">
            <a:solidFill>
              <a:srgbClr val="E55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38328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3D, no pie charts with many slices.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3429000"/>
            <a:ext cx="365760" cy="3657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66360" y="338328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limits on the dashboard: n, years, gaps, association not causation.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312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the code, ready to run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website (Resources): methods.py (Python), methods.R (R) and methods.inp (Gretl). They reproduce every number in this module. Put them in the same folder as coil_indicators_gretl.csv.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Stuck? Ask your home teacher, or bring the problem to the mid-point clinic (week 5).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Comparing Europe with Data · Methods module</dc:title>
  <dc:subject>PptxGenJS Presentation</dc:subject>
  <dc:creator>Ulysseus COIL teaching team</dc:creator>
  <cp:lastModifiedBy>Ulysseus COIL teaching team</cp:lastModifiedBy>
  <cp:revision>1</cp:revision>
  <dcterms:created xsi:type="dcterms:W3CDTF">2026-10-19T10:03:06Z</dcterms:created>
  <dcterms:modified xsi:type="dcterms:W3CDTF">2026-10-19T10:03:06Z</dcterms:modified>
</cp:coreProperties>
</file>