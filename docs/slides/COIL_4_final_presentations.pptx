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2A6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55A5A"/>
          </a:solidFill>
          <a:ln w="12700">
            <a:solidFill>
              <a:srgbClr val="E55A5A"/>
            </a:solidFill>
            <a:prstDash val="solid"/>
          </a:ln>
        </p:spPr>
      </p:sp>
      <p:sp>
        <p:nvSpPr>
          <p:cNvPr id="3" name="Shape 1"/>
          <p:cNvSpPr/>
          <p:nvPr/>
        </p:nvSpPr>
        <p:spPr>
          <a:xfrm>
            <a:off x="6309360" y="-1463040"/>
            <a:ext cx="4572000" cy="4572000"/>
          </a:xfrm>
          <a:prstGeom prst="ellipse">
            <a:avLst/>
          </a:prstGeom>
          <a:solidFill>
            <a:srgbClr val="FFFFFF">
              <a:alpha val="6000"/>
            </a:srgbClr>
          </a:solidFill>
          <a:ln w="12700">
            <a:solidFill>
              <a:srgbClr val="FFFFFF">
                <a:alpha val="0"/>
              </a:srgbClr>
            </a:solidFill>
            <a:prstDash val="solid"/>
          </a:ln>
        </p:spPr>
      </p:sp>
      <p:sp>
        <p:nvSpPr>
          <p:cNvPr id="4" name="Shape 2"/>
          <p:cNvSpPr/>
          <p:nvPr/>
        </p:nvSpPr>
        <p:spPr>
          <a:xfrm>
            <a:off x="7223760" y="2011680"/>
            <a:ext cx="3108960" cy="3108960"/>
          </a:xfrm>
          <a:prstGeom prst="ellipse">
            <a:avLst/>
          </a:prstGeom>
          <a:solidFill>
            <a:srgbClr val="E55A5A">
              <a:alpha val="15000"/>
            </a:srgbClr>
          </a:solidFill>
          <a:ln w="12700">
            <a:solidFill>
              <a:srgbClr val="E55A5A">
                <a:alpha val="0"/>
              </a:srgbClr>
            </a:solidFill>
            <a:prstDash val="solid"/>
          </a:ln>
        </p:spPr>
      </p:sp>
      <p:sp>
        <p:nvSpPr>
          <p:cNvPr id="5" name="Text 3"/>
          <p:cNvSpPr/>
          <p:nvPr/>
        </p:nvSpPr>
        <p:spPr>
          <a:xfrm>
            <a:off x="640080" y="685800"/>
            <a:ext cx="7315200" cy="274320"/>
          </a:xfrm>
          <a:prstGeom prst="rect">
            <a:avLst/>
          </a:prstGeom>
          <a:noFill/>
          <a:ln/>
        </p:spPr>
        <p:txBody>
          <a:bodyPr wrap="square" lIns="0" tIns="0" rIns="0" bIns="0" rtlCol="0" anchor="ctr"/>
          <a:lstStyle/>
          <a:p>
            <a:pPr indent="0" marL="0">
              <a:buNone/>
            </a:pPr>
            <a:r>
              <a:rPr lang="en-US" sz="1200" b="1" spc="300" kern="0" dirty="0">
                <a:solidFill>
                  <a:srgbClr val="F5A3A3"/>
                </a:solidFill>
                <a:latin typeface="Calibri" pitchFamily="34" charset="0"/>
                <a:ea typeface="Calibri" pitchFamily="34" charset="-122"/>
                <a:cs typeface="Calibri" pitchFamily="34" charset="-120"/>
              </a:rPr>
              <a:t>JOINT SESSION · WEEK 8</a:t>
            </a:r>
            <a:endParaRPr lang="en-US" sz="1200" dirty="0"/>
          </a:p>
        </p:txBody>
      </p:sp>
      <p:sp>
        <p:nvSpPr>
          <p:cNvPr id="6" name="Text 4"/>
          <p:cNvSpPr/>
          <p:nvPr/>
        </p:nvSpPr>
        <p:spPr>
          <a:xfrm>
            <a:off x="640080" y="1005840"/>
            <a:ext cx="6949440"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Georgia" pitchFamily="34" charset="0"/>
                <a:ea typeface="Georgia" pitchFamily="34" charset="-122"/>
                <a:cs typeface="Georgia" pitchFamily="34" charset="-120"/>
              </a:rPr>
              <a:t>Final presentations</a:t>
            </a:r>
            <a:endParaRPr lang="en-US" sz="3800" dirty="0"/>
          </a:p>
        </p:txBody>
      </p:sp>
      <p:sp>
        <p:nvSpPr>
          <p:cNvPr id="7" name="Text 5"/>
          <p:cNvSpPr/>
          <p:nvPr/>
        </p:nvSpPr>
        <p:spPr>
          <a:xfrm>
            <a:off x="640080" y="2331720"/>
            <a:ext cx="6766560" cy="640080"/>
          </a:xfrm>
          <a:prstGeom prst="rect">
            <a:avLst/>
          </a:prstGeom>
          <a:noFill/>
          <a:ln/>
        </p:spPr>
        <p:txBody>
          <a:bodyPr wrap="square" lIns="0" tIns="0" rIns="0" bIns="0" rtlCol="0" anchor="t"/>
          <a:lstStyle/>
          <a:p>
            <a:pPr indent="0" marL="0">
              <a:buNone/>
            </a:pPr>
            <a:r>
              <a:rPr lang="en-US" sz="1600" dirty="0">
                <a:solidFill>
                  <a:srgbClr val="D9D6EA"/>
                </a:solidFill>
                <a:latin typeface="Calibri" pitchFamily="34" charset="0"/>
                <a:ea typeface="Calibri" pitchFamily="34" charset="-122"/>
                <a:cs typeface="Calibri" pitchFamily="34" charset="-120"/>
              </a:rPr>
              <a:t>Comparing Europe with Data. Present your project to students and teachers of the three universities. Compulsory to receive the extra points. The teachers tell each team in which slot it presents.</a:t>
            </a:r>
            <a:endParaRPr lang="en-US" sz="1600" dirty="0"/>
          </a:p>
        </p:txBody>
      </p:sp>
      <p:sp>
        <p:nvSpPr>
          <p:cNvPr id="8" name="Text 6"/>
          <p:cNvSpPr/>
          <p:nvPr/>
        </p:nvSpPr>
        <p:spPr>
          <a:xfrm>
            <a:off x="640080" y="3017520"/>
            <a:ext cx="676656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Week 8 · 7 Dec – 13 Dec 2026 · 45 minutes · Microsoft Teams</a:t>
            </a:r>
            <a:endParaRPr lang="en-US" sz="1200" dirty="0"/>
          </a:p>
        </p:txBody>
      </p:sp>
      <p:sp>
        <p:nvSpPr>
          <p:cNvPr id="9" name="Shape 7"/>
          <p:cNvSpPr/>
          <p:nvPr/>
        </p:nvSpPr>
        <p:spPr>
          <a:xfrm>
            <a:off x="640080" y="3886200"/>
            <a:ext cx="5062347" cy="777240"/>
          </a:xfrm>
          <a:prstGeom prst="roundRect">
            <a:avLst>
              <a:gd name="adj" fmla="val 9412"/>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1"/>
          <a:stretch>
            <a:fillRect/>
          </a:stretch>
        </p:blipFill>
        <p:spPr>
          <a:xfrm>
            <a:off x="868680" y="4069080"/>
            <a:ext cx="1203579" cy="411480"/>
          </a:xfrm>
          <a:prstGeom prst="rect">
            <a:avLst/>
          </a:prstGeom>
        </p:spPr>
      </p:pic>
      <p:pic>
        <p:nvPicPr>
          <p:cNvPr id="11" name="Image 1" descr="preencoded.png">    </p:cNvPr>
          <p:cNvPicPr>
            <a:picLocks noChangeAspect="1"/>
          </p:cNvPicPr>
          <p:nvPr/>
        </p:nvPicPr>
        <p:blipFill>
          <a:blip r:embed="rId2"/>
          <a:stretch>
            <a:fillRect/>
          </a:stretch>
        </p:blipFill>
        <p:spPr>
          <a:xfrm>
            <a:off x="2483739" y="4000500"/>
            <a:ext cx="603504" cy="548640"/>
          </a:xfrm>
          <a:prstGeom prst="rect">
            <a:avLst/>
          </a:prstGeom>
        </p:spPr>
      </p:pic>
      <p:pic>
        <p:nvPicPr>
          <p:cNvPr id="12" name="Image 2" descr="preencoded.png">    </p:cNvPr>
          <p:cNvPicPr>
            <a:picLocks noChangeAspect="1"/>
          </p:cNvPicPr>
          <p:nvPr/>
        </p:nvPicPr>
        <p:blipFill>
          <a:blip r:embed="rId3"/>
          <a:stretch>
            <a:fillRect/>
          </a:stretch>
        </p:blipFill>
        <p:spPr>
          <a:xfrm>
            <a:off x="3498723" y="4000500"/>
            <a:ext cx="994410" cy="548640"/>
          </a:xfrm>
          <a:prstGeom prst="rect">
            <a:avLst/>
          </a:prstGeom>
        </p:spPr>
      </p:pic>
      <p:pic>
        <p:nvPicPr>
          <p:cNvPr id="13" name="Image 3" descr="preencoded.png">    </p:cNvPr>
          <p:cNvPicPr>
            <a:picLocks noChangeAspect="1"/>
          </p:cNvPicPr>
          <p:nvPr/>
        </p:nvPicPr>
        <p:blipFill>
          <a:blip r:embed="rId4"/>
          <a:stretch>
            <a:fillRect/>
          </a:stretch>
        </p:blipFill>
        <p:spPr>
          <a:xfrm>
            <a:off x="4904613" y="4000500"/>
            <a:ext cx="569214"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AGENDA · 45 MINUTES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What we will do today</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Final presentations</a:t>
            </a:r>
            <a:endParaRPr lang="en-US" sz="850" dirty="0"/>
          </a:p>
        </p:txBody>
      </p:sp>
      <p:sp>
        <p:nvSpPr>
          <p:cNvPr id="5" name="Shape 3"/>
          <p:cNvSpPr/>
          <p:nvPr/>
        </p:nvSpPr>
        <p:spPr>
          <a:xfrm>
            <a:off x="457200" y="1325880"/>
            <a:ext cx="877824" cy="502920"/>
          </a:xfrm>
          <a:prstGeom prst="rect">
            <a:avLst/>
          </a:prstGeom>
          <a:solidFill>
            <a:srgbClr val="312A63"/>
          </a:solidFill>
          <a:ln w="12700">
            <a:solidFill>
              <a:srgbClr val="312A63"/>
            </a:solidFill>
            <a:prstDash val="solid"/>
          </a:ln>
        </p:spPr>
      </p:sp>
      <p:sp>
        <p:nvSpPr>
          <p:cNvPr id="6" name="Text 4"/>
          <p:cNvSpPr/>
          <p:nvPr/>
        </p:nvSpPr>
        <p:spPr>
          <a:xfrm>
            <a:off x="457200" y="1325880"/>
            <a:ext cx="8778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min</a:t>
            </a:r>
            <a:endParaRPr lang="en-US" sz="1200" dirty="0"/>
          </a:p>
        </p:txBody>
      </p:sp>
      <p:sp>
        <p:nvSpPr>
          <p:cNvPr id="7" name="Shape 5"/>
          <p:cNvSpPr/>
          <p:nvPr/>
        </p:nvSpPr>
        <p:spPr>
          <a:xfrm>
            <a:off x="1371600" y="1325880"/>
            <a:ext cx="6364224" cy="502920"/>
          </a:xfrm>
          <a:prstGeom prst="rect">
            <a:avLst/>
          </a:prstGeom>
          <a:solidFill>
            <a:srgbClr val="E55A5A"/>
          </a:solidFill>
          <a:ln w="12700">
            <a:solidFill>
              <a:srgbClr val="E55A5A"/>
            </a:solidFill>
            <a:prstDash val="solid"/>
          </a:ln>
        </p:spPr>
      </p:sp>
      <p:sp>
        <p:nvSpPr>
          <p:cNvPr id="8" name="Text 6"/>
          <p:cNvSpPr/>
          <p:nvPr/>
        </p:nvSpPr>
        <p:spPr>
          <a:xfrm>
            <a:off x="1371600" y="1325880"/>
            <a:ext cx="63642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35 min</a:t>
            </a:r>
            <a:endParaRPr lang="en-US" sz="1200" dirty="0"/>
          </a:p>
        </p:txBody>
      </p:sp>
      <p:sp>
        <p:nvSpPr>
          <p:cNvPr id="9" name="Shape 7"/>
          <p:cNvSpPr/>
          <p:nvPr/>
        </p:nvSpPr>
        <p:spPr>
          <a:xfrm>
            <a:off x="7772400" y="1325880"/>
            <a:ext cx="877824" cy="502920"/>
          </a:xfrm>
          <a:prstGeom prst="rect">
            <a:avLst/>
          </a:prstGeom>
          <a:solidFill>
            <a:srgbClr val="2A9D8F"/>
          </a:solidFill>
          <a:ln w="12700">
            <a:solidFill>
              <a:srgbClr val="2A9D8F"/>
            </a:solidFill>
            <a:prstDash val="solid"/>
          </a:ln>
        </p:spPr>
      </p:sp>
      <p:sp>
        <p:nvSpPr>
          <p:cNvPr id="10" name="Text 8"/>
          <p:cNvSpPr/>
          <p:nvPr/>
        </p:nvSpPr>
        <p:spPr>
          <a:xfrm>
            <a:off x="7772400" y="1325880"/>
            <a:ext cx="8778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min</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8229600" cy="914400"/>
        </p:xfrm>
        <a:graphic>
          <a:graphicData uri="http://schemas.openxmlformats.org/drawingml/2006/table">
            <a:tbl>
              <a:tblPr/>
              <a:tblGrid>
                <a:gridCol w="822960"/>
                <a:gridCol w="7406640"/>
              </a:tblGrid>
              <a:tr h="384048">
                <a:tc>
                  <a:txBody>
                    <a:bodyPr/>
                    <a:lstStyle/>
                    <a:p>
                      <a:pPr indent="0" marL="0">
                        <a:buNone/>
                      </a:pPr>
                      <a:r>
                        <a:rPr lang="en-US" sz="1150" b="1" dirty="0">
                          <a:solidFill>
                            <a:srgbClr val="312A63"/>
                          </a:solidFill>
                          <a:latin typeface="Calibri" pitchFamily="34" charset="0"/>
                          <a:ea typeface="Calibri" pitchFamily="34" charset="-122"/>
                          <a:cs typeface="Calibri" pitchFamily="34" charset="-120"/>
                        </a:rPr>
                        <a:t>5 min</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Opening by the teachers.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150" b="1" dirty="0">
                          <a:solidFill>
                            <a:srgbClr val="E55A5A"/>
                          </a:solidFill>
                          <a:latin typeface="Calibri" pitchFamily="34" charset="0"/>
                          <a:ea typeface="Calibri" pitchFamily="34" charset="-122"/>
                          <a:cs typeface="Calibri" pitchFamily="34" charset="-120"/>
                        </a:rPr>
                        <a:t>35 min</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Team presentations: 5 minutes each + 2 minutes of questions and feedback (about five teams per slot).</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5 min</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Closing: next steps (final reflection due on Sunday, extra points and certificates) and group photo.</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RUNNING ORDER</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Five minutes per team, two for feedback</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Final presentations</a:t>
            </a:r>
            <a:endParaRPr lang="en-US" sz="8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097280"/>
                <a:gridCol w="1828800"/>
                <a:gridCol w="2103120"/>
                <a:gridCol w="320040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Starts at</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12A6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Team</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12A6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Universities</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12A6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Topic</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312A63"/>
                    </a:solidFill>
                  </a:tcPr>
                </a:tc>
              </a:tr>
              <a:tr h="384048">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+5 min</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Team 1</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+12 min</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4F3F9"/>
                    </a:solidFill>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Team 2</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4F3F9"/>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4F3F9"/>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4F3F9"/>
                    </a:solidFill>
                  </a:tcPr>
                </a:tc>
              </a:tr>
              <a:tr h="384048">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+19 min</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Team 3</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+26 min</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4F3F9"/>
                    </a:solidFill>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Team 4</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4F3F9"/>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4F3F9"/>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4F3F9"/>
                    </a:solidFill>
                  </a:tcPr>
                </a:tc>
              </a:tr>
              <a:tr h="384048">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+33 min</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Team 5</a:t>
                      </a: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63500" marR="63500" marT="25400" marB="25400" anchor="ctr">
                    <a:lnL w="6350" cap="flat" cmpd="sng" algn="ctr">
                      <a:solidFill>
                        <a:srgbClr val="DDDAE8"/>
                      </a:solidFill>
                      <a:prstDash val="solid"/>
                      <a:round/>
                      <a:headEnd type="none" w="med" len="med"/>
                      <a:tailEnd type="none" w="med" len="med"/>
                    </a:lnL>
                    <a:lnR w="6350" cap="flat" cmpd="sng" algn="ctr">
                      <a:solidFill>
                        <a:srgbClr val="DDDAE8"/>
                      </a:solidFill>
                      <a:prstDash val="solid"/>
                      <a:round/>
                      <a:headEnd type="none" w="med" len="med"/>
                      <a:tailEnd type="none" w="med" len="med"/>
                    </a:lnR>
                    <a:lnT w="6350" cap="flat" cmpd="sng" algn="ctr">
                      <a:solidFill>
                        <a:srgbClr val="DDDAE8"/>
                      </a:solidFill>
                      <a:prstDash val="solid"/>
                      <a:round/>
                      <a:headEnd type="none" w="med" len="med"/>
                      <a:tailEnd type="none" w="med" len="med"/>
                    </a:lnT>
                    <a:lnB w="6350" cap="flat" cmpd="sng" algn="ctr">
                      <a:solidFill>
                        <a:srgbClr val="DDDAE8"/>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3657600"/>
            <a:ext cx="8229600" cy="457200"/>
          </a:xfrm>
          <a:prstGeom prst="rect">
            <a:avLst/>
          </a:prstGeom>
          <a:noFill/>
          <a:ln/>
        </p:spPr>
        <p:txBody>
          <a:bodyPr wrap="square" lIns="0" tIns="0" rIns="0" bIns="0" rtlCol="0" anchor="ctr"/>
          <a:lstStyle/>
          <a:p>
            <a:pPr indent="0" marL="0">
              <a:buNone/>
            </a:pPr>
            <a:r>
              <a:rPr lang="en-US" sz="1100" i="1" dirty="0">
                <a:solidFill>
                  <a:srgbClr val="6B6880"/>
                </a:solidFill>
                <a:latin typeface="Calibri" pitchFamily="34" charset="0"/>
                <a:ea typeface="Calibri" pitchFamily="34" charset="-122"/>
                <a:cs typeface="Calibri" pitchFamily="34" charset="-120"/>
              </a:rPr>
              <a:t>Fill in the table when the teams are known. The session is given in two time slots: about five teams present in each.</a:t>
            </a:r>
            <a:endParaRPr lang="en-US" sz="11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FOR PRESENTERS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How the presentations work</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Final presentations</a:t>
            </a:r>
            <a:endParaRPr lang="en-US" sz="850" dirty="0"/>
          </a:p>
        </p:txBody>
      </p:sp>
      <p:sp>
        <p:nvSpPr>
          <p:cNvPr id="5" name="Shape 3"/>
          <p:cNvSpPr/>
          <p:nvPr/>
        </p:nvSpPr>
        <p:spPr>
          <a:xfrm>
            <a:off x="457200" y="1234440"/>
            <a:ext cx="384048" cy="384048"/>
          </a:xfrm>
          <a:prstGeom prst="ellipse">
            <a:avLst/>
          </a:prstGeom>
          <a:solidFill>
            <a:srgbClr val="E55A5A"/>
          </a:solidFill>
          <a:ln w="12700">
            <a:solidFill>
              <a:srgbClr val="E55A5A"/>
            </a:solidFill>
            <a:prstDash val="solid"/>
          </a:ln>
        </p:spPr>
      </p:sp>
      <p:sp>
        <p:nvSpPr>
          <p:cNvPr id="6" name="Text 4"/>
          <p:cNvSpPr/>
          <p:nvPr/>
        </p:nvSpPr>
        <p:spPr>
          <a:xfrm>
            <a:off x="457200" y="1234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05840" y="1188720"/>
            <a:ext cx="7589520" cy="47548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Slides, with the dashboard on slide 5, are submitted on the website before the session (maximum 6 slides).</a:t>
            </a:r>
            <a:endParaRPr lang="en-US" sz="1300" dirty="0"/>
          </a:p>
        </p:txBody>
      </p:sp>
      <p:sp>
        <p:nvSpPr>
          <p:cNvPr id="8" name="Shape 6"/>
          <p:cNvSpPr/>
          <p:nvPr/>
        </p:nvSpPr>
        <p:spPr>
          <a:xfrm>
            <a:off x="457200" y="1874520"/>
            <a:ext cx="384048" cy="384048"/>
          </a:xfrm>
          <a:prstGeom prst="ellipse">
            <a:avLst/>
          </a:prstGeom>
          <a:solidFill>
            <a:srgbClr val="E55A5A"/>
          </a:solidFill>
          <a:ln w="12700">
            <a:solidFill>
              <a:srgbClr val="E55A5A"/>
            </a:solidFill>
            <a:prstDash val="solid"/>
          </a:ln>
        </p:spPr>
      </p:sp>
      <p:sp>
        <p:nvSpPr>
          <p:cNvPr id="9" name="Text 7"/>
          <p:cNvSpPr/>
          <p:nvPr/>
        </p:nvSpPr>
        <p:spPr>
          <a:xfrm>
            <a:off x="45720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05840" y="1828800"/>
            <a:ext cx="7589520" cy="47548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Five minutes, timed. At 4:30 the moderator gives a sign.</a:t>
            </a:r>
            <a:endParaRPr lang="en-US" sz="1300" dirty="0"/>
          </a:p>
        </p:txBody>
      </p:sp>
      <p:sp>
        <p:nvSpPr>
          <p:cNvPr id="11" name="Shape 9"/>
          <p:cNvSpPr/>
          <p:nvPr/>
        </p:nvSpPr>
        <p:spPr>
          <a:xfrm>
            <a:off x="457200" y="2514600"/>
            <a:ext cx="384048" cy="384048"/>
          </a:xfrm>
          <a:prstGeom prst="ellipse">
            <a:avLst/>
          </a:prstGeom>
          <a:solidFill>
            <a:srgbClr val="E55A5A"/>
          </a:solidFill>
          <a:ln w="12700">
            <a:solidFill>
              <a:srgbClr val="E55A5A"/>
            </a:solidFill>
            <a:prstDash val="solid"/>
          </a:ln>
        </p:spPr>
      </p:sp>
      <p:sp>
        <p:nvSpPr>
          <p:cNvPr id="12" name="Text 10"/>
          <p:cNvSpPr/>
          <p:nvPr/>
        </p:nvSpPr>
        <p:spPr>
          <a:xfrm>
            <a:off x="457200"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005840" y="2468880"/>
            <a:ext cx="7589520" cy="47548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Every team member presents a part. This is required for the extra points.</a:t>
            </a:r>
            <a:endParaRPr lang="en-US" sz="1300" dirty="0"/>
          </a:p>
        </p:txBody>
      </p:sp>
      <p:sp>
        <p:nvSpPr>
          <p:cNvPr id="14" name="Shape 12"/>
          <p:cNvSpPr/>
          <p:nvPr/>
        </p:nvSpPr>
        <p:spPr>
          <a:xfrm>
            <a:off x="457200" y="3154680"/>
            <a:ext cx="384048" cy="384048"/>
          </a:xfrm>
          <a:prstGeom prst="ellipse">
            <a:avLst/>
          </a:prstGeom>
          <a:solidFill>
            <a:srgbClr val="E55A5A"/>
          </a:solidFill>
          <a:ln w="12700">
            <a:solidFill>
              <a:srgbClr val="E55A5A"/>
            </a:solidFill>
            <a:prstDash val="solid"/>
          </a:ln>
        </p:spPr>
      </p:sp>
      <p:sp>
        <p:nvSpPr>
          <p:cNvPr id="15" name="Text 13"/>
          <p:cNvSpPr/>
          <p:nvPr/>
        </p:nvSpPr>
        <p:spPr>
          <a:xfrm>
            <a:off x="457200" y="3154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005840" y="3108960"/>
            <a:ext cx="7589520" cy="47548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One person shares the screen; the others keep their camera on.</a:t>
            </a:r>
            <a:endParaRPr lang="en-US" sz="1300" dirty="0"/>
          </a:p>
        </p:txBody>
      </p:sp>
      <p:sp>
        <p:nvSpPr>
          <p:cNvPr id="17" name="Shape 15"/>
          <p:cNvSpPr/>
          <p:nvPr/>
        </p:nvSpPr>
        <p:spPr>
          <a:xfrm>
            <a:off x="457200" y="3794760"/>
            <a:ext cx="384048" cy="384048"/>
          </a:xfrm>
          <a:prstGeom prst="ellipse">
            <a:avLst/>
          </a:prstGeom>
          <a:solidFill>
            <a:srgbClr val="E55A5A"/>
          </a:solidFill>
          <a:ln w="12700">
            <a:solidFill>
              <a:srgbClr val="E55A5A"/>
            </a:solidFill>
            <a:prstDash val="solid"/>
          </a:ln>
        </p:spPr>
      </p:sp>
      <p:sp>
        <p:nvSpPr>
          <p:cNvPr id="18" name="Text 16"/>
          <p:cNvSpPr/>
          <p:nvPr/>
        </p:nvSpPr>
        <p:spPr>
          <a:xfrm>
            <a:off x="457200" y="3794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1005840" y="3749040"/>
            <a:ext cx="7589520" cy="47548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Two minutes of questions and feedback from teachers and students.</a:t>
            </a:r>
            <a:endParaRPr lang="en-US" sz="13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FEEDBACK</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What the teachers will comment on</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Final presentations</a:t>
            </a:r>
            <a:endParaRPr lang="en-US" sz="850" dirty="0"/>
          </a:p>
        </p:txBody>
      </p:sp>
      <p:sp>
        <p:nvSpPr>
          <p:cNvPr id="5" name="Shape 3"/>
          <p:cNvSpPr/>
          <p:nvPr/>
        </p:nvSpPr>
        <p:spPr>
          <a:xfrm>
            <a:off x="457200" y="1234440"/>
            <a:ext cx="1554480" cy="2286000"/>
          </a:xfrm>
          <a:prstGeom prst="rect">
            <a:avLst/>
          </a:prstGeom>
          <a:solidFill>
            <a:srgbClr val="F4F3F9"/>
          </a:solidFill>
          <a:ln w="12700">
            <a:solidFill>
              <a:srgbClr val="F4F3F9"/>
            </a:solidFill>
            <a:prstDash val="solid"/>
          </a:ln>
        </p:spPr>
      </p:sp>
      <p:sp>
        <p:nvSpPr>
          <p:cNvPr id="6" name="Shape 4"/>
          <p:cNvSpPr/>
          <p:nvPr/>
        </p:nvSpPr>
        <p:spPr>
          <a:xfrm>
            <a:off x="457200" y="1234440"/>
            <a:ext cx="1554480" cy="73152"/>
          </a:xfrm>
          <a:prstGeom prst="rect">
            <a:avLst/>
          </a:prstGeom>
          <a:solidFill>
            <a:srgbClr val="E55A5A"/>
          </a:solidFill>
          <a:ln w="12700">
            <a:solidFill>
              <a:srgbClr val="E55A5A"/>
            </a:solidFill>
            <a:prstDash val="solid"/>
          </a:ln>
        </p:spPr>
      </p:sp>
      <p:sp>
        <p:nvSpPr>
          <p:cNvPr id="7" name="Text 5"/>
          <p:cNvSpPr/>
          <p:nvPr/>
        </p:nvSpPr>
        <p:spPr>
          <a:xfrm>
            <a:off x="566928" y="1417320"/>
            <a:ext cx="1371600" cy="365760"/>
          </a:xfrm>
          <a:prstGeom prst="rect">
            <a:avLst/>
          </a:prstGeom>
          <a:noFill/>
          <a:ln/>
        </p:spPr>
        <p:txBody>
          <a:bodyPr wrap="square" lIns="0" tIns="0" rIns="0" bIns="0" rtlCol="0" anchor="ctr"/>
          <a:lstStyle/>
          <a:p>
            <a:pPr indent="0" marL="0">
              <a:buNone/>
            </a:pPr>
            <a:r>
              <a:rPr lang="en-US" sz="1500" b="1" dirty="0">
                <a:solidFill>
                  <a:srgbClr val="312A63"/>
                </a:solidFill>
                <a:latin typeface="Georgia" pitchFamily="34" charset="0"/>
                <a:ea typeface="Georgia" pitchFamily="34" charset="-122"/>
                <a:cs typeface="Georgia" pitchFamily="34" charset="-120"/>
              </a:rPr>
              <a:t>Question</a:t>
            </a:r>
            <a:endParaRPr lang="en-US" sz="1500" dirty="0"/>
          </a:p>
        </p:txBody>
      </p:sp>
      <p:sp>
        <p:nvSpPr>
          <p:cNvPr id="8" name="Text 6"/>
          <p:cNvSpPr/>
          <p:nvPr/>
        </p:nvSpPr>
        <p:spPr>
          <a:xfrm>
            <a:off x="566928" y="1828800"/>
            <a:ext cx="1371600" cy="1600200"/>
          </a:xfrm>
          <a:prstGeom prst="rect">
            <a:avLst/>
          </a:prstGeom>
          <a:noFill/>
          <a:ln/>
        </p:spPr>
        <p:txBody>
          <a:bodyPr wrap="square" lIns="0" tIns="0" rIns="0" bIns="0" rtlCol="0" anchor="t"/>
          <a:lstStyle/>
          <a:p>
            <a:pPr indent="0" marL="0">
              <a:buNone/>
            </a:pPr>
            <a:r>
              <a:rPr lang="en-US" sz="1150" dirty="0">
                <a:solidFill>
                  <a:srgbClr val="2B2840"/>
                </a:solidFill>
                <a:latin typeface="Calibri" pitchFamily="34" charset="0"/>
                <a:ea typeface="Calibri" pitchFamily="34" charset="-122"/>
                <a:cs typeface="Calibri" pitchFamily="34" charset="-120"/>
              </a:rPr>
              <a:t>Clear, answerable with data, relevant for Spain, Slovakia and Montenegro.</a:t>
            </a:r>
            <a:endParaRPr lang="en-US" sz="1150" dirty="0"/>
          </a:p>
        </p:txBody>
      </p:sp>
      <p:sp>
        <p:nvSpPr>
          <p:cNvPr id="9" name="Shape 7"/>
          <p:cNvSpPr/>
          <p:nvPr/>
        </p:nvSpPr>
        <p:spPr>
          <a:xfrm>
            <a:off x="2139696" y="1234440"/>
            <a:ext cx="1554480" cy="2286000"/>
          </a:xfrm>
          <a:prstGeom prst="rect">
            <a:avLst/>
          </a:prstGeom>
          <a:solidFill>
            <a:srgbClr val="F4F3F9"/>
          </a:solidFill>
          <a:ln w="12700">
            <a:solidFill>
              <a:srgbClr val="F4F3F9"/>
            </a:solidFill>
            <a:prstDash val="solid"/>
          </a:ln>
        </p:spPr>
      </p:sp>
      <p:sp>
        <p:nvSpPr>
          <p:cNvPr id="10" name="Shape 8"/>
          <p:cNvSpPr/>
          <p:nvPr/>
        </p:nvSpPr>
        <p:spPr>
          <a:xfrm>
            <a:off x="2139696" y="1234440"/>
            <a:ext cx="1554480" cy="73152"/>
          </a:xfrm>
          <a:prstGeom prst="rect">
            <a:avLst/>
          </a:prstGeom>
          <a:solidFill>
            <a:srgbClr val="E55A5A"/>
          </a:solidFill>
          <a:ln w="12700">
            <a:solidFill>
              <a:srgbClr val="E55A5A"/>
            </a:solidFill>
            <a:prstDash val="solid"/>
          </a:ln>
        </p:spPr>
      </p:sp>
      <p:sp>
        <p:nvSpPr>
          <p:cNvPr id="11" name="Text 9"/>
          <p:cNvSpPr/>
          <p:nvPr/>
        </p:nvSpPr>
        <p:spPr>
          <a:xfrm>
            <a:off x="2249424" y="1417320"/>
            <a:ext cx="1371600" cy="365760"/>
          </a:xfrm>
          <a:prstGeom prst="rect">
            <a:avLst/>
          </a:prstGeom>
          <a:noFill/>
          <a:ln/>
        </p:spPr>
        <p:txBody>
          <a:bodyPr wrap="square" lIns="0" tIns="0" rIns="0" bIns="0" rtlCol="0" anchor="ctr"/>
          <a:lstStyle/>
          <a:p>
            <a:pPr indent="0" marL="0">
              <a:buNone/>
            </a:pPr>
            <a:r>
              <a:rPr lang="en-US" sz="1500" b="1" dirty="0">
                <a:solidFill>
                  <a:srgbClr val="312A63"/>
                </a:solidFill>
                <a:latin typeface="Georgia" pitchFamily="34" charset="0"/>
                <a:ea typeface="Georgia" pitchFamily="34" charset="-122"/>
                <a:cs typeface="Georgia" pitchFamily="34" charset="-120"/>
              </a:rPr>
              <a:t>Data</a:t>
            </a:r>
            <a:endParaRPr lang="en-US" sz="1500" dirty="0"/>
          </a:p>
        </p:txBody>
      </p:sp>
      <p:sp>
        <p:nvSpPr>
          <p:cNvPr id="12" name="Text 10"/>
          <p:cNvSpPr/>
          <p:nvPr/>
        </p:nvSpPr>
        <p:spPr>
          <a:xfrm>
            <a:off x="2249424" y="1828800"/>
            <a:ext cx="1371600" cy="1600200"/>
          </a:xfrm>
          <a:prstGeom prst="rect">
            <a:avLst/>
          </a:prstGeom>
          <a:noFill/>
          <a:ln/>
        </p:spPr>
        <p:txBody>
          <a:bodyPr wrap="square" lIns="0" tIns="0" rIns="0" bIns="0" rtlCol="0" anchor="t"/>
          <a:lstStyle/>
          <a:p>
            <a:pPr indent="0" marL="0">
              <a:buNone/>
            </a:pPr>
            <a:r>
              <a:rPr lang="en-US" sz="1150" dirty="0">
                <a:solidFill>
                  <a:srgbClr val="2B2840"/>
                </a:solidFill>
                <a:latin typeface="Calibri" pitchFamily="34" charset="0"/>
                <a:ea typeface="Calibri" pitchFamily="34" charset="-122"/>
                <a:cs typeface="Calibri" pitchFamily="34" charset="-120"/>
              </a:rPr>
              <a:t>Right indicators and years; gaps handled and explained.</a:t>
            </a:r>
            <a:endParaRPr lang="en-US" sz="1150" dirty="0"/>
          </a:p>
        </p:txBody>
      </p:sp>
      <p:sp>
        <p:nvSpPr>
          <p:cNvPr id="13" name="Shape 11"/>
          <p:cNvSpPr/>
          <p:nvPr/>
        </p:nvSpPr>
        <p:spPr>
          <a:xfrm>
            <a:off x="3822192" y="1234440"/>
            <a:ext cx="1554480" cy="2286000"/>
          </a:xfrm>
          <a:prstGeom prst="rect">
            <a:avLst/>
          </a:prstGeom>
          <a:solidFill>
            <a:srgbClr val="F4F3F9"/>
          </a:solidFill>
          <a:ln w="12700">
            <a:solidFill>
              <a:srgbClr val="F4F3F9"/>
            </a:solidFill>
            <a:prstDash val="solid"/>
          </a:ln>
        </p:spPr>
      </p:sp>
      <p:sp>
        <p:nvSpPr>
          <p:cNvPr id="14" name="Shape 12"/>
          <p:cNvSpPr/>
          <p:nvPr/>
        </p:nvSpPr>
        <p:spPr>
          <a:xfrm>
            <a:off x="3822192" y="1234440"/>
            <a:ext cx="1554480" cy="73152"/>
          </a:xfrm>
          <a:prstGeom prst="rect">
            <a:avLst/>
          </a:prstGeom>
          <a:solidFill>
            <a:srgbClr val="E55A5A"/>
          </a:solidFill>
          <a:ln w="12700">
            <a:solidFill>
              <a:srgbClr val="E55A5A"/>
            </a:solidFill>
            <a:prstDash val="solid"/>
          </a:ln>
        </p:spPr>
      </p:sp>
      <p:sp>
        <p:nvSpPr>
          <p:cNvPr id="15" name="Text 13"/>
          <p:cNvSpPr/>
          <p:nvPr/>
        </p:nvSpPr>
        <p:spPr>
          <a:xfrm>
            <a:off x="3931920" y="1417320"/>
            <a:ext cx="1371600" cy="365760"/>
          </a:xfrm>
          <a:prstGeom prst="rect">
            <a:avLst/>
          </a:prstGeom>
          <a:noFill/>
          <a:ln/>
        </p:spPr>
        <p:txBody>
          <a:bodyPr wrap="square" lIns="0" tIns="0" rIns="0" bIns="0" rtlCol="0" anchor="ctr"/>
          <a:lstStyle/>
          <a:p>
            <a:pPr indent="0" marL="0">
              <a:buNone/>
            </a:pPr>
            <a:r>
              <a:rPr lang="en-US" sz="1500" b="1" dirty="0">
                <a:solidFill>
                  <a:srgbClr val="312A63"/>
                </a:solidFill>
                <a:latin typeface="Georgia" pitchFamily="34" charset="0"/>
                <a:ea typeface="Georgia" pitchFamily="34" charset="-122"/>
                <a:cs typeface="Georgia" pitchFamily="34" charset="-120"/>
              </a:rPr>
              <a:t>Method</a:t>
            </a:r>
            <a:endParaRPr lang="en-US" sz="1500" dirty="0"/>
          </a:p>
        </p:txBody>
      </p:sp>
      <p:sp>
        <p:nvSpPr>
          <p:cNvPr id="16" name="Text 14"/>
          <p:cNvSpPr/>
          <p:nvPr/>
        </p:nvSpPr>
        <p:spPr>
          <a:xfrm>
            <a:off x="3931920" y="1828800"/>
            <a:ext cx="1371600" cy="1600200"/>
          </a:xfrm>
          <a:prstGeom prst="rect">
            <a:avLst/>
          </a:prstGeom>
          <a:noFill/>
          <a:ln/>
        </p:spPr>
        <p:txBody>
          <a:bodyPr wrap="square" lIns="0" tIns="0" rIns="0" bIns="0" rtlCol="0" anchor="t"/>
          <a:lstStyle/>
          <a:p>
            <a:pPr indent="0" marL="0">
              <a:buNone/>
            </a:pPr>
            <a:r>
              <a:rPr lang="en-US" sz="1150" dirty="0">
                <a:solidFill>
                  <a:srgbClr val="2B2840"/>
                </a:solidFill>
                <a:latin typeface="Calibri" pitchFamily="34" charset="0"/>
                <a:ea typeface="Calibri" pitchFamily="34" charset="-122"/>
                <a:cs typeface="Calibri" pitchFamily="34" charset="-120"/>
              </a:rPr>
              <a:t>Suitable method, correctly read; limits stated (small n, causality).</a:t>
            </a:r>
            <a:endParaRPr lang="en-US" sz="1150" dirty="0"/>
          </a:p>
        </p:txBody>
      </p:sp>
      <p:sp>
        <p:nvSpPr>
          <p:cNvPr id="17" name="Shape 15"/>
          <p:cNvSpPr/>
          <p:nvPr/>
        </p:nvSpPr>
        <p:spPr>
          <a:xfrm>
            <a:off x="5504688" y="1234440"/>
            <a:ext cx="1554480" cy="2286000"/>
          </a:xfrm>
          <a:prstGeom prst="rect">
            <a:avLst/>
          </a:prstGeom>
          <a:solidFill>
            <a:srgbClr val="F4F3F9"/>
          </a:solidFill>
          <a:ln w="12700">
            <a:solidFill>
              <a:srgbClr val="F4F3F9"/>
            </a:solidFill>
            <a:prstDash val="solid"/>
          </a:ln>
        </p:spPr>
      </p:sp>
      <p:sp>
        <p:nvSpPr>
          <p:cNvPr id="18" name="Shape 16"/>
          <p:cNvSpPr/>
          <p:nvPr/>
        </p:nvSpPr>
        <p:spPr>
          <a:xfrm>
            <a:off x="5504688" y="1234440"/>
            <a:ext cx="1554480" cy="73152"/>
          </a:xfrm>
          <a:prstGeom prst="rect">
            <a:avLst/>
          </a:prstGeom>
          <a:solidFill>
            <a:srgbClr val="E55A5A"/>
          </a:solidFill>
          <a:ln w="12700">
            <a:solidFill>
              <a:srgbClr val="E55A5A"/>
            </a:solidFill>
            <a:prstDash val="solid"/>
          </a:ln>
        </p:spPr>
      </p:sp>
      <p:sp>
        <p:nvSpPr>
          <p:cNvPr id="19" name="Text 17"/>
          <p:cNvSpPr/>
          <p:nvPr/>
        </p:nvSpPr>
        <p:spPr>
          <a:xfrm>
            <a:off x="5614416" y="1417320"/>
            <a:ext cx="1371600" cy="365760"/>
          </a:xfrm>
          <a:prstGeom prst="rect">
            <a:avLst/>
          </a:prstGeom>
          <a:noFill/>
          <a:ln/>
        </p:spPr>
        <p:txBody>
          <a:bodyPr wrap="square" lIns="0" tIns="0" rIns="0" bIns="0" rtlCol="0" anchor="ctr"/>
          <a:lstStyle/>
          <a:p>
            <a:pPr indent="0" marL="0">
              <a:buNone/>
            </a:pPr>
            <a:r>
              <a:rPr lang="en-US" sz="1500" b="1" dirty="0">
                <a:solidFill>
                  <a:srgbClr val="312A63"/>
                </a:solidFill>
                <a:latin typeface="Georgia" pitchFamily="34" charset="0"/>
                <a:ea typeface="Georgia" pitchFamily="34" charset="-122"/>
                <a:cs typeface="Georgia" pitchFamily="34" charset="-120"/>
              </a:rPr>
              <a:t>Dashboard</a:t>
            </a:r>
            <a:endParaRPr lang="en-US" sz="1500" dirty="0"/>
          </a:p>
        </p:txBody>
      </p:sp>
      <p:sp>
        <p:nvSpPr>
          <p:cNvPr id="20" name="Text 18"/>
          <p:cNvSpPr/>
          <p:nvPr/>
        </p:nvSpPr>
        <p:spPr>
          <a:xfrm>
            <a:off x="5614416" y="1828800"/>
            <a:ext cx="1371600" cy="1600200"/>
          </a:xfrm>
          <a:prstGeom prst="rect">
            <a:avLst/>
          </a:prstGeom>
          <a:noFill/>
          <a:ln/>
        </p:spPr>
        <p:txBody>
          <a:bodyPr wrap="square" lIns="0" tIns="0" rIns="0" bIns="0" rtlCol="0" anchor="t"/>
          <a:lstStyle/>
          <a:p>
            <a:pPr indent="0" marL="0">
              <a:buNone/>
            </a:pPr>
            <a:r>
              <a:rPr lang="en-US" sz="1150" dirty="0">
                <a:solidFill>
                  <a:srgbClr val="2B2840"/>
                </a:solidFill>
                <a:latin typeface="Calibri" pitchFamily="34" charset="0"/>
                <a:ea typeface="Calibri" pitchFamily="34" charset="-122"/>
                <a:cs typeface="Calibri" pitchFamily="34" charset="-120"/>
              </a:rPr>
              <a:t>Understandable for a non-specialist in one minute.</a:t>
            </a:r>
            <a:endParaRPr lang="en-US" sz="1150" dirty="0"/>
          </a:p>
        </p:txBody>
      </p:sp>
      <p:sp>
        <p:nvSpPr>
          <p:cNvPr id="21" name="Shape 19"/>
          <p:cNvSpPr/>
          <p:nvPr/>
        </p:nvSpPr>
        <p:spPr>
          <a:xfrm>
            <a:off x="7187184" y="1234440"/>
            <a:ext cx="1554480" cy="2286000"/>
          </a:xfrm>
          <a:prstGeom prst="rect">
            <a:avLst/>
          </a:prstGeom>
          <a:solidFill>
            <a:srgbClr val="F4F3F9"/>
          </a:solidFill>
          <a:ln w="12700">
            <a:solidFill>
              <a:srgbClr val="F4F3F9"/>
            </a:solidFill>
            <a:prstDash val="solid"/>
          </a:ln>
        </p:spPr>
      </p:sp>
      <p:sp>
        <p:nvSpPr>
          <p:cNvPr id="22" name="Shape 20"/>
          <p:cNvSpPr/>
          <p:nvPr/>
        </p:nvSpPr>
        <p:spPr>
          <a:xfrm>
            <a:off x="7187184" y="1234440"/>
            <a:ext cx="1554480" cy="73152"/>
          </a:xfrm>
          <a:prstGeom prst="rect">
            <a:avLst/>
          </a:prstGeom>
          <a:solidFill>
            <a:srgbClr val="E55A5A"/>
          </a:solidFill>
          <a:ln w="12700">
            <a:solidFill>
              <a:srgbClr val="E55A5A"/>
            </a:solidFill>
            <a:prstDash val="solid"/>
          </a:ln>
        </p:spPr>
      </p:sp>
      <p:sp>
        <p:nvSpPr>
          <p:cNvPr id="23" name="Text 21"/>
          <p:cNvSpPr/>
          <p:nvPr/>
        </p:nvSpPr>
        <p:spPr>
          <a:xfrm>
            <a:off x="7296912" y="1417320"/>
            <a:ext cx="1371600" cy="365760"/>
          </a:xfrm>
          <a:prstGeom prst="rect">
            <a:avLst/>
          </a:prstGeom>
          <a:noFill/>
          <a:ln/>
        </p:spPr>
        <p:txBody>
          <a:bodyPr wrap="square" lIns="0" tIns="0" rIns="0" bIns="0" rtlCol="0" anchor="ctr"/>
          <a:lstStyle/>
          <a:p>
            <a:pPr indent="0" marL="0">
              <a:buNone/>
            </a:pPr>
            <a:r>
              <a:rPr lang="en-US" sz="1500" b="1" dirty="0">
                <a:solidFill>
                  <a:srgbClr val="312A63"/>
                </a:solidFill>
                <a:latin typeface="Georgia" pitchFamily="34" charset="0"/>
                <a:ea typeface="Georgia" pitchFamily="34" charset="-122"/>
                <a:cs typeface="Georgia" pitchFamily="34" charset="-120"/>
              </a:rPr>
              <a:t>Team</a:t>
            </a:r>
            <a:endParaRPr lang="en-US" sz="1500" dirty="0"/>
          </a:p>
        </p:txBody>
      </p:sp>
      <p:sp>
        <p:nvSpPr>
          <p:cNvPr id="24" name="Text 22"/>
          <p:cNvSpPr/>
          <p:nvPr/>
        </p:nvSpPr>
        <p:spPr>
          <a:xfrm>
            <a:off x="7296912" y="1828800"/>
            <a:ext cx="1371600" cy="1600200"/>
          </a:xfrm>
          <a:prstGeom prst="rect">
            <a:avLst/>
          </a:prstGeom>
          <a:noFill/>
          <a:ln/>
        </p:spPr>
        <p:txBody>
          <a:bodyPr wrap="square" lIns="0" tIns="0" rIns="0" bIns="0" rtlCol="0" anchor="t"/>
          <a:lstStyle/>
          <a:p>
            <a:pPr indent="0" marL="0">
              <a:buNone/>
            </a:pPr>
            <a:r>
              <a:rPr lang="en-US" sz="1150" dirty="0">
                <a:solidFill>
                  <a:srgbClr val="2B2840"/>
                </a:solidFill>
                <a:latin typeface="Calibri" pitchFamily="34" charset="0"/>
                <a:ea typeface="Calibri" pitchFamily="34" charset="-122"/>
                <a:cs typeface="Calibri" pitchFamily="34" charset="-120"/>
              </a:rPr>
              <a:t>Everyone presents; the international collaboration shows.</a:t>
            </a:r>
            <a:endParaRPr lang="en-US" sz="1150" dirty="0"/>
          </a:p>
        </p:txBody>
      </p:sp>
      <p:sp>
        <p:nvSpPr>
          <p:cNvPr id="25" name="Text 23"/>
          <p:cNvSpPr/>
          <p:nvPr/>
        </p:nvSpPr>
        <p:spPr>
          <a:xfrm>
            <a:off x="457200" y="3749040"/>
            <a:ext cx="8229600" cy="320040"/>
          </a:xfrm>
          <a:prstGeom prst="rect">
            <a:avLst/>
          </a:prstGeom>
          <a:noFill/>
          <a:ln/>
        </p:spPr>
        <p:txBody>
          <a:bodyPr wrap="square" lIns="0" tIns="0" rIns="0" bIns="0" rtlCol="0" anchor="ctr"/>
          <a:lstStyle/>
          <a:p>
            <a:pPr indent="0" marL="0">
              <a:buNone/>
            </a:pPr>
            <a:r>
              <a:rPr lang="en-US" sz="1100" i="1" dirty="0">
                <a:solidFill>
                  <a:srgbClr val="6B6880"/>
                </a:solidFill>
                <a:latin typeface="Calibri" pitchFamily="34" charset="0"/>
                <a:ea typeface="Calibri" pitchFamily="34" charset="-122"/>
                <a:cs typeface="Calibri" pitchFamily="34" charset="-120"/>
              </a:rPr>
              <a:t>Each university grades its own students; this feedback is shared, not a grade.</a:t>
            </a:r>
            <a:endParaRPr lang="en-US" sz="11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AFTER TODAY</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Last steps</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Final presentations</a:t>
            </a:r>
            <a:endParaRPr lang="en-US" sz="850" dirty="0"/>
          </a:p>
        </p:txBody>
      </p:sp>
      <p:sp>
        <p:nvSpPr>
          <p:cNvPr id="5" name="Shape 3"/>
          <p:cNvSpPr/>
          <p:nvPr/>
        </p:nvSpPr>
        <p:spPr>
          <a:xfrm>
            <a:off x="457200" y="1188720"/>
            <a:ext cx="4023360" cy="155448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457200" y="1188720"/>
            <a:ext cx="64008" cy="1554480"/>
          </a:xfrm>
          <a:prstGeom prst="rect">
            <a:avLst/>
          </a:prstGeom>
          <a:solidFill>
            <a:srgbClr val="E55A5A"/>
          </a:solidFill>
          <a:ln w="12700">
            <a:solidFill>
              <a:srgbClr val="E55A5A"/>
            </a:solidFill>
            <a:prstDash val="solid"/>
          </a:ln>
        </p:spPr>
      </p:sp>
      <p:sp>
        <p:nvSpPr>
          <p:cNvPr id="7" name="Text 5"/>
          <p:cNvSpPr/>
          <p:nvPr/>
        </p:nvSpPr>
        <p:spPr>
          <a:xfrm>
            <a:off x="658368" y="1298448"/>
            <a:ext cx="370332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Final reflection</a:t>
            </a:r>
            <a:endParaRPr lang="en-US" sz="1300" dirty="0"/>
          </a:p>
        </p:txBody>
      </p:sp>
      <p:sp>
        <p:nvSpPr>
          <p:cNvPr id="8" name="Text 6"/>
          <p:cNvSpPr/>
          <p:nvPr/>
        </p:nvSpPr>
        <p:spPr>
          <a:xfrm>
            <a:off x="658368" y="1645920"/>
            <a:ext cx="3703320" cy="1024128"/>
          </a:xfrm>
          <a:prstGeom prst="rect">
            <a:avLst/>
          </a:prstGeom>
          <a:noFill/>
          <a:ln/>
        </p:spPr>
        <p:txBody>
          <a:bodyPr wrap="square" lIns="0" tIns="0" rIns="0" bIns="0" rtlCol="0" anchor="t">
            <a:normAutofit/>
          </a:bodyPr>
          <a:lstStyle/>
          <a:p>
            <a:pPr indent="0" marL="0">
              <a:buNone/>
            </a:pPr>
            <a:r>
              <a:rPr lang="en-US" sz="1150" dirty="0">
                <a:solidFill>
                  <a:srgbClr val="2B2840"/>
                </a:solidFill>
                <a:latin typeface="Calibri" pitchFamily="34" charset="0"/>
                <a:ea typeface="Calibri" pitchFamily="34" charset="-122"/>
                <a:cs typeface="Calibri" pitchFamily="34" charset="-120"/>
              </a:rPr>
              <a:t>Individual, 300–400 words, one-page PDF. Due Sunday 13 December, 23:59 CET, with the Submit button on the website.</a:t>
            </a:r>
            <a:endParaRPr lang="en-US" sz="1150" dirty="0"/>
          </a:p>
        </p:txBody>
      </p:sp>
      <p:sp>
        <p:nvSpPr>
          <p:cNvPr id="9" name="Shape 7"/>
          <p:cNvSpPr/>
          <p:nvPr/>
        </p:nvSpPr>
        <p:spPr>
          <a:xfrm>
            <a:off x="4663440" y="1188720"/>
            <a:ext cx="4023360" cy="155448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4663440" y="1188720"/>
            <a:ext cx="64008" cy="1554480"/>
          </a:xfrm>
          <a:prstGeom prst="rect">
            <a:avLst/>
          </a:prstGeom>
          <a:solidFill>
            <a:srgbClr val="312A63"/>
          </a:solidFill>
          <a:ln w="12700">
            <a:solidFill>
              <a:srgbClr val="312A63"/>
            </a:solidFill>
            <a:prstDash val="solid"/>
          </a:ln>
        </p:spPr>
      </p:sp>
      <p:sp>
        <p:nvSpPr>
          <p:cNvPr id="11" name="Text 9"/>
          <p:cNvSpPr/>
          <p:nvPr/>
        </p:nvSpPr>
        <p:spPr>
          <a:xfrm>
            <a:off x="4864608" y="1298448"/>
            <a:ext cx="370332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Extra points</a:t>
            </a:r>
            <a:endParaRPr lang="en-US" sz="1300" dirty="0"/>
          </a:p>
        </p:txBody>
      </p:sp>
      <p:sp>
        <p:nvSpPr>
          <p:cNvPr id="12" name="Text 10"/>
          <p:cNvSpPr/>
          <p:nvPr/>
        </p:nvSpPr>
        <p:spPr>
          <a:xfrm>
            <a:off x="4864608" y="1645920"/>
            <a:ext cx="3703320" cy="1024128"/>
          </a:xfrm>
          <a:prstGeom prst="rect">
            <a:avLst/>
          </a:prstGeom>
          <a:noFill/>
          <a:ln/>
        </p:spPr>
        <p:txBody>
          <a:bodyPr wrap="square" lIns="0" tIns="0" rIns="0" bIns="0" rtlCol="0" anchor="t">
            <a:normAutofit/>
          </a:bodyPr>
          <a:lstStyle/>
          <a:p>
            <a:pPr indent="0" marL="0">
              <a:buNone/>
            </a:pPr>
            <a:r>
              <a:rPr lang="en-US" sz="1150" dirty="0">
                <a:solidFill>
                  <a:srgbClr val="2B2840"/>
                </a:solidFill>
                <a:latin typeface="Calibri" pitchFamily="34" charset="0"/>
                <a:ea typeface="Calibri" pitchFamily="34" charset="-122"/>
                <a:cs typeface="Calibri" pitchFamily="34" charset="-120"/>
              </a:rPr>
              <a:t>+1 / 10 (University of Seville); +20 / 100 (Technical University of Košice · University of Montenegro). Extra points on your course grade for students who complete the final presentation.</a:t>
            </a:r>
            <a:endParaRPr lang="en-US" sz="1150" dirty="0"/>
          </a:p>
        </p:txBody>
      </p:sp>
      <p:sp>
        <p:nvSpPr>
          <p:cNvPr id="13" name="Shape 11"/>
          <p:cNvSpPr/>
          <p:nvPr/>
        </p:nvSpPr>
        <p:spPr>
          <a:xfrm>
            <a:off x="457200" y="2926080"/>
            <a:ext cx="4023360" cy="155448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457200" y="2926080"/>
            <a:ext cx="64008" cy="1554480"/>
          </a:xfrm>
          <a:prstGeom prst="rect">
            <a:avLst/>
          </a:prstGeom>
          <a:solidFill>
            <a:srgbClr val="2A9D8F"/>
          </a:solidFill>
          <a:ln w="12700">
            <a:solidFill>
              <a:srgbClr val="2A9D8F"/>
            </a:solidFill>
            <a:prstDash val="solid"/>
          </a:ln>
        </p:spPr>
      </p:sp>
      <p:sp>
        <p:nvSpPr>
          <p:cNvPr id="15" name="Text 13"/>
          <p:cNvSpPr/>
          <p:nvPr/>
        </p:nvSpPr>
        <p:spPr>
          <a:xfrm>
            <a:off x="658368" y="3035808"/>
            <a:ext cx="370332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Certificates</a:t>
            </a:r>
            <a:endParaRPr lang="en-US" sz="1300" dirty="0"/>
          </a:p>
        </p:txBody>
      </p:sp>
      <p:sp>
        <p:nvSpPr>
          <p:cNvPr id="16" name="Text 14"/>
          <p:cNvSpPr/>
          <p:nvPr/>
        </p:nvSpPr>
        <p:spPr>
          <a:xfrm>
            <a:off x="658368" y="3383280"/>
            <a:ext cx="3703320" cy="1024128"/>
          </a:xfrm>
          <a:prstGeom prst="rect">
            <a:avLst/>
          </a:prstGeom>
          <a:noFill/>
          <a:ln/>
        </p:spPr>
        <p:txBody>
          <a:bodyPr wrap="square" lIns="0" tIns="0" rIns="0" bIns="0" rtlCol="0" anchor="t">
            <a:normAutofit/>
          </a:bodyPr>
          <a:lstStyle/>
          <a:p>
            <a:pPr indent="0" marL="0">
              <a:buNone/>
            </a:pPr>
            <a:r>
              <a:rPr lang="en-US" sz="1150" dirty="0">
                <a:solidFill>
                  <a:srgbClr val="2B2840"/>
                </a:solidFill>
                <a:latin typeface="Calibri" pitchFamily="34" charset="0"/>
                <a:ea typeface="Calibri" pitchFamily="34" charset="-122"/>
                <a:cs typeface="Calibri" pitchFamily="34" charset="-120"/>
              </a:rPr>
              <a:t>Certificate of participation in a Ulysseus European University COIL, signed by three European universities: Seville, Košice and Montenegro. Add it to your CV and LinkedIn.</a:t>
            </a:r>
            <a:endParaRPr lang="en-US" sz="1150" dirty="0"/>
          </a:p>
        </p:txBody>
      </p:sp>
      <p:sp>
        <p:nvSpPr>
          <p:cNvPr id="17" name="Shape 15"/>
          <p:cNvSpPr/>
          <p:nvPr/>
        </p:nvSpPr>
        <p:spPr>
          <a:xfrm>
            <a:off x="4663440" y="2926080"/>
            <a:ext cx="4023360" cy="155448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8" name="Shape 16"/>
          <p:cNvSpPr/>
          <p:nvPr/>
        </p:nvSpPr>
        <p:spPr>
          <a:xfrm>
            <a:off x="4663440" y="2926080"/>
            <a:ext cx="64008" cy="1554480"/>
          </a:xfrm>
          <a:prstGeom prst="rect">
            <a:avLst/>
          </a:prstGeom>
          <a:solidFill>
            <a:srgbClr val="E9A23B"/>
          </a:solidFill>
          <a:ln w="12700">
            <a:solidFill>
              <a:srgbClr val="E9A23B"/>
            </a:solidFill>
            <a:prstDash val="solid"/>
          </a:ln>
        </p:spPr>
      </p:sp>
      <p:sp>
        <p:nvSpPr>
          <p:cNvPr id="19" name="Text 17"/>
          <p:cNvSpPr/>
          <p:nvPr/>
        </p:nvSpPr>
        <p:spPr>
          <a:xfrm>
            <a:off x="4864608" y="3035808"/>
            <a:ext cx="370332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Projects on the website</a:t>
            </a:r>
            <a:endParaRPr lang="en-US" sz="1300" dirty="0"/>
          </a:p>
        </p:txBody>
      </p:sp>
      <p:sp>
        <p:nvSpPr>
          <p:cNvPr id="20" name="Text 18"/>
          <p:cNvSpPr/>
          <p:nvPr/>
        </p:nvSpPr>
        <p:spPr>
          <a:xfrm>
            <a:off x="4864608" y="3383280"/>
            <a:ext cx="3703320" cy="1024128"/>
          </a:xfrm>
          <a:prstGeom prst="rect">
            <a:avLst/>
          </a:prstGeom>
          <a:noFill/>
          <a:ln/>
        </p:spPr>
        <p:txBody>
          <a:bodyPr wrap="square" lIns="0" tIns="0" rIns="0" bIns="0" rtlCol="0" anchor="t">
            <a:normAutofit/>
          </a:bodyPr>
          <a:lstStyle/>
          <a:p>
            <a:pPr indent="0" marL="0">
              <a:buNone/>
            </a:pPr>
            <a:r>
              <a:rPr lang="en-US" sz="1150" dirty="0">
                <a:solidFill>
                  <a:srgbClr val="2B2840"/>
                </a:solidFill>
                <a:latin typeface="Calibri" pitchFamily="34" charset="0"/>
                <a:ea typeface="Calibri" pitchFamily="34" charset="-122"/>
                <a:cs typeface="Calibri" pitchFamily="34" charset="-120"/>
              </a:rPr>
              <a:t>Final projects are published in the Projects section (team name and topic only, no personal data).</a:t>
            </a:r>
            <a:endParaRPr lang="en-US" sz="115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12A63"/>
        </a:solidFill>
      </p:bgPr>
    </p:bg>
    <p:spTree>
      <p:nvGrpSpPr>
        <p:cNvPr id="1" name=""/>
        <p:cNvGrpSpPr/>
        <p:nvPr/>
      </p:nvGrpSpPr>
      <p:grpSpPr>
        <a:xfrm>
          <a:off x="0" y="0"/>
          <a:ext cx="0" cy="0"/>
          <a:chOff x="0" y="0"/>
          <a:chExt cx="0" cy="0"/>
        </a:xfrm>
      </p:grpSpPr>
      <p:sp>
        <p:nvSpPr>
          <p:cNvPr id="2" name="Text 0"/>
          <p:cNvSpPr/>
          <p:nvPr/>
        </p:nvSpPr>
        <p:spPr>
          <a:xfrm>
            <a:off x="640080" y="1463040"/>
            <a:ext cx="7863840" cy="109728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3" name="Text 1"/>
          <p:cNvSpPr/>
          <p:nvPr/>
        </p:nvSpPr>
        <p:spPr>
          <a:xfrm>
            <a:off x="640080" y="2560320"/>
            <a:ext cx="7863840" cy="548640"/>
          </a:xfrm>
          <a:prstGeom prst="rect">
            <a:avLst/>
          </a:prstGeom>
          <a:noFill/>
          <a:ln/>
        </p:spPr>
        <p:txBody>
          <a:bodyPr wrap="square" lIns="0" tIns="0" rIns="0" bIns="0" rtlCol="0" anchor="ctr"/>
          <a:lstStyle/>
          <a:p>
            <a:pPr indent="0" marL="0">
              <a:buNone/>
            </a:pPr>
            <a:r>
              <a:rPr lang="en-US" sz="2200" i="1" dirty="0">
                <a:solidFill>
                  <a:srgbClr val="F5A3A3"/>
                </a:solidFill>
                <a:latin typeface="Georgia" pitchFamily="34" charset="0"/>
                <a:ea typeface="Georgia" pitchFamily="34" charset="-122"/>
                <a:cs typeface="Georgia" pitchFamily="34" charset="-120"/>
              </a:rPr>
              <a:t>Hvala · Ďakujeme · Gracias</a:t>
            </a:r>
            <a:endParaRPr lang="en-US" sz="2200" dirty="0"/>
          </a:p>
        </p:txBody>
      </p:sp>
      <p:sp>
        <p:nvSpPr>
          <p:cNvPr id="4" name="Text 2"/>
          <p:cNvSpPr/>
          <p:nvPr/>
        </p:nvSpPr>
        <p:spPr>
          <a:xfrm>
            <a:off x="640080" y="3383280"/>
            <a:ext cx="7863840" cy="457200"/>
          </a:xfrm>
          <a:prstGeom prst="rect">
            <a:avLst/>
          </a:prstGeom>
          <a:noFill/>
          <a:ln/>
        </p:spPr>
        <p:txBody>
          <a:bodyPr wrap="square" lIns="0" tIns="0" rIns="0" bIns="0" rtlCol="0" anchor="ctr"/>
          <a:lstStyle/>
          <a:p>
            <a:pPr indent="0" marL="0">
              <a:buNone/>
            </a:pPr>
            <a:r>
              <a:rPr lang="en-US" sz="1600" dirty="0">
                <a:solidFill>
                  <a:srgbClr val="D9D6EA"/>
                </a:solidFill>
                <a:latin typeface="Calibri" pitchFamily="34" charset="0"/>
                <a:ea typeface="Calibri" pitchFamily="34" charset="-122"/>
                <a:cs typeface="Calibri" pitchFamily="34" charset="-120"/>
              </a:rPr>
              <a:t>Group photo: cameras on, please.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Europe with Data · Final presentations</dc:title>
  <dc:subject>PptxGenJS Presentation</dc:subject>
  <dc:creator>Ulysseus COIL teaching team</dc:creator>
  <cp:lastModifiedBy>Ulysseus COIL teaching team</cp:lastModifiedBy>
  <cp:revision>1</cp:revision>
  <dcterms:created xsi:type="dcterms:W3CDTF">2026-10-19T10:55:13Z</dcterms:created>
  <dcterms:modified xsi:type="dcterms:W3CDTF">2026-10-19T10:55:13Z</dcterms:modified>
</cp:coreProperties>
</file>