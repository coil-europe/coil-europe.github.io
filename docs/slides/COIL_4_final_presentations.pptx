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9</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Final presentations</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Present your project to students and teachers of the three universities. Compulsory to receive the extra points. The teachers tell each team in which slot it presents.</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9 · 7 Dec – 13 Dec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6364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6364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min</a:t>
            </a:r>
            <a:endParaRPr lang="en-US" sz="1200" dirty="0"/>
          </a:p>
        </p:txBody>
      </p:sp>
      <p:sp>
        <p:nvSpPr>
          <p:cNvPr id="9" name="Shape 7"/>
          <p:cNvSpPr/>
          <p:nvPr/>
        </p:nvSpPr>
        <p:spPr>
          <a:xfrm>
            <a:off x="7772400" y="1325880"/>
            <a:ext cx="877824" cy="502920"/>
          </a:xfrm>
          <a:prstGeom prst="rect">
            <a:avLst/>
          </a:prstGeom>
          <a:solidFill>
            <a:srgbClr val="2A9D8F"/>
          </a:solidFill>
          <a:ln w="12700">
            <a:solidFill>
              <a:srgbClr val="2A9D8F"/>
            </a:solidFill>
            <a:prstDash val="solid"/>
          </a:ln>
        </p:spPr>
      </p:sp>
      <p:sp>
        <p:nvSpPr>
          <p:cNvPr id="10" name="Text 8"/>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Opening by the teachers.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35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presentations: 5 minutes each + 2 minutes of questions and feedback (about five teams per slot).</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Closing: next steps (final reflection due on Sunday, extra points and certificates) and group photo.</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RUNNING ORDER</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Five minutes per team, two for feedback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1828800"/>
                <a:gridCol w="2103120"/>
                <a:gridCol w="32004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Starts at</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Universities</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1</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+12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2</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+19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3</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+26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4</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+33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5</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3657600"/>
            <a:ext cx="8229600" cy="45720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Fill in the table when the teams are known. The session is given in two time slots: about five teams present in each.</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FOR PRESENTERS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How the presentations work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34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18872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Slides and dashboard are submitted on the website before the session (maximum 6 slides).</a:t>
            </a:r>
            <a:endParaRPr lang="en-US" sz="1300" dirty="0"/>
          </a:p>
        </p:txBody>
      </p:sp>
      <p:sp>
        <p:nvSpPr>
          <p:cNvPr id="8" name="Shape 6"/>
          <p:cNvSpPr/>
          <p:nvPr/>
        </p:nvSpPr>
        <p:spPr>
          <a:xfrm>
            <a:off x="457200" y="1874520"/>
            <a:ext cx="384048" cy="384048"/>
          </a:xfrm>
          <a:prstGeom prst="ellipse">
            <a:avLst/>
          </a:prstGeom>
          <a:solidFill>
            <a:srgbClr val="E55A5A"/>
          </a:solidFill>
          <a:ln w="12700">
            <a:solidFill>
              <a:srgbClr val="E55A5A"/>
            </a:solidFill>
            <a:prstDash val="solid"/>
          </a:ln>
        </p:spPr>
      </p:sp>
      <p:sp>
        <p:nvSpPr>
          <p:cNvPr id="9" name="Text 7"/>
          <p:cNvSpPr/>
          <p:nvPr/>
        </p:nvSpPr>
        <p:spPr>
          <a:xfrm>
            <a:off x="457200" y="1874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182880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Five minutes, timed. At 4:30 the moderator gives a sign.</a:t>
            </a:r>
            <a:endParaRPr lang="en-US" sz="1300" dirty="0"/>
          </a:p>
        </p:txBody>
      </p:sp>
      <p:sp>
        <p:nvSpPr>
          <p:cNvPr id="11" name="Shape 9"/>
          <p:cNvSpPr/>
          <p:nvPr/>
        </p:nvSpPr>
        <p:spPr>
          <a:xfrm>
            <a:off x="457200" y="251460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46888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Every team member presents a part. This is required for the extra points.</a:t>
            </a:r>
            <a:endParaRPr lang="en-US" sz="1300" dirty="0"/>
          </a:p>
        </p:txBody>
      </p:sp>
      <p:sp>
        <p:nvSpPr>
          <p:cNvPr id="14" name="Shape 12"/>
          <p:cNvSpPr/>
          <p:nvPr/>
        </p:nvSpPr>
        <p:spPr>
          <a:xfrm>
            <a:off x="457200" y="31546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154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10896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One person shares the screen; the others keep their camera on.</a:t>
            </a:r>
            <a:endParaRPr lang="en-US" sz="1300" dirty="0"/>
          </a:p>
        </p:txBody>
      </p:sp>
      <p:sp>
        <p:nvSpPr>
          <p:cNvPr id="17" name="Shape 15"/>
          <p:cNvSpPr/>
          <p:nvPr/>
        </p:nvSpPr>
        <p:spPr>
          <a:xfrm>
            <a:off x="457200" y="3794760"/>
            <a:ext cx="384048" cy="384048"/>
          </a:xfrm>
          <a:prstGeom prst="ellipse">
            <a:avLst/>
          </a:prstGeom>
          <a:solidFill>
            <a:srgbClr val="E55A5A"/>
          </a:solidFill>
          <a:ln w="12700">
            <a:solidFill>
              <a:srgbClr val="E55A5A"/>
            </a:solidFill>
            <a:prstDash val="solid"/>
          </a:ln>
        </p:spPr>
      </p:sp>
      <p:sp>
        <p:nvSpPr>
          <p:cNvPr id="18" name="Text 16"/>
          <p:cNvSpPr/>
          <p:nvPr/>
        </p:nvSpPr>
        <p:spPr>
          <a:xfrm>
            <a:off x="457200" y="3794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005840" y="374904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Two minutes of questions and feedback from teachers and students.</a:t>
            </a:r>
            <a:endParaRPr lang="en-US" sz="13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FEEDBACK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the teachers will comment on</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1554480" cy="2286000"/>
          </a:xfrm>
          <a:prstGeom prst="rect">
            <a:avLst/>
          </a:prstGeom>
          <a:solidFill>
            <a:srgbClr val="F4F3F9"/>
          </a:solidFill>
          <a:ln w="12700">
            <a:solidFill>
              <a:srgbClr val="F4F3F9"/>
            </a:solidFill>
            <a:prstDash val="solid"/>
          </a:ln>
        </p:spPr>
      </p:sp>
      <p:sp>
        <p:nvSpPr>
          <p:cNvPr id="6" name="Shape 4"/>
          <p:cNvSpPr/>
          <p:nvPr/>
        </p:nvSpPr>
        <p:spPr>
          <a:xfrm>
            <a:off x="457200" y="1234440"/>
            <a:ext cx="1554480" cy="73152"/>
          </a:xfrm>
          <a:prstGeom prst="rect">
            <a:avLst/>
          </a:prstGeom>
          <a:solidFill>
            <a:srgbClr val="E55A5A"/>
          </a:solidFill>
          <a:ln w="12700">
            <a:solidFill>
              <a:srgbClr val="E55A5A"/>
            </a:solidFill>
            <a:prstDash val="solid"/>
          </a:ln>
        </p:spPr>
      </p:sp>
      <p:sp>
        <p:nvSpPr>
          <p:cNvPr id="7" name="Text 5"/>
          <p:cNvSpPr/>
          <p:nvPr/>
        </p:nvSpPr>
        <p:spPr>
          <a:xfrm>
            <a:off x="566928"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Question</a:t>
            </a:r>
            <a:endParaRPr lang="en-US" sz="1500" dirty="0"/>
          </a:p>
        </p:txBody>
      </p:sp>
      <p:sp>
        <p:nvSpPr>
          <p:cNvPr id="8" name="Text 6"/>
          <p:cNvSpPr/>
          <p:nvPr/>
        </p:nvSpPr>
        <p:spPr>
          <a:xfrm>
            <a:off x="566928"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Clear, answerable with data, relevant for Spain, Slovakia and Montenegro.</a:t>
            </a:r>
            <a:endParaRPr lang="en-US" sz="1150" dirty="0"/>
          </a:p>
        </p:txBody>
      </p:sp>
      <p:sp>
        <p:nvSpPr>
          <p:cNvPr id="9" name="Shape 7"/>
          <p:cNvSpPr/>
          <p:nvPr/>
        </p:nvSpPr>
        <p:spPr>
          <a:xfrm>
            <a:off x="2139696" y="1234440"/>
            <a:ext cx="1554480" cy="2286000"/>
          </a:xfrm>
          <a:prstGeom prst="rect">
            <a:avLst/>
          </a:prstGeom>
          <a:solidFill>
            <a:srgbClr val="F4F3F9"/>
          </a:solidFill>
          <a:ln w="12700">
            <a:solidFill>
              <a:srgbClr val="F4F3F9"/>
            </a:solidFill>
            <a:prstDash val="solid"/>
          </a:ln>
        </p:spPr>
      </p:sp>
      <p:sp>
        <p:nvSpPr>
          <p:cNvPr id="10" name="Shape 8"/>
          <p:cNvSpPr/>
          <p:nvPr/>
        </p:nvSpPr>
        <p:spPr>
          <a:xfrm>
            <a:off x="2139696" y="1234440"/>
            <a:ext cx="1554480" cy="73152"/>
          </a:xfrm>
          <a:prstGeom prst="rect">
            <a:avLst/>
          </a:prstGeom>
          <a:solidFill>
            <a:srgbClr val="E55A5A"/>
          </a:solidFill>
          <a:ln w="12700">
            <a:solidFill>
              <a:srgbClr val="E55A5A"/>
            </a:solidFill>
            <a:prstDash val="solid"/>
          </a:ln>
        </p:spPr>
      </p:sp>
      <p:sp>
        <p:nvSpPr>
          <p:cNvPr id="11" name="Text 9"/>
          <p:cNvSpPr/>
          <p:nvPr/>
        </p:nvSpPr>
        <p:spPr>
          <a:xfrm>
            <a:off x="2249424"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Data</a:t>
            </a:r>
            <a:endParaRPr lang="en-US" sz="1500" dirty="0"/>
          </a:p>
        </p:txBody>
      </p:sp>
      <p:sp>
        <p:nvSpPr>
          <p:cNvPr id="12" name="Text 10"/>
          <p:cNvSpPr/>
          <p:nvPr/>
        </p:nvSpPr>
        <p:spPr>
          <a:xfrm>
            <a:off x="2249424"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Right indicators and years; gaps handled and explained.</a:t>
            </a:r>
            <a:endParaRPr lang="en-US" sz="1150" dirty="0"/>
          </a:p>
        </p:txBody>
      </p:sp>
      <p:sp>
        <p:nvSpPr>
          <p:cNvPr id="13" name="Shape 11"/>
          <p:cNvSpPr/>
          <p:nvPr/>
        </p:nvSpPr>
        <p:spPr>
          <a:xfrm>
            <a:off x="3822192" y="1234440"/>
            <a:ext cx="1554480" cy="2286000"/>
          </a:xfrm>
          <a:prstGeom prst="rect">
            <a:avLst/>
          </a:prstGeom>
          <a:solidFill>
            <a:srgbClr val="F4F3F9"/>
          </a:solidFill>
          <a:ln w="12700">
            <a:solidFill>
              <a:srgbClr val="F4F3F9"/>
            </a:solidFill>
            <a:prstDash val="solid"/>
          </a:ln>
        </p:spPr>
      </p:sp>
      <p:sp>
        <p:nvSpPr>
          <p:cNvPr id="14" name="Shape 12"/>
          <p:cNvSpPr/>
          <p:nvPr/>
        </p:nvSpPr>
        <p:spPr>
          <a:xfrm>
            <a:off x="3822192" y="1234440"/>
            <a:ext cx="1554480" cy="73152"/>
          </a:xfrm>
          <a:prstGeom prst="rect">
            <a:avLst/>
          </a:prstGeom>
          <a:solidFill>
            <a:srgbClr val="E55A5A"/>
          </a:solidFill>
          <a:ln w="12700">
            <a:solidFill>
              <a:srgbClr val="E55A5A"/>
            </a:solidFill>
            <a:prstDash val="solid"/>
          </a:ln>
        </p:spPr>
      </p:sp>
      <p:sp>
        <p:nvSpPr>
          <p:cNvPr id="15" name="Text 13"/>
          <p:cNvSpPr/>
          <p:nvPr/>
        </p:nvSpPr>
        <p:spPr>
          <a:xfrm>
            <a:off x="3931920"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Method</a:t>
            </a:r>
            <a:endParaRPr lang="en-US" sz="1500" dirty="0"/>
          </a:p>
        </p:txBody>
      </p:sp>
      <p:sp>
        <p:nvSpPr>
          <p:cNvPr id="16" name="Text 14"/>
          <p:cNvSpPr/>
          <p:nvPr/>
        </p:nvSpPr>
        <p:spPr>
          <a:xfrm>
            <a:off x="3931920"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Suitable method, correctly read; limits stated (small n, causality).</a:t>
            </a:r>
            <a:endParaRPr lang="en-US" sz="1150" dirty="0"/>
          </a:p>
        </p:txBody>
      </p:sp>
      <p:sp>
        <p:nvSpPr>
          <p:cNvPr id="17" name="Shape 15"/>
          <p:cNvSpPr/>
          <p:nvPr/>
        </p:nvSpPr>
        <p:spPr>
          <a:xfrm>
            <a:off x="5504688" y="1234440"/>
            <a:ext cx="1554480" cy="2286000"/>
          </a:xfrm>
          <a:prstGeom prst="rect">
            <a:avLst/>
          </a:prstGeom>
          <a:solidFill>
            <a:srgbClr val="F4F3F9"/>
          </a:solidFill>
          <a:ln w="12700">
            <a:solidFill>
              <a:srgbClr val="F4F3F9"/>
            </a:solidFill>
            <a:prstDash val="solid"/>
          </a:ln>
        </p:spPr>
      </p:sp>
      <p:sp>
        <p:nvSpPr>
          <p:cNvPr id="18" name="Shape 16"/>
          <p:cNvSpPr/>
          <p:nvPr/>
        </p:nvSpPr>
        <p:spPr>
          <a:xfrm>
            <a:off x="5504688" y="1234440"/>
            <a:ext cx="1554480" cy="73152"/>
          </a:xfrm>
          <a:prstGeom prst="rect">
            <a:avLst/>
          </a:prstGeom>
          <a:solidFill>
            <a:srgbClr val="E55A5A"/>
          </a:solidFill>
          <a:ln w="12700">
            <a:solidFill>
              <a:srgbClr val="E55A5A"/>
            </a:solidFill>
            <a:prstDash val="solid"/>
          </a:ln>
        </p:spPr>
      </p:sp>
      <p:sp>
        <p:nvSpPr>
          <p:cNvPr id="19" name="Text 17"/>
          <p:cNvSpPr/>
          <p:nvPr/>
        </p:nvSpPr>
        <p:spPr>
          <a:xfrm>
            <a:off x="5614416"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Dashboard</a:t>
            </a:r>
            <a:endParaRPr lang="en-US" sz="1500" dirty="0"/>
          </a:p>
        </p:txBody>
      </p:sp>
      <p:sp>
        <p:nvSpPr>
          <p:cNvPr id="20" name="Text 18"/>
          <p:cNvSpPr/>
          <p:nvPr/>
        </p:nvSpPr>
        <p:spPr>
          <a:xfrm>
            <a:off x="5614416"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Understandable for a non-specialist in one minute.</a:t>
            </a:r>
            <a:endParaRPr lang="en-US" sz="1150" dirty="0"/>
          </a:p>
        </p:txBody>
      </p:sp>
      <p:sp>
        <p:nvSpPr>
          <p:cNvPr id="21" name="Shape 19"/>
          <p:cNvSpPr/>
          <p:nvPr/>
        </p:nvSpPr>
        <p:spPr>
          <a:xfrm>
            <a:off x="7187184" y="1234440"/>
            <a:ext cx="1554480" cy="2286000"/>
          </a:xfrm>
          <a:prstGeom prst="rect">
            <a:avLst/>
          </a:prstGeom>
          <a:solidFill>
            <a:srgbClr val="F4F3F9"/>
          </a:solidFill>
          <a:ln w="12700">
            <a:solidFill>
              <a:srgbClr val="F4F3F9"/>
            </a:solidFill>
            <a:prstDash val="solid"/>
          </a:ln>
        </p:spPr>
      </p:sp>
      <p:sp>
        <p:nvSpPr>
          <p:cNvPr id="22" name="Shape 20"/>
          <p:cNvSpPr/>
          <p:nvPr/>
        </p:nvSpPr>
        <p:spPr>
          <a:xfrm>
            <a:off x="7187184" y="1234440"/>
            <a:ext cx="1554480" cy="73152"/>
          </a:xfrm>
          <a:prstGeom prst="rect">
            <a:avLst/>
          </a:prstGeom>
          <a:solidFill>
            <a:srgbClr val="E55A5A"/>
          </a:solidFill>
          <a:ln w="12700">
            <a:solidFill>
              <a:srgbClr val="E55A5A"/>
            </a:solidFill>
            <a:prstDash val="solid"/>
          </a:ln>
        </p:spPr>
      </p:sp>
      <p:sp>
        <p:nvSpPr>
          <p:cNvPr id="23" name="Text 21"/>
          <p:cNvSpPr/>
          <p:nvPr/>
        </p:nvSpPr>
        <p:spPr>
          <a:xfrm>
            <a:off x="7296912"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Team</a:t>
            </a:r>
            <a:endParaRPr lang="en-US" sz="1500" dirty="0"/>
          </a:p>
        </p:txBody>
      </p:sp>
      <p:sp>
        <p:nvSpPr>
          <p:cNvPr id="24" name="Text 22"/>
          <p:cNvSpPr/>
          <p:nvPr/>
        </p:nvSpPr>
        <p:spPr>
          <a:xfrm>
            <a:off x="7296912"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Everyone presents; the international collaboration shows.</a:t>
            </a:r>
            <a:endParaRPr lang="en-US" sz="1150" dirty="0"/>
          </a:p>
        </p:txBody>
      </p:sp>
      <p:sp>
        <p:nvSpPr>
          <p:cNvPr id="25" name="Text 23"/>
          <p:cNvSpPr/>
          <p:nvPr/>
        </p:nvSpPr>
        <p:spPr>
          <a:xfrm>
            <a:off x="457200" y="3749040"/>
            <a:ext cx="8229600" cy="32004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Each university grades its own students; this feedback is shared, not a grade.</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AFTER TODAY</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Last steps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554480"/>
          </a:xfrm>
          <a:prstGeom prst="rect">
            <a:avLst/>
          </a:prstGeom>
          <a:solidFill>
            <a:srgbClr val="E55A5A"/>
          </a:solidFill>
          <a:ln w="12700">
            <a:solidFill>
              <a:srgbClr val="E55A5A"/>
            </a:solidFill>
            <a:prstDash val="solid"/>
          </a:ln>
        </p:spPr>
      </p:sp>
      <p:sp>
        <p:nvSpPr>
          <p:cNvPr id="7" name="Text 5"/>
          <p:cNvSpPr/>
          <p:nvPr/>
        </p:nvSpPr>
        <p:spPr>
          <a:xfrm>
            <a:off x="65836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Final reflection</a:t>
            </a:r>
            <a:endParaRPr lang="en-US" sz="1300" dirty="0"/>
          </a:p>
        </p:txBody>
      </p:sp>
      <p:sp>
        <p:nvSpPr>
          <p:cNvPr id="8" name="Text 6"/>
          <p:cNvSpPr/>
          <p:nvPr/>
        </p:nvSpPr>
        <p:spPr>
          <a:xfrm>
            <a:off x="65836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Individual, 300–400 words, one-page PDF. Due Sunday 13 December, 23:59 CET, with the Submit button on the website.</a:t>
            </a:r>
            <a:endParaRPr lang="en-US" sz="1150" dirty="0"/>
          </a:p>
        </p:txBody>
      </p:sp>
      <p:sp>
        <p:nvSpPr>
          <p:cNvPr id="9" name="Shape 7"/>
          <p:cNvSpPr/>
          <p:nvPr/>
        </p:nvSpPr>
        <p:spPr>
          <a:xfrm>
            <a:off x="466344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4663440" y="1188720"/>
            <a:ext cx="64008" cy="1554480"/>
          </a:xfrm>
          <a:prstGeom prst="rect">
            <a:avLst/>
          </a:prstGeom>
          <a:solidFill>
            <a:srgbClr val="312A63"/>
          </a:solidFill>
          <a:ln w="12700">
            <a:solidFill>
              <a:srgbClr val="312A63"/>
            </a:solidFill>
            <a:prstDash val="solid"/>
          </a:ln>
        </p:spPr>
      </p:sp>
      <p:sp>
        <p:nvSpPr>
          <p:cNvPr id="11" name="Text 9"/>
          <p:cNvSpPr/>
          <p:nvPr/>
        </p:nvSpPr>
        <p:spPr>
          <a:xfrm>
            <a:off x="486460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Extra points</a:t>
            </a:r>
            <a:endParaRPr lang="en-US" sz="1300" dirty="0"/>
          </a:p>
        </p:txBody>
      </p:sp>
      <p:sp>
        <p:nvSpPr>
          <p:cNvPr id="12" name="Text 10"/>
          <p:cNvSpPr/>
          <p:nvPr/>
        </p:nvSpPr>
        <p:spPr>
          <a:xfrm>
            <a:off x="486460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+1 / 10 (University of Seville); +10 / 100 (Technical University of Košice · University of Montenegro). Extra points on your course grade for students who complete the final presentation.</a:t>
            </a:r>
            <a:endParaRPr lang="en-US" sz="1150" dirty="0"/>
          </a:p>
        </p:txBody>
      </p:sp>
      <p:sp>
        <p:nvSpPr>
          <p:cNvPr id="13" name="Shape 11"/>
          <p:cNvSpPr/>
          <p:nvPr/>
        </p:nvSpPr>
        <p:spPr>
          <a:xfrm>
            <a:off x="45720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554480"/>
          </a:xfrm>
          <a:prstGeom prst="rect">
            <a:avLst/>
          </a:prstGeom>
          <a:solidFill>
            <a:srgbClr val="2A9D8F"/>
          </a:solidFill>
          <a:ln w="12700">
            <a:solidFill>
              <a:srgbClr val="2A9D8F"/>
            </a:solidFill>
            <a:prstDash val="solid"/>
          </a:ln>
        </p:spPr>
      </p:sp>
      <p:sp>
        <p:nvSpPr>
          <p:cNvPr id="15" name="Text 13"/>
          <p:cNvSpPr/>
          <p:nvPr/>
        </p:nvSpPr>
        <p:spPr>
          <a:xfrm>
            <a:off x="65836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Certificates</a:t>
            </a:r>
            <a:endParaRPr lang="en-US" sz="1300" dirty="0"/>
          </a:p>
        </p:txBody>
      </p:sp>
      <p:sp>
        <p:nvSpPr>
          <p:cNvPr id="16" name="Text 14"/>
          <p:cNvSpPr/>
          <p:nvPr/>
        </p:nvSpPr>
        <p:spPr>
          <a:xfrm>
            <a:off x="65836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150" dirty="0"/>
          </a:p>
        </p:txBody>
      </p:sp>
      <p:sp>
        <p:nvSpPr>
          <p:cNvPr id="17" name="Shape 15"/>
          <p:cNvSpPr/>
          <p:nvPr/>
        </p:nvSpPr>
        <p:spPr>
          <a:xfrm>
            <a:off x="466344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4663440" y="2926080"/>
            <a:ext cx="64008" cy="1554480"/>
          </a:xfrm>
          <a:prstGeom prst="rect">
            <a:avLst/>
          </a:prstGeom>
          <a:solidFill>
            <a:srgbClr val="E9A23B"/>
          </a:solidFill>
          <a:ln w="12700">
            <a:solidFill>
              <a:srgbClr val="E9A23B"/>
            </a:solidFill>
            <a:prstDash val="solid"/>
          </a:ln>
        </p:spPr>
      </p:sp>
      <p:sp>
        <p:nvSpPr>
          <p:cNvPr id="19" name="Text 17"/>
          <p:cNvSpPr/>
          <p:nvPr/>
        </p:nvSpPr>
        <p:spPr>
          <a:xfrm>
            <a:off x="486460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Projects on the website</a:t>
            </a:r>
            <a:endParaRPr lang="en-US" sz="1300" dirty="0"/>
          </a:p>
        </p:txBody>
      </p:sp>
      <p:sp>
        <p:nvSpPr>
          <p:cNvPr id="20" name="Text 18"/>
          <p:cNvSpPr/>
          <p:nvPr/>
        </p:nvSpPr>
        <p:spPr>
          <a:xfrm>
            <a:off x="486460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Final projects are published in the Projects section (team name and topic only, no personal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12A63"/>
        </a:solidFill>
      </p:bgPr>
    </p:bg>
    <p:spTree>
      <p:nvGrpSpPr>
        <p:cNvPr id="1" name=""/>
        <p:cNvGrpSpPr/>
        <p:nvPr/>
      </p:nvGrpSpPr>
      <p:grpSpPr>
        <a:xfrm>
          <a:off x="0" y="0"/>
          <a:ext cx="0" cy="0"/>
          <a:chOff x="0" y="0"/>
          <a:chExt cx="0" cy="0"/>
        </a:xfrm>
      </p:grpSpPr>
      <p:sp>
        <p:nvSpPr>
          <p:cNvPr id="2" name="Text 0"/>
          <p:cNvSpPr/>
          <p:nvPr/>
        </p:nvSpPr>
        <p:spPr>
          <a:xfrm>
            <a:off x="640080" y="1463040"/>
            <a:ext cx="7863840" cy="109728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Thank you</a:t>
            </a:r>
            <a:endParaRPr lang="en-US" sz="4800" dirty="0"/>
          </a:p>
        </p:txBody>
      </p:sp>
      <p:sp>
        <p:nvSpPr>
          <p:cNvPr id="3" name="Text 1"/>
          <p:cNvSpPr/>
          <p:nvPr/>
        </p:nvSpPr>
        <p:spPr>
          <a:xfrm>
            <a:off x="640080" y="2560320"/>
            <a:ext cx="7863840" cy="548640"/>
          </a:xfrm>
          <a:prstGeom prst="rect">
            <a:avLst/>
          </a:prstGeom>
          <a:noFill/>
          <a:ln/>
        </p:spPr>
        <p:txBody>
          <a:bodyPr wrap="square" lIns="0" tIns="0" rIns="0" bIns="0" rtlCol="0" anchor="ctr"/>
          <a:lstStyle/>
          <a:p>
            <a:pPr indent="0" marL="0">
              <a:buNone/>
            </a:pPr>
            <a:r>
              <a:rPr lang="en-US" sz="2200" i="1" dirty="0">
                <a:solidFill>
                  <a:srgbClr val="F5A3A3"/>
                </a:solidFill>
                <a:latin typeface="Georgia" pitchFamily="34" charset="0"/>
                <a:ea typeface="Georgia" pitchFamily="34" charset="-122"/>
                <a:cs typeface="Georgia" pitchFamily="34" charset="-120"/>
              </a:rPr>
              <a:t>Hvala · Ďakujeme · Gracias</a:t>
            </a:r>
            <a:endParaRPr lang="en-US" sz="2200" dirty="0"/>
          </a:p>
        </p:txBody>
      </p:sp>
      <p:sp>
        <p:nvSpPr>
          <p:cNvPr id="4" name="Text 2"/>
          <p:cNvSpPr/>
          <p:nvPr/>
        </p:nvSpPr>
        <p:spPr>
          <a:xfrm>
            <a:off x="640080" y="3383280"/>
            <a:ext cx="7863840" cy="457200"/>
          </a:xfrm>
          <a:prstGeom prst="rect">
            <a:avLst/>
          </a:prstGeom>
          <a:noFill/>
          <a:ln/>
        </p:spPr>
        <p:txBody>
          <a:bodyPr wrap="square" lIns="0" tIns="0" rIns="0" bIns="0" rtlCol="0" anchor="ctr"/>
          <a:lstStyle/>
          <a:p>
            <a:pPr indent="0" marL="0">
              <a:buNone/>
            </a:pPr>
            <a:r>
              <a:rPr lang="en-US" sz="1600" dirty="0">
                <a:solidFill>
                  <a:srgbClr val="D9D6EA"/>
                </a:solidFill>
                <a:latin typeface="Calibri" pitchFamily="34" charset="0"/>
                <a:ea typeface="Calibri" pitchFamily="34" charset="-122"/>
                <a:cs typeface="Calibri" pitchFamily="34" charset="-120"/>
              </a:rPr>
              <a:t>Group photo: cameras on, please.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Final presentations</dc:title>
  <dc:subject>PptxGenJS Presentation</dc:subject>
  <dc:creator>Ulysseus COIL teaching team</dc:creator>
  <cp:lastModifiedBy>Ulysseus COIL teaching team</cp:lastModifiedBy>
  <cp:revision>1</cp:revision>
  <dcterms:created xsi:type="dcterms:W3CDTF">2026-10-09T13:00:24Z</dcterms:created>
  <dcterms:modified xsi:type="dcterms:W3CDTF">2026-10-09T13:00:24Z</dcterms:modified>
</cp:coreProperties>
</file>