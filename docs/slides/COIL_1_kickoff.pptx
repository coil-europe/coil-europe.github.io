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12A63"/>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55A5A"/>
          </a:solidFill>
          <a:ln w="12700">
            <a:solidFill>
              <a:srgbClr val="E55A5A"/>
            </a:solidFill>
            <a:prstDash val="solid"/>
          </a:ln>
        </p:spPr>
      </p:sp>
      <p:sp>
        <p:nvSpPr>
          <p:cNvPr id="3" name="Shape 1"/>
          <p:cNvSpPr/>
          <p:nvPr/>
        </p:nvSpPr>
        <p:spPr>
          <a:xfrm>
            <a:off x="6309360" y="-1463040"/>
            <a:ext cx="4572000" cy="4572000"/>
          </a:xfrm>
          <a:prstGeom prst="ellipse">
            <a:avLst/>
          </a:prstGeom>
          <a:solidFill>
            <a:srgbClr val="FFFFFF">
              <a:alpha val="6000"/>
            </a:srgbClr>
          </a:solidFill>
          <a:ln w="12700">
            <a:solidFill>
              <a:srgbClr val="FFFFFF">
                <a:alpha val="0"/>
              </a:srgbClr>
            </a:solidFill>
            <a:prstDash val="solid"/>
          </a:ln>
        </p:spPr>
      </p:sp>
      <p:sp>
        <p:nvSpPr>
          <p:cNvPr id="4" name="Shape 2"/>
          <p:cNvSpPr/>
          <p:nvPr/>
        </p:nvSpPr>
        <p:spPr>
          <a:xfrm>
            <a:off x="7223760" y="2011680"/>
            <a:ext cx="3108960" cy="3108960"/>
          </a:xfrm>
          <a:prstGeom prst="ellipse">
            <a:avLst/>
          </a:prstGeom>
          <a:solidFill>
            <a:srgbClr val="E55A5A">
              <a:alpha val="15000"/>
            </a:srgbClr>
          </a:solidFill>
          <a:ln w="12700">
            <a:solidFill>
              <a:srgbClr val="E55A5A">
                <a:alpha val="0"/>
              </a:srgbClr>
            </a:solidFill>
            <a:prstDash val="solid"/>
          </a:ln>
        </p:spPr>
      </p:sp>
      <p:sp>
        <p:nvSpPr>
          <p:cNvPr id="5" name="Text 3"/>
          <p:cNvSpPr/>
          <p:nvPr/>
        </p:nvSpPr>
        <p:spPr>
          <a:xfrm>
            <a:off x="640080" y="685800"/>
            <a:ext cx="7315200" cy="274320"/>
          </a:xfrm>
          <a:prstGeom prst="rect">
            <a:avLst/>
          </a:prstGeom>
          <a:noFill/>
          <a:ln/>
        </p:spPr>
        <p:txBody>
          <a:bodyPr wrap="square" lIns="0" tIns="0" rIns="0" bIns="0" rtlCol="0" anchor="ctr"/>
          <a:lstStyle/>
          <a:p>
            <a:pPr indent="0" marL="0">
              <a:buNone/>
            </a:pPr>
            <a:r>
              <a:rPr lang="en-US" sz="1200" b="1" spc="300" kern="0" dirty="0">
                <a:solidFill>
                  <a:srgbClr val="F5A3A3"/>
                </a:solidFill>
                <a:latin typeface="Calibri" pitchFamily="34" charset="0"/>
                <a:ea typeface="Calibri" pitchFamily="34" charset="-122"/>
                <a:cs typeface="Calibri" pitchFamily="34" charset="-120"/>
              </a:rPr>
              <a:t>JOINT SESSION · WEEK 1</a:t>
            </a:r>
            <a:endParaRPr lang="en-US" sz="1200" dirty="0"/>
          </a:p>
        </p:txBody>
      </p:sp>
      <p:sp>
        <p:nvSpPr>
          <p:cNvPr id="6" name="Text 4"/>
          <p:cNvSpPr/>
          <p:nvPr/>
        </p:nvSpPr>
        <p:spPr>
          <a:xfrm>
            <a:off x="640080" y="1005840"/>
            <a:ext cx="6949440" cy="128016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Georgia" pitchFamily="34" charset="0"/>
                <a:ea typeface="Georgia" pitchFamily="34" charset="-122"/>
                <a:cs typeface="Georgia" pitchFamily="34" charset="-120"/>
              </a:rPr>
              <a:t>Kick-off</a:t>
            </a:r>
            <a:endParaRPr lang="en-US" sz="3800" dirty="0"/>
          </a:p>
        </p:txBody>
      </p:sp>
      <p:sp>
        <p:nvSpPr>
          <p:cNvPr id="7" name="Text 5"/>
          <p:cNvSpPr/>
          <p:nvPr/>
        </p:nvSpPr>
        <p:spPr>
          <a:xfrm>
            <a:off x="640080" y="2331720"/>
            <a:ext cx="6766560" cy="640080"/>
          </a:xfrm>
          <a:prstGeom prst="rect">
            <a:avLst/>
          </a:prstGeom>
          <a:noFill/>
          <a:ln/>
        </p:spPr>
        <p:txBody>
          <a:bodyPr wrap="square" lIns="0" tIns="0" rIns="0" bIns="0" rtlCol="0" anchor="t"/>
          <a:lstStyle/>
          <a:p>
            <a:pPr indent="0" marL="0">
              <a:buNone/>
            </a:pPr>
            <a:r>
              <a:rPr lang="en-US" sz="1600" dirty="0">
                <a:solidFill>
                  <a:srgbClr val="D9D6EA"/>
                </a:solidFill>
                <a:latin typeface="Calibri" pitchFamily="34" charset="0"/>
                <a:ea typeface="Calibri" pitchFamily="34" charset="-122"/>
                <a:cs typeface="Calibri" pitchFamily="34" charset="-120"/>
              </a:rPr>
              <a:t>Comparing Europe with Data. Meet the people you will work with, understand how the COIL works and hold your first team meeting.</a:t>
            </a:r>
            <a:endParaRPr lang="en-US" sz="1600" dirty="0"/>
          </a:p>
        </p:txBody>
      </p:sp>
      <p:sp>
        <p:nvSpPr>
          <p:cNvPr id="8" name="Text 6"/>
          <p:cNvSpPr/>
          <p:nvPr/>
        </p:nvSpPr>
        <p:spPr>
          <a:xfrm>
            <a:off x="640080" y="3017520"/>
            <a:ext cx="676656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Week 1 · 19 Oct – 25 Oct 2026 · 45 minutes · Microsoft Teams</a:t>
            </a:r>
            <a:endParaRPr lang="en-US" sz="1200" dirty="0"/>
          </a:p>
        </p:txBody>
      </p:sp>
      <p:sp>
        <p:nvSpPr>
          <p:cNvPr id="9" name="Shape 7"/>
          <p:cNvSpPr/>
          <p:nvPr/>
        </p:nvSpPr>
        <p:spPr>
          <a:xfrm>
            <a:off x="640080" y="3886200"/>
            <a:ext cx="5062347" cy="777240"/>
          </a:xfrm>
          <a:prstGeom prst="roundRect">
            <a:avLst>
              <a:gd name="adj" fmla="val 9412"/>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1"/>
          <a:stretch>
            <a:fillRect/>
          </a:stretch>
        </p:blipFill>
        <p:spPr>
          <a:xfrm>
            <a:off x="868680" y="4069080"/>
            <a:ext cx="1203579" cy="411480"/>
          </a:xfrm>
          <a:prstGeom prst="rect">
            <a:avLst/>
          </a:prstGeom>
        </p:spPr>
      </p:pic>
      <p:pic>
        <p:nvPicPr>
          <p:cNvPr id="11" name="Image 1" descr="preencoded.png">    </p:cNvPr>
          <p:cNvPicPr>
            <a:picLocks noChangeAspect="1"/>
          </p:cNvPicPr>
          <p:nvPr/>
        </p:nvPicPr>
        <p:blipFill>
          <a:blip r:embed="rId2"/>
          <a:stretch>
            <a:fillRect/>
          </a:stretch>
        </p:blipFill>
        <p:spPr>
          <a:xfrm>
            <a:off x="2483739" y="4000500"/>
            <a:ext cx="603504" cy="548640"/>
          </a:xfrm>
          <a:prstGeom prst="rect">
            <a:avLst/>
          </a:prstGeom>
        </p:spPr>
      </p:pic>
      <p:pic>
        <p:nvPicPr>
          <p:cNvPr id="12" name="Image 2" descr="preencoded.png">    </p:cNvPr>
          <p:cNvPicPr>
            <a:picLocks noChangeAspect="1"/>
          </p:cNvPicPr>
          <p:nvPr/>
        </p:nvPicPr>
        <p:blipFill>
          <a:blip r:embed="rId3"/>
          <a:stretch>
            <a:fillRect/>
          </a:stretch>
        </p:blipFill>
        <p:spPr>
          <a:xfrm>
            <a:off x="3498723" y="4000500"/>
            <a:ext cx="994410" cy="548640"/>
          </a:xfrm>
          <a:prstGeom prst="rect">
            <a:avLst/>
          </a:prstGeom>
        </p:spPr>
      </p:pic>
      <p:pic>
        <p:nvPicPr>
          <p:cNvPr id="13" name="Image 3" descr="preencoded.png">    </p:cNvPr>
          <p:cNvPicPr>
            <a:picLocks noChangeAspect="1"/>
          </p:cNvPicPr>
          <p:nvPr/>
        </p:nvPicPr>
        <p:blipFill>
          <a:blip r:embed="rId4"/>
          <a:stretch>
            <a:fillRect/>
          </a:stretch>
        </p:blipFill>
        <p:spPr>
          <a:xfrm>
            <a:off x="4904613" y="4000500"/>
            <a:ext cx="569214"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AGENDA · 45 MINUTES</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What we will do today</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Kick-off</a:t>
            </a:r>
            <a:endParaRPr lang="en-US" sz="850" dirty="0"/>
          </a:p>
        </p:txBody>
      </p:sp>
      <p:sp>
        <p:nvSpPr>
          <p:cNvPr id="5" name="Shape 3"/>
          <p:cNvSpPr/>
          <p:nvPr/>
        </p:nvSpPr>
        <p:spPr>
          <a:xfrm>
            <a:off x="457200" y="1325880"/>
            <a:ext cx="877824" cy="502920"/>
          </a:xfrm>
          <a:prstGeom prst="rect">
            <a:avLst/>
          </a:prstGeom>
          <a:solidFill>
            <a:srgbClr val="312A63"/>
          </a:solidFill>
          <a:ln w="12700">
            <a:solidFill>
              <a:srgbClr val="312A63"/>
            </a:solidFill>
            <a:prstDash val="solid"/>
          </a:ln>
        </p:spPr>
      </p:sp>
      <p:sp>
        <p:nvSpPr>
          <p:cNvPr id="6" name="Text 4"/>
          <p:cNvSpPr/>
          <p:nvPr/>
        </p:nvSpPr>
        <p:spPr>
          <a:xfrm>
            <a:off x="457200" y="1325880"/>
            <a:ext cx="87782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min</a:t>
            </a:r>
            <a:endParaRPr lang="en-US" sz="1200" dirty="0"/>
          </a:p>
        </p:txBody>
      </p:sp>
      <p:sp>
        <p:nvSpPr>
          <p:cNvPr id="7" name="Shape 5"/>
          <p:cNvSpPr/>
          <p:nvPr/>
        </p:nvSpPr>
        <p:spPr>
          <a:xfrm>
            <a:off x="1371600" y="1325880"/>
            <a:ext cx="1792224" cy="502920"/>
          </a:xfrm>
          <a:prstGeom prst="rect">
            <a:avLst/>
          </a:prstGeom>
          <a:solidFill>
            <a:srgbClr val="E55A5A"/>
          </a:solidFill>
          <a:ln w="12700">
            <a:solidFill>
              <a:srgbClr val="E55A5A"/>
            </a:solidFill>
            <a:prstDash val="solid"/>
          </a:ln>
        </p:spPr>
      </p:sp>
      <p:sp>
        <p:nvSpPr>
          <p:cNvPr id="8" name="Text 6"/>
          <p:cNvSpPr/>
          <p:nvPr/>
        </p:nvSpPr>
        <p:spPr>
          <a:xfrm>
            <a:off x="1371600" y="1325880"/>
            <a:ext cx="179222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min</a:t>
            </a:r>
            <a:endParaRPr lang="en-US" sz="1200" dirty="0"/>
          </a:p>
        </p:txBody>
      </p:sp>
      <p:sp>
        <p:nvSpPr>
          <p:cNvPr id="9" name="Shape 7"/>
          <p:cNvSpPr/>
          <p:nvPr/>
        </p:nvSpPr>
        <p:spPr>
          <a:xfrm>
            <a:off x="3200400" y="1325880"/>
            <a:ext cx="4535424" cy="502920"/>
          </a:xfrm>
          <a:prstGeom prst="rect">
            <a:avLst/>
          </a:prstGeom>
          <a:solidFill>
            <a:srgbClr val="2A9D8F"/>
          </a:solidFill>
          <a:ln w="12700">
            <a:solidFill>
              <a:srgbClr val="2A9D8F"/>
            </a:solidFill>
            <a:prstDash val="solid"/>
          </a:ln>
        </p:spPr>
      </p:sp>
      <p:sp>
        <p:nvSpPr>
          <p:cNvPr id="10" name="Text 8"/>
          <p:cNvSpPr/>
          <p:nvPr/>
        </p:nvSpPr>
        <p:spPr>
          <a:xfrm>
            <a:off x="3200400" y="1325880"/>
            <a:ext cx="453542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25 min</a:t>
            </a:r>
            <a:endParaRPr lang="en-US" sz="1200" dirty="0"/>
          </a:p>
        </p:txBody>
      </p:sp>
      <p:sp>
        <p:nvSpPr>
          <p:cNvPr id="11" name="Shape 9"/>
          <p:cNvSpPr/>
          <p:nvPr/>
        </p:nvSpPr>
        <p:spPr>
          <a:xfrm>
            <a:off x="7772400" y="1325880"/>
            <a:ext cx="877824" cy="502920"/>
          </a:xfrm>
          <a:prstGeom prst="rect">
            <a:avLst/>
          </a:prstGeom>
          <a:solidFill>
            <a:srgbClr val="E9A23B"/>
          </a:solidFill>
          <a:ln w="12700">
            <a:solidFill>
              <a:srgbClr val="E9A23B"/>
            </a:solidFill>
            <a:prstDash val="solid"/>
          </a:ln>
        </p:spPr>
      </p:sp>
      <p:sp>
        <p:nvSpPr>
          <p:cNvPr id="12" name="Text 10"/>
          <p:cNvSpPr/>
          <p:nvPr/>
        </p:nvSpPr>
        <p:spPr>
          <a:xfrm>
            <a:off x="7772400" y="1325880"/>
            <a:ext cx="877824"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min</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8229600" cy="914400"/>
        </p:xfrm>
        <a:graphic>
          <a:graphicData uri="http://schemas.openxmlformats.org/drawingml/2006/table">
            <a:tbl>
              <a:tblPr/>
              <a:tblGrid>
                <a:gridCol w="822960"/>
                <a:gridCol w="7406640"/>
              </a:tblGrid>
              <a:tr h="384048">
                <a:tc>
                  <a:txBody>
                    <a:bodyPr/>
                    <a:lstStyle/>
                    <a:p>
                      <a:pPr indent="0" marL="0">
                        <a:buNone/>
                      </a:pPr>
                      <a:r>
                        <a:rPr lang="en-US" sz="1150" b="1" dirty="0">
                          <a:solidFill>
                            <a:srgbClr val="312A63"/>
                          </a:solidFill>
                          <a:latin typeface="Calibri" pitchFamily="34" charset="0"/>
                          <a:ea typeface="Calibri" pitchFamily="34" charset="-122"/>
                          <a:cs typeface="Calibri" pitchFamily="34" charset="-120"/>
                        </a:rPr>
                        <a:t>5 min</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Welcome from the teachers of the three universities. What is a COIL and what is Ulysseus.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150" b="1" dirty="0">
                          <a:solidFill>
                            <a:srgbClr val="E55A5A"/>
                          </a:solidFill>
                          <a:latin typeface="Calibri" pitchFamily="34" charset="0"/>
                          <a:ea typeface="Calibri" pitchFamily="34" charset="-122"/>
                          <a:cs typeface="Calibri" pitchFamily="34" charset="-120"/>
                        </a:rPr>
                        <a:t>10 min</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How the COIL works: this website, the schedule, three deliverables, the dataset, extra points and certificate.</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150" b="1" dirty="0">
                          <a:solidFill>
                            <a:srgbClr val="2A9D8F"/>
                          </a:solidFill>
                          <a:latin typeface="Calibri" pitchFamily="34" charset="0"/>
                          <a:ea typeface="Calibri" pitchFamily="34" charset="-122"/>
                          <a:cs typeface="Calibri" pitchFamily="34" charset="-120"/>
                        </a:rPr>
                        <a:t>25 min</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First team meeting in break-out rooms (teams and their slot are announced by the teachers before the session, with students from the three universities): introduce yourself with your fact about your country, choose a communication channel and a weekly meeting time.</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150" b="1" dirty="0">
                          <a:solidFill>
                            <a:srgbClr val="E9A23B"/>
                          </a:solidFill>
                          <a:latin typeface="Calibri" pitchFamily="34" charset="0"/>
                          <a:ea typeface="Calibri" pitchFamily="34" charset="-122"/>
                          <a:cs typeface="Calibri" pitchFamily="34" charset="-120"/>
                        </a:rPr>
                        <a:t>5 min</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c>
                  <a:txBody>
                    <a:bodyPr/>
                    <a:lstStyle/>
                    <a:p>
                      <a:pPr indent="0" marL="0">
                        <a:buNone/>
                      </a:pPr>
                      <a:r>
                        <a:rPr lang="en-US" sz="1150" dirty="0">
                          <a:solidFill>
                            <a:srgbClr val="2B2840"/>
                          </a:solidFill>
                          <a:latin typeface="Calibri" pitchFamily="34" charset="0"/>
                          <a:ea typeface="Calibri" pitchFamily="34" charset="-122"/>
                          <a:cs typeface="Calibri" pitchFamily="34" charset="-120"/>
                        </a:rPr>
                        <a:t>Questions and closing.</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0" cap="flat" cmpd="sng" algn="ctr">
                      <a:noFill/>
                    </a:lnB>
                  </a:tcPr>
                </a:tc>
              </a:tr>
            </a:tbl>
          </a:graphicData>
        </a:graphic>
      </p:graphicFrame>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WELCOME</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Your teaching team</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Kick-off</a:t>
            </a:r>
            <a:endParaRPr lang="en-US" sz="850" dirty="0"/>
          </a:p>
        </p:txBody>
      </p:sp>
      <p:pic>
        <p:nvPicPr>
          <p:cNvPr id="5" name="Image 0" descr="C:\Users\danir\Desktop\COIL Ulysseus\site\img\team\daniel-ruiz-romera.jpg">    </p:cNvPr>
          <p:cNvPicPr>
            <a:picLocks noChangeAspect="1"/>
          </p:cNvPicPr>
          <p:nvPr/>
        </p:nvPicPr>
        <p:blipFill>
          <a:blip r:embed="rId1"/>
          <a:srcRect l="0" r="0" t="0" b="0"/>
          <a:stretch/>
        </p:blipFill>
        <p:spPr>
          <a:xfrm>
            <a:off x="571500" y="1234440"/>
            <a:ext cx="1143000" cy="1143000"/>
          </a:xfrm>
          <a:prstGeom prst="ellipse">
            <a:avLst/>
          </a:prstGeom>
        </p:spPr>
      </p:pic>
      <p:sp>
        <p:nvSpPr>
          <p:cNvPr id="6" name="Text 3"/>
          <p:cNvSpPr/>
          <p:nvPr/>
        </p:nvSpPr>
        <p:spPr>
          <a:xfrm>
            <a:off x="457200" y="2468880"/>
            <a:ext cx="1371600" cy="457200"/>
          </a:xfrm>
          <a:prstGeom prst="rect">
            <a:avLst/>
          </a:prstGeom>
          <a:noFill/>
          <a:ln/>
        </p:spPr>
        <p:txBody>
          <a:bodyPr wrap="square" lIns="0" tIns="0" rIns="0" bIns="0" rtlCol="0" anchor="t"/>
          <a:lstStyle/>
          <a:p>
            <a:pPr algn="ctr" indent="0" marL="0">
              <a:buNone/>
            </a:pPr>
            <a:r>
              <a:rPr lang="en-US" sz="1250" b="1" dirty="0">
                <a:solidFill>
                  <a:srgbClr val="312A63"/>
                </a:solidFill>
                <a:latin typeface="Calibri" pitchFamily="34" charset="0"/>
                <a:ea typeface="Calibri" pitchFamily="34" charset="-122"/>
                <a:cs typeface="Calibri" pitchFamily="34" charset="-120"/>
              </a:rPr>
              <a:t>Daniel Ruiz Romera</a:t>
            </a:r>
            <a:endParaRPr lang="en-US" sz="1250" dirty="0"/>
          </a:p>
        </p:txBody>
      </p:sp>
      <p:sp>
        <p:nvSpPr>
          <p:cNvPr id="7" name="Text 4"/>
          <p:cNvSpPr/>
          <p:nvPr/>
        </p:nvSpPr>
        <p:spPr>
          <a:xfrm>
            <a:off x="457200" y="2926080"/>
            <a:ext cx="1371600" cy="411480"/>
          </a:xfrm>
          <a:prstGeom prst="rect">
            <a:avLst/>
          </a:prstGeom>
          <a:noFill/>
          <a:ln/>
        </p:spPr>
        <p:txBody>
          <a:bodyPr wrap="square" lIns="0" tIns="0" rIns="0" bIns="0" rtlCol="0" anchor="t"/>
          <a:lstStyle/>
          <a:p>
            <a:pPr algn="ctr" indent="0" marL="0">
              <a:buNone/>
            </a:pPr>
            <a:r>
              <a:rPr lang="en-US" sz="1050" dirty="0">
                <a:solidFill>
                  <a:srgbClr val="E55A5A"/>
                </a:solidFill>
                <a:latin typeface="Calibri" pitchFamily="34" charset="0"/>
                <a:ea typeface="Calibri" pitchFamily="34" charset="-122"/>
                <a:cs typeface="Calibri" pitchFamily="34" charset="-120"/>
              </a:rPr>
              <a:t>University of Seville</a:t>
            </a:r>
            <a:endParaRPr lang="en-US" sz="1050" dirty="0"/>
          </a:p>
        </p:txBody>
      </p:sp>
      <p:sp>
        <p:nvSpPr>
          <p:cNvPr id="8" name="Text 5"/>
          <p:cNvSpPr/>
          <p:nvPr/>
        </p:nvSpPr>
        <p:spPr>
          <a:xfrm>
            <a:off x="457200" y="3337560"/>
            <a:ext cx="1371600" cy="274320"/>
          </a:xfrm>
          <a:prstGeom prst="rect">
            <a:avLst/>
          </a:prstGeom>
          <a:noFill/>
          <a:ln/>
        </p:spPr>
        <p:txBody>
          <a:bodyPr wrap="square" lIns="0" tIns="0" rIns="0" bIns="0" rtlCol="0" anchor="ctr"/>
          <a:lstStyle/>
          <a:p>
            <a:pPr algn="ctr" indent="0" marL="0">
              <a:buNone/>
            </a:pPr>
            <a:r>
              <a:rPr lang="en-US" sz="950" dirty="0">
                <a:solidFill>
                  <a:srgbClr val="6B6880"/>
                </a:solidFill>
                <a:latin typeface="Calibri" pitchFamily="34" charset="0"/>
                <a:ea typeface="Calibri" pitchFamily="34" charset="-122"/>
                <a:cs typeface="Calibri" pitchFamily="34" charset="-120"/>
              </a:rPr>
              <a:t>druiz8@us.es</a:t>
            </a:r>
            <a:endParaRPr lang="en-US" sz="950" dirty="0"/>
          </a:p>
        </p:txBody>
      </p:sp>
      <p:pic>
        <p:nvPicPr>
          <p:cNvPr id="9" name="Image 1" descr="C:\Users\danir\Desktop\COIL Ulysseus\site\img\team\alena-mojsejova.jpg">    </p:cNvPr>
          <p:cNvPicPr>
            <a:picLocks noChangeAspect="1"/>
          </p:cNvPicPr>
          <p:nvPr/>
        </p:nvPicPr>
        <p:blipFill>
          <a:blip r:embed="rId2"/>
          <a:srcRect l="0" r="0" t="0" b="0"/>
          <a:stretch/>
        </p:blipFill>
        <p:spPr>
          <a:xfrm>
            <a:off x="1943100" y="1234440"/>
            <a:ext cx="1143000" cy="1143000"/>
          </a:xfrm>
          <a:prstGeom prst="ellipse">
            <a:avLst/>
          </a:prstGeom>
        </p:spPr>
      </p:pic>
      <p:sp>
        <p:nvSpPr>
          <p:cNvPr id="10" name="Text 6"/>
          <p:cNvSpPr/>
          <p:nvPr/>
        </p:nvSpPr>
        <p:spPr>
          <a:xfrm>
            <a:off x="1828800" y="2468880"/>
            <a:ext cx="1371600" cy="457200"/>
          </a:xfrm>
          <a:prstGeom prst="rect">
            <a:avLst/>
          </a:prstGeom>
          <a:noFill/>
          <a:ln/>
        </p:spPr>
        <p:txBody>
          <a:bodyPr wrap="square" lIns="0" tIns="0" rIns="0" bIns="0" rtlCol="0" anchor="t"/>
          <a:lstStyle/>
          <a:p>
            <a:pPr algn="ctr" indent="0" marL="0">
              <a:buNone/>
            </a:pPr>
            <a:r>
              <a:rPr lang="en-US" sz="1250" b="1" dirty="0">
                <a:solidFill>
                  <a:srgbClr val="312A63"/>
                </a:solidFill>
                <a:latin typeface="Calibri" pitchFamily="34" charset="0"/>
                <a:ea typeface="Calibri" pitchFamily="34" charset="-122"/>
                <a:cs typeface="Calibri" pitchFamily="34" charset="-120"/>
              </a:rPr>
              <a:t>Alena Mojsejová</a:t>
            </a:r>
            <a:endParaRPr lang="en-US" sz="1250" dirty="0"/>
          </a:p>
        </p:txBody>
      </p:sp>
      <p:sp>
        <p:nvSpPr>
          <p:cNvPr id="11" name="Text 7"/>
          <p:cNvSpPr/>
          <p:nvPr/>
        </p:nvSpPr>
        <p:spPr>
          <a:xfrm>
            <a:off x="1828800" y="2926080"/>
            <a:ext cx="1371600" cy="411480"/>
          </a:xfrm>
          <a:prstGeom prst="rect">
            <a:avLst/>
          </a:prstGeom>
          <a:noFill/>
          <a:ln/>
        </p:spPr>
        <p:txBody>
          <a:bodyPr wrap="square" lIns="0" tIns="0" rIns="0" bIns="0" rtlCol="0" anchor="t"/>
          <a:lstStyle/>
          <a:p>
            <a:pPr algn="ctr" indent="0" marL="0">
              <a:buNone/>
            </a:pPr>
            <a:r>
              <a:rPr lang="en-US" sz="1050" dirty="0">
                <a:solidFill>
                  <a:srgbClr val="E55A5A"/>
                </a:solidFill>
                <a:latin typeface="Calibri" pitchFamily="34" charset="0"/>
                <a:ea typeface="Calibri" pitchFamily="34" charset="-122"/>
                <a:cs typeface="Calibri" pitchFamily="34" charset="-120"/>
              </a:rPr>
              <a:t>Technical University of Košice</a:t>
            </a:r>
            <a:endParaRPr lang="en-US" sz="1050" dirty="0"/>
          </a:p>
        </p:txBody>
      </p:sp>
      <p:sp>
        <p:nvSpPr>
          <p:cNvPr id="12" name="Text 8"/>
          <p:cNvSpPr/>
          <p:nvPr/>
        </p:nvSpPr>
        <p:spPr>
          <a:xfrm>
            <a:off x="1828800" y="3337560"/>
            <a:ext cx="1371600" cy="274320"/>
          </a:xfrm>
          <a:prstGeom prst="rect">
            <a:avLst/>
          </a:prstGeom>
          <a:noFill/>
          <a:ln/>
        </p:spPr>
        <p:txBody>
          <a:bodyPr wrap="square" lIns="0" tIns="0" rIns="0" bIns="0" rtlCol="0" anchor="ctr"/>
          <a:lstStyle/>
          <a:p>
            <a:pPr algn="ctr" indent="0" marL="0">
              <a:buNone/>
            </a:pPr>
            <a:r>
              <a:rPr lang="en-US" sz="950" dirty="0">
                <a:solidFill>
                  <a:srgbClr val="6B6880"/>
                </a:solidFill>
                <a:latin typeface="Calibri" pitchFamily="34" charset="0"/>
                <a:ea typeface="Calibri" pitchFamily="34" charset="-122"/>
                <a:cs typeface="Calibri" pitchFamily="34" charset="-120"/>
              </a:rPr>
              <a:t>alena.mojsejova@tuke.sk</a:t>
            </a:r>
            <a:endParaRPr lang="en-US" sz="950" dirty="0"/>
          </a:p>
        </p:txBody>
      </p:sp>
      <p:pic>
        <p:nvPicPr>
          <p:cNvPr id="13" name="Image 2" descr="C:\Users\danir\Desktop\COIL Ulysseus\site\img\team\bojan-pejovic.jpg">    </p:cNvPr>
          <p:cNvPicPr>
            <a:picLocks noChangeAspect="1"/>
          </p:cNvPicPr>
          <p:nvPr/>
        </p:nvPicPr>
        <p:blipFill>
          <a:blip r:embed="rId3"/>
          <a:srcRect l="0" r="0" t="0" b="0"/>
          <a:stretch/>
        </p:blipFill>
        <p:spPr>
          <a:xfrm>
            <a:off x="3314700" y="1234440"/>
            <a:ext cx="1143000" cy="1143000"/>
          </a:xfrm>
          <a:prstGeom prst="ellipse">
            <a:avLst/>
          </a:prstGeom>
        </p:spPr>
      </p:pic>
      <p:sp>
        <p:nvSpPr>
          <p:cNvPr id="14" name="Text 9"/>
          <p:cNvSpPr/>
          <p:nvPr/>
        </p:nvSpPr>
        <p:spPr>
          <a:xfrm>
            <a:off x="3200400" y="2468880"/>
            <a:ext cx="1371600" cy="457200"/>
          </a:xfrm>
          <a:prstGeom prst="rect">
            <a:avLst/>
          </a:prstGeom>
          <a:noFill/>
          <a:ln/>
        </p:spPr>
        <p:txBody>
          <a:bodyPr wrap="square" lIns="0" tIns="0" rIns="0" bIns="0" rtlCol="0" anchor="t"/>
          <a:lstStyle/>
          <a:p>
            <a:pPr algn="ctr" indent="0" marL="0">
              <a:buNone/>
            </a:pPr>
            <a:r>
              <a:rPr lang="en-US" sz="1250" b="1" dirty="0">
                <a:solidFill>
                  <a:srgbClr val="312A63"/>
                </a:solidFill>
                <a:latin typeface="Calibri" pitchFamily="34" charset="0"/>
                <a:ea typeface="Calibri" pitchFamily="34" charset="-122"/>
                <a:cs typeface="Calibri" pitchFamily="34" charset="-120"/>
              </a:rPr>
              <a:t>Bojan Pejović</a:t>
            </a:r>
            <a:endParaRPr lang="en-US" sz="1250" dirty="0"/>
          </a:p>
        </p:txBody>
      </p:sp>
      <p:sp>
        <p:nvSpPr>
          <p:cNvPr id="15" name="Text 10"/>
          <p:cNvSpPr/>
          <p:nvPr/>
        </p:nvSpPr>
        <p:spPr>
          <a:xfrm>
            <a:off x="3200400" y="2926080"/>
            <a:ext cx="1371600" cy="411480"/>
          </a:xfrm>
          <a:prstGeom prst="rect">
            <a:avLst/>
          </a:prstGeom>
          <a:noFill/>
          <a:ln/>
        </p:spPr>
        <p:txBody>
          <a:bodyPr wrap="square" lIns="0" tIns="0" rIns="0" bIns="0" rtlCol="0" anchor="t"/>
          <a:lstStyle/>
          <a:p>
            <a:pPr algn="ctr" indent="0" marL="0">
              <a:buNone/>
            </a:pPr>
            <a:r>
              <a:rPr lang="en-US" sz="1050" dirty="0">
                <a:solidFill>
                  <a:srgbClr val="E55A5A"/>
                </a:solidFill>
                <a:latin typeface="Calibri" pitchFamily="34" charset="0"/>
                <a:ea typeface="Calibri" pitchFamily="34" charset="-122"/>
                <a:cs typeface="Calibri" pitchFamily="34" charset="-120"/>
              </a:rPr>
              <a:t>University of Montenegro</a:t>
            </a:r>
            <a:endParaRPr lang="en-US" sz="1050" dirty="0"/>
          </a:p>
        </p:txBody>
      </p:sp>
      <p:sp>
        <p:nvSpPr>
          <p:cNvPr id="16" name="Text 11"/>
          <p:cNvSpPr/>
          <p:nvPr/>
        </p:nvSpPr>
        <p:spPr>
          <a:xfrm>
            <a:off x="3200400" y="3337560"/>
            <a:ext cx="1371600" cy="274320"/>
          </a:xfrm>
          <a:prstGeom prst="rect">
            <a:avLst/>
          </a:prstGeom>
          <a:noFill/>
          <a:ln/>
        </p:spPr>
        <p:txBody>
          <a:bodyPr wrap="square" lIns="0" tIns="0" rIns="0" bIns="0" rtlCol="0" anchor="ctr"/>
          <a:lstStyle/>
          <a:p>
            <a:pPr algn="ctr" indent="0" marL="0">
              <a:buNone/>
            </a:pPr>
            <a:r>
              <a:rPr lang="en-US" sz="950" dirty="0">
                <a:solidFill>
                  <a:srgbClr val="6B6880"/>
                </a:solidFill>
                <a:latin typeface="Calibri" pitchFamily="34" charset="0"/>
                <a:ea typeface="Calibri" pitchFamily="34" charset="-122"/>
                <a:cs typeface="Calibri" pitchFamily="34" charset="-120"/>
              </a:rPr>
              <a:t>bojan.p@ucg.ac.me</a:t>
            </a:r>
            <a:endParaRPr lang="en-US" sz="950" dirty="0"/>
          </a:p>
        </p:txBody>
      </p:sp>
      <p:pic>
        <p:nvPicPr>
          <p:cNvPr id="17" name="Image 3" descr="C:\Users\danir\Desktop\COIL Ulysseus\site\img\team\victor-perez-leon.jpg">    </p:cNvPr>
          <p:cNvPicPr>
            <a:picLocks noChangeAspect="1"/>
          </p:cNvPicPr>
          <p:nvPr/>
        </p:nvPicPr>
        <p:blipFill>
          <a:blip r:embed="rId4"/>
          <a:srcRect l="0" r="0" t="0" b="0"/>
          <a:stretch/>
        </p:blipFill>
        <p:spPr>
          <a:xfrm>
            <a:off x="4686300" y="1234440"/>
            <a:ext cx="1143000" cy="1143000"/>
          </a:xfrm>
          <a:prstGeom prst="ellipse">
            <a:avLst/>
          </a:prstGeom>
        </p:spPr>
      </p:pic>
      <p:sp>
        <p:nvSpPr>
          <p:cNvPr id="18" name="Text 12"/>
          <p:cNvSpPr/>
          <p:nvPr/>
        </p:nvSpPr>
        <p:spPr>
          <a:xfrm>
            <a:off x="4572000" y="2468880"/>
            <a:ext cx="1371600" cy="457200"/>
          </a:xfrm>
          <a:prstGeom prst="rect">
            <a:avLst/>
          </a:prstGeom>
          <a:noFill/>
          <a:ln/>
        </p:spPr>
        <p:txBody>
          <a:bodyPr wrap="square" lIns="0" tIns="0" rIns="0" bIns="0" rtlCol="0" anchor="t"/>
          <a:lstStyle/>
          <a:p>
            <a:pPr algn="ctr" indent="0" marL="0">
              <a:buNone/>
            </a:pPr>
            <a:r>
              <a:rPr lang="en-US" sz="1250" b="1" dirty="0">
                <a:solidFill>
                  <a:srgbClr val="312A63"/>
                </a:solidFill>
                <a:latin typeface="Calibri" pitchFamily="34" charset="0"/>
                <a:ea typeface="Calibri" pitchFamily="34" charset="-122"/>
                <a:cs typeface="Calibri" pitchFamily="34" charset="-120"/>
              </a:rPr>
              <a:t>Víctor Ernesto Pérez León</a:t>
            </a:r>
            <a:endParaRPr lang="en-US" sz="1250" dirty="0"/>
          </a:p>
        </p:txBody>
      </p:sp>
      <p:sp>
        <p:nvSpPr>
          <p:cNvPr id="19" name="Text 13"/>
          <p:cNvSpPr/>
          <p:nvPr/>
        </p:nvSpPr>
        <p:spPr>
          <a:xfrm>
            <a:off x="4572000" y="2926080"/>
            <a:ext cx="1371600" cy="411480"/>
          </a:xfrm>
          <a:prstGeom prst="rect">
            <a:avLst/>
          </a:prstGeom>
          <a:noFill/>
          <a:ln/>
        </p:spPr>
        <p:txBody>
          <a:bodyPr wrap="square" lIns="0" tIns="0" rIns="0" bIns="0" rtlCol="0" anchor="t"/>
          <a:lstStyle/>
          <a:p>
            <a:pPr algn="ctr" indent="0" marL="0">
              <a:buNone/>
            </a:pPr>
            <a:r>
              <a:rPr lang="en-US" sz="1050" dirty="0">
                <a:solidFill>
                  <a:srgbClr val="E55A5A"/>
                </a:solidFill>
                <a:latin typeface="Calibri" pitchFamily="34" charset="0"/>
                <a:ea typeface="Calibri" pitchFamily="34" charset="-122"/>
                <a:cs typeface="Calibri" pitchFamily="34" charset="-120"/>
              </a:rPr>
              <a:t>University of Seville</a:t>
            </a:r>
            <a:endParaRPr lang="en-US" sz="1050" dirty="0"/>
          </a:p>
        </p:txBody>
      </p:sp>
      <p:sp>
        <p:nvSpPr>
          <p:cNvPr id="20" name="Text 14"/>
          <p:cNvSpPr/>
          <p:nvPr/>
        </p:nvSpPr>
        <p:spPr>
          <a:xfrm>
            <a:off x="4572000" y="3337560"/>
            <a:ext cx="1371600" cy="274320"/>
          </a:xfrm>
          <a:prstGeom prst="rect">
            <a:avLst/>
          </a:prstGeom>
          <a:noFill/>
          <a:ln/>
        </p:spPr>
        <p:txBody>
          <a:bodyPr wrap="square" lIns="0" tIns="0" rIns="0" bIns="0" rtlCol="0" anchor="ctr"/>
          <a:lstStyle/>
          <a:p>
            <a:pPr algn="ctr" indent="0" marL="0">
              <a:buNone/>
            </a:pPr>
            <a:r>
              <a:rPr lang="en-US" sz="950" dirty="0">
                <a:solidFill>
                  <a:srgbClr val="6B6880"/>
                </a:solidFill>
                <a:latin typeface="Calibri" pitchFamily="34" charset="0"/>
                <a:ea typeface="Calibri" pitchFamily="34" charset="-122"/>
                <a:cs typeface="Calibri" pitchFamily="34" charset="-120"/>
              </a:rPr>
              <a:t>vpleon@us.es</a:t>
            </a:r>
            <a:endParaRPr lang="en-US" sz="950" dirty="0"/>
          </a:p>
        </p:txBody>
      </p:sp>
      <p:pic>
        <p:nvPicPr>
          <p:cNvPr id="21" name="Image 4" descr="C:\Users\danir\Desktop\COIL Ulysseus\site\img\team\dana-palova.jpg">    </p:cNvPr>
          <p:cNvPicPr>
            <a:picLocks noChangeAspect="1"/>
          </p:cNvPicPr>
          <p:nvPr/>
        </p:nvPicPr>
        <p:blipFill>
          <a:blip r:embed="rId5"/>
          <a:srcRect l="0" r="0" t="0" b="0"/>
          <a:stretch/>
        </p:blipFill>
        <p:spPr>
          <a:xfrm>
            <a:off x="6057900" y="1234440"/>
            <a:ext cx="1143000" cy="1143000"/>
          </a:xfrm>
          <a:prstGeom prst="ellipse">
            <a:avLst/>
          </a:prstGeom>
        </p:spPr>
      </p:pic>
      <p:sp>
        <p:nvSpPr>
          <p:cNvPr id="22" name="Text 15"/>
          <p:cNvSpPr/>
          <p:nvPr/>
        </p:nvSpPr>
        <p:spPr>
          <a:xfrm>
            <a:off x="5943600" y="2468880"/>
            <a:ext cx="1371600" cy="457200"/>
          </a:xfrm>
          <a:prstGeom prst="rect">
            <a:avLst/>
          </a:prstGeom>
          <a:noFill/>
          <a:ln/>
        </p:spPr>
        <p:txBody>
          <a:bodyPr wrap="square" lIns="0" tIns="0" rIns="0" bIns="0" rtlCol="0" anchor="t"/>
          <a:lstStyle/>
          <a:p>
            <a:pPr algn="ctr" indent="0" marL="0">
              <a:buNone/>
            </a:pPr>
            <a:r>
              <a:rPr lang="en-US" sz="1250" b="1" dirty="0">
                <a:solidFill>
                  <a:srgbClr val="312A63"/>
                </a:solidFill>
                <a:latin typeface="Calibri" pitchFamily="34" charset="0"/>
                <a:ea typeface="Calibri" pitchFamily="34" charset="-122"/>
                <a:cs typeface="Calibri" pitchFamily="34" charset="-120"/>
              </a:rPr>
              <a:t>Dana Paľová</a:t>
            </a:r>
            <a:endParaRPr lang="en-US" sz="1250" dirty="0"/>
          </a:p>
        </p:txBody>
      </p:sp>
      <p:sp>
        <p:nvSpPr>
          <p:cNvPr id="23" name="Text 16"/>
          <p:cNvSpPr/>
          <p:nvPr/>
        </p:nvSpPr>
        <p:spPr>
          <a:xfrm>
            <a:off x="5943600" y="2926080"/>
            <a:ext cx="1371600" cy="411480"/>
          </a:xfrm>
          <a:prstGeom prst="rect">
            <a:avLst/>
          </a:prstGeom>
          <a:noFill/>
          <a:ln/>
        </p:spPr>
        <p:txBody>
          <a:bodyPr wrap="square" lIns="0" tIns="0" rIns="0" bIns="0" rtlCol="0" anchor="t"/>
          <a:lstStyle/>
          <a:p>
            <a:pPr algn="ctr" indent="0" marL="0">
              <a:buNone/>
            </a:pPr>
            <a:r>
              <a:rPr lang="en-US" sz="1050" dirty="0">
                <a:solidFill>
                  <a:srgbClr val="E55A5A"/>
                </a:solidFill>
                <a:latin typeface="Calibri" pitchFamily="34" charset="0"/>
                <a:ea typeface="Calibri" pitchFamily="34" charset="-122"/>
                <a:cs typeface="Calibri" pitchFamily="34" charset="-120"/>
              </a:rPr>
              <a:t>Technical University of Košice</a:t>
            </a:r>
            <a:endParaRPr lang="en-US" sz="1050" dirty="0"/>
          </a:p>
        </p:txBody>
      </p:sp>
      <p:sp>
        <p:nvSpPr>
          <p:cNvPr id="24" name="Text 17"/>
          <p:cNvSpPr/>
          <p:nvPr/>
        </p:nvSpPr>
        <p:spPr>
          <a:xfrm>
            <a:off x="5943600" y="3337560"/>
            <a:ext cx="1371600" cy="274320"/>
          </a:xfrm>
          <a:prstGeom prst="rect">
            <a:avLst/>
          </a:prstGeom>
          <a:noFill/>
          <a:ln/>
        </p:spPr>
        <p:txBody>
          <a:bodyPr wrap="square" lIns="0" tIns="0" rIns="0" bIns="0" rtlCol="0" anchor="ctr"/>
          <a:lstStyle/>
          <a:p>
            <a:pPr algn="ctr" indent="0" marL="0">
              <a:buNone/>
            </a:pPr>
            <a:r>
              <a:rPr lang="en-US" sz="950" dirty="0">
                <a:solidFill>
                  <a:srgbClr val="6B6880"/>
                </a:solidFill>
                <a:latin typeface="Calibri" pitchFamily="34" charset="0"/>
                <a:ea typeface="Calibri" pitchFamily="34" charset="-122"/>
                <a:cs typeface="Calibri" pitchFamily="34" charset="-120"/>
              </a:rPr>
              <a:t>dana.palova@tuke.sk</a:t>
            </a:r>
            <a:endParaRPr lang="en-US" sz="950" dirty="0"/>
          </a:p>
        </p:txBody>
      </p:sp>
      <p:pic>
        <p:nvPicPr>
          <p:cNvPr id="25" name="Image 5" descr="C:\Users\danir\Desktop\COIL Ulysseus\site\img\team\tamara-backovic-ucg.jpg">    </p:cNvPr>
          <p:cNvPicPr>
            <a:picLocks noChangeAspect="1"/>
          </p:cNvPicPr>
          <p:nvPr/>
        </p:nvPicPr>
        <p:blipFill>
          <a:blip r:embed="rId6"/>
          <a:srcRect l="0" r="0" t="0" b="0"/>
          <a:stretch/>
        </p:blipFill>
        <p:spPr>
          <a:xfrm>
            <a:off x="7429500" y="1234440"/>
            <a:ext cx="1143000" cy="1143000"/>
          </a:xfrm>
          <a:prstGeom prst="ellipse">
            <a:avLst/>
          </a:prstGeom>
        </p:spPr>
      </p:pic>
      <p:sp>
        <p:nvSpPr>
          <p:cNvPr id="26" name="Text 18"/>
          <p:cNvSpPr/>
          <p:nvPr/>
        </p:nvSpPr>
        <p:spPr>
          <a:xfrm>
            <a:off x="7315200" y="2468880"/>
            <a:ext cx="1371600" cy="457200"/>
          </a:xfrm>
          <a:prstGeom prst="rect">
            <a:avLst/>
          </a:prstGeom>
          <a:noFill/>
          <a:ln/>
        </p:spPr>
        <p:txBody>
          <a:bodyPr wrap="square" lIns="0" tIns="0" rIns="0" bIns="0" rtlCol="0" anchor="t"/>
          <a:lstStyle/>
          <a:p>
            <a:pPr algn="ctr" indent="0" marL="0">
              <a:buNone/>
            </a:pPr>
            <a:r>
              <a:rPr lang="en-US" sz="1250" b="1" dirty="0">
                <a:solidFill>
                  <a:srgbClr val="312A63"/>
                </a:solidFill>
                <a:latin typeface="Calibri" pitchFamily="34" charset="0"/>
                <a:ea typeface="Calibri" pitchFamily="34" charset="-122"/>
                <a:cs typeface="Calibri" pitchFamily="34" charset="-120"/>
              </a:rPr>
              <a:t>Tamara Backović</a:t>
            </a:r>
            <a:endParaRPr lang="en-US" sz="1250" dirty="0"/>
          </a:p>
        </p:txBody>
      </p:sp>
      <p:sp>
        <p:nvSpPr>
          <p:cNvPr id="27" name="Text 19"/>
          <p:cNvSpPr/>
          <p:nvPr/>
        </p:nvSpPr>
        <p:spPr>
          <a:xfrm>
            <a:off x="7315200" y="2926080"/>
            <a:ext cx="1371600" cy="411480"/>
          </a:xfrm>
          <a:prstGeom prst="rect">
            <a:avLst/>
          </a:prstGeom>
          <a:noFill/>
          <a:ln/>
        </p:spPr>
        <p:txBody>
          <a:bodyPr wrap="square" lIns="0" tIns="0" rIns="0" bIns="0" rtlCol="0" anchor="t"/>
          <a:lstStyle/>
          <a:p>
            <a:pPr algn="ctr" indent="0" marL="0">
              <a:buNone/>
            </a:pPr>
            <a:r>
              <a:rPr lang="en-US" sz="1050" dirty="0">
                <a:solidFill>
                  <a:srgbClr val="E55A5A"/>
                </a:solidFill>
                <a:latin typeface="Calibri" pitchFamily="34" charset="0"/>
                <a:ea typeface="Calibri" pitchFamily="34" charset="-122"/>
                <a:cs typeface="Calibri" pitchFamily="34" charset="-120"/>
              </a:rPr>
              <a:t>University of Montenegro</a:t>
            </a:r>
            <a:endParaRPr lang="en-US" sz="1050" dirty="0"/>
          </a:p>
        </p:txBody>
      </p:sp>
      <p:sp>
        <p:nvSpPr>
          <p:cNvPr id="28" name="Text 20"/>
          <p:cNvSpPr/>
          <p:nvPr/>
        </p:nvSpPr>
        <p:spPr>
          <a:xfrm>
            <a:off x="7315200" y="3337560"/>
            <a:ext cx="1371600" cy="274320"/>
          </a:xfrm>
          <a:prstGeom prst="rect">
            <a:avLst/>
          </a:prstGeom>
          <a:noFill/>
          <a:ln/>
        </p:spPr>
        <p:txBody>
          <a:bodyPr wrap="square" lIns="0" tIns="0" rIns="0" bIns="0" rtlCol="0" anchor="ctr"/>
          <a:lstStyle/>
          <a:p>
            <a:pPr algn="ctr" indent="0" marL="0">
              <a:buNone/>
            </a:pPr>
            <a:r>
              <a:rPr lang="en-US" sz="950" dirty="0">
                <a:solidFill>
                  <a:srgbClr val="6B6880"/>
                </a:solidFill>
                <a:latin typeface="Calibri" pitchFamily="34" charset="0"/>
                <a:ea typeface="Calibri" pitchFamily="34" charset="-122"/>
                <a:cs typeface="Calibri" pitchFamily="34" charset="-120"/>
              </a:rPr>
              <a:t>tassabacc@ucg.ac.me</a:t>
            </a:r>
            <a:endParaRPr lang="en-US" sz="950" dirty="0"/>
          </a:p>
        </p:txBody>
      </p:sp>
      <p:sp>
        <p:nvSpPr>
          <p:cNvPr id="29" name="Text 21"/>
          <p:cNvSpPr/>
          <p:nvPr/>
        </p:nvSpPr>
        <p:spPr>
          <a:xfrm>
            <a:off x="731520" y="3886200"/>
            <a:ext cx="7680960" cy="640080"/>
          </a:xfrm>
          <a:prstGeom prst="rect">
            <a:avLst/>
          </a:prstGeom>
          <a:noFill/>
          <a:ln/>
        </p:spPr>
        <p:txBody>
          <a:bodyPr wrap="square" lIns="0" tIns="0" rIns="0" bIns="0" rtlCol="0" anchor="ctr"/>
          <a:lstStyle/>
          <a:p>
            <a:pPr algn="ctr" indent="0" marL="0">
              <a:buNone/>
            </a:pPr>
            <a:r>
              <a:rPr lang="en-US" sz="1200" i="1" dirty="0">
                <a:solidFill>
                  <a:srgbClr val="2B2840"/>
                </a:solidFill>
                <a:latin typeface="Calibri" pitchFamily="34" charset="0"/>
                <a:ea typeface="Calibri" pitchFamily="34" charset="-122"/>
                <a:cs typeface="Calibri" pitchFamily="34" charset="-120"/>
              </a:rPr>
              <a:t>The COIL is designed and run jointly by teachers from the three universities. We share the schedule, the dataset and the final presentation, and each of us guides and grades the students of our own university.</a:t>
            </a:r>
            <a:endParaRPr lang="en-US" sz="120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WHAT IS THIS?</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A COIL, inside the Ulysseus alliance</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Kick-off</a:t>
            </a:r>
            <a:endParaRPr lang="en-US" sz="850" dirty="0"/>
          </a:p>
        </p:txBody>
      </p:sp>
      <p:sp>
        <p:nvSpPr>
          <p:cNvPr id="5" name="Shape 3"/>
          <p:cNvSpPr/>
          <p:nvPr/>
        </p:nvSpPr>
        <p:spPr>
          <a:xfrm>
            <a:off x="457200" y="1234440"/>
            <a:ext cx="2606040" cy="3017520"/>
          </a:xfrm>
          <a:prstGeom prst="rect">
            <a:avLst/>
          </a:prstGeom>
          <a:solidFill>
            <a:srgbClr val="F4F3F9"/>
          </a:solidFill>
          <a:ln w="12700">
            <a:solidFill>
              <a:srgbClr val="F4F3F9"/>
            </a:solidFill>
            <a:prstDash val="solid"/>
          </a:ln>
        </p:spPr>
      </p:sp>
      <p:sp>
        <p:nvSpPr>
          <p:cNvPr id="6" name="Shape 4"/>
          <p:cNvSpPr/>
          <p:nvPr/>
        </p:nvSpPr>
        <p:spPr>
          <a:xfrm>
            <a:off x="731520" y="1463040"/>
            <a:ext cx="685800" cy="685800"/>
          </a:xfrm>
          <a:prstGeom prst="ellipse">
            <a:avLst/>
          </a:prstGeom>
          <a:solidFill>
            <a:srgbClr val="312A63"/>
          </a:solidFill>
          <a:ln w="12700">
            <a:solidFill>
              <a:srgbClr val="312A63"/>
            </a:solidFill>
            <a:prstDash val="solid"/>
          </a:ln>
        </p:spPr>
      </p:sp>
      <p:pic>
        <p:nvPicPr>
          <p:cNvPr id="7" name="Image 0" descr="preencoded.png">    </p:cNvPr>
          <p:cNvPicPr>
            <a:picLocks noChangeAspect="1"/>
          </p:cNvPicPr>
          <p:nvPr/>
        </p:nvPicPr>
        <p:blipFill>
          <a:blip r:embed="rId1"/>
          <a:stretch>
            <a:fillRect/>
          </a:stretch>
        </p:blipFill>
        <p:spPr>
          <a:xfrm>
            <a:off x="896112" y="1627632"/>
            <a:ext cx="365760" cy="365760"/>
          </a:xfrm>
          <a:prstGeom prst="rect">
            <a:avLst/>
          </a:prstGeom>
        </p:spPr>
      </p:pic>
      <p:sp>
        <p:nvSpPr>
          <p:cNvPr id="8" name="Text 5"/>
          <p:cNvSpPr/>
          <p:nvPr/>
        </p:nvSpPr>
        <p:spPr>
          <a:xfrm>
            <a:off x="731520" y="2331720"/>
            <a:ext cx="2194560" cy="365760"/>
          </a:xfrm>
          <a:prstGeom prst="rect">
            <a:avLst/>
          </a:prstGeom>
          <a:noFill/>
          <a:ln/>
        </p:spPr>
        <p:txBody>
          <a:bodyPr wrap="square" lIns="0" tIns="0" rIns="0" bIns="0" rtlCol="0" anchor="ctr"/>
          <a:lstStyle/>
          <a:p>
            <a:pPr indent="0" marL="0">
              <a:buNone/>
            </a:pPr>
            <a:r>
              <a:rPr lang="en-US" sz="1800" b="1" dirty="0">
                <a:solidFill>
                  <a:srgbClr val="312A63"/>
                </a:solidFill>
                <a:latin typeface="Georgia" pitchFamily="34" charset="0"/>
                <a:ea typeface="Georgia" pitchFamily="34" charset="-122"/>
                <a:cs typeface="Georgia" pitchFamily="34" charset="-120"/>
              </a:rPr>
              <a:t>COIL</a:t>
            </a:r>
            <a:endParaRPr lang="en-US" sz="1800" dirty="0"/>
          </a:p>
        </p:txBody>
      </p:sp>
      <p:sp>
        <p:nvSpPr>
          <p:cNvPr id="9" name="Text 6"/>
          <p:cNvSpPr/>
          <p:nvPr/>
        </p:nvSpPr>
        <p:spPr>
          <a:xfrm>
            <a:off x="731520" y="2743200"/>
            <a:ext cx="2148840" cy="1371600"/>
          </a:xfrm>
          <a:prstGeom prst="rect">
            <a:avLst/>
          </a:prstGeom>
          <a:noFill/>
          <a:ln/>
        </p:spPr>
        <p:txBody>
          <a:bodyPr wrap="square" lIns="0" tIns="0" rIns="0" bIns="0" rtlCol="0" anchor="t"/>
          <a:lstStyle/>
          <a:p>
            <a:pPr indent="0" marL="0">
              <a:buNone/>
            </a:pPr>
            <a:r>
              <a:rPr lang="en-US" sz="1150" dirty="0">
                <a:solidFill>
                  <a:srgbClr val="2B2840"/>
                </a:solidFill>
                <a:latin typeface="Calibri" pitchFamily="34" charset="0"/>
                <a:ea typeface="Calibri" pitchFamily="34" charset="-122"/>
                <a:cs typeface="Calibri" pitchFamily="34" charset="-120"/>
              </a:rPr>
              <a:t>Collaborative Online International Learning: your course is connected with courses at partner universities, and you work online in international teams.</a:t>
            </a:r>
            <a:endParaRPr lang="en-US" sz="1150" dirty="0"/>
          </a:p>
        </p:txBody>
      </p:sp>
      <p:sp>
        <p:nvSpPr>
          <p:cNvPr id="10" name="Shape 7"/>
          <p:cNvSpPr/>
          <p:nvPr/>
        </p:nvSpPr>
        <p:spPr>
          <a:xfrm>
            <a:off x="3246120" y="1234440"/>
            <a:ext cx="2606040" cy="3017520"/>
          </a:xfrm>
          <a:prstGeom prst="rect">
            <a:avLst/>
          </a:prstGeom>
          <a:solidFill>
            <a:srgbClr val="F4F3F9"/>
          </a:solidFill>
          <a:ln w="12700">
            <a:solidFill>
              <a:srgbClr val="F4F3F9"/>
            </a:solidFill>
            <a:prstDash val="solid"/>
          </a:ln>
        </p:spPr>
      </p:sp>
      <p:sp>
        <p:nvSpPr>
          <p:cNvPr id="11" name="Shape 8"/>
          <p:cNvSpPr/>
          <p:nvPr/>
        </p:nvSpPr>
        <p:spPr>
          <a:xfrm>
            <a:off x="3520440" y="1463040"/>
            <a:ext cx="685800" cy="685800"/>
          </a:xfrm>
          <a:prstGeom prst="ellipse">
            <a:avLst/>
          </a:prstGeom>
          <a:solidFill>
            <a:srgbClr val="312A63"/>
          </a:solidFill>
          <a:ln w="12700">
            <a:solidFill>
              <a:srgbClr val="312A63"/>
            </a:solidFill>
            <a:prstDash val="solid"/>
          </a:ln>
        </p:spPr>
      </p:sp>
      <p:pic>
        <p:nvPicPr>
          <p:cNvPr id="12" name="Image 1" descr="preencoded.png">    </p:cNvPr>
          <p:cNvPicPr>
            <a:picLocks noChangeAspect="1"/>
          </p:cNvPicPr>
          <p:nvPr/>
        </p:nvPicPr>
        <p:blipFill>
          <a:blip r:embed="rId2"/>
          <a:stretch>
            <a:fillRect/>
          </a:stretch>
        </p:blipFill>
        <p:spPr>
          <a:xfrm>
            <a:off x="3685032" y="1627632"/>
            <a:ext cx="365760" cy="365760"/>
          </a:xfrm>
          <a:prstGeom prst="rect">
            <a:avLst/>
          </a:prstGeom>
        </p:spPr>
      </p:pic>
      <p:sp>
        <p:nvSpPr>
          <p:cNvPr id="13" name="Text 9"/>
          <p:cNvSpPr/>
          <p:nvPr/>
        </p:nvSpPr>
        <p:spPr>
          <a:xfrm>
            <a:off x="3520440" y="2331720"/>
            <a:ext cx="2194560" cy="365760"/>
          </a:xfrm>
          <a:prstGeom prst="rect">
            <a:avLst/>
          </a:prstGeom>
          <a:noFill/>
          <a:ln/>
        </p:spPr>
        <p:txBody>
          <a:bodyPr wrap="square" lIns="0" tIns="0" rIns="0" bIns="0" rtlCol="0" anchor="ctr"/>
          <a:lstStyle/>
          <a:p>
            <a:pPr indent="0" marL="0">
              <a:buNone/>
            </a:pPr>
            <a:r>
              <a:rPr lang="en-US" sz="1800" b="1" dirty="0">
                <a:solidFill>
                  <a:srgbClr val="312A63"/>
                </a:solidFill>
                <a:latin typeface="Georgia" pitchFamily="34" charset="0"/>
                <a:ea typeface="Georgia" pitchFamily="34" charset="-122"/>
                <a:cs typeface="Georgia" pitchFamily="34" charset="-120"/>
              </a:rPr>
              <a:t>Ulysseus</a:t>
            </a:r>
            <a:endParaRPr lang="en-US" sz="1800" dirty="0"/>
          </a:p>
        </p:txBody>
      </p:sp>
      <p:sp>
        <p:nvSpPr>
          <p:cNvPr id="14" name="Text 10"/>
          <p:cNvSpPr/>
          <p:nvPr/>
        </p:nvSpPr>
        <p:spPr>
          <a:xfrm>
            <a:off x="3520440" y="2743200"/>
            <a:ext cx="2148840" cy="1371600"/>
          </a:xfrm>
          <a:prstGeom prst="rect">
            <a:avLst/>
          </a:prstGeom>
          <a:noFill/>
          <a:ln/>
        </p:spPr>
        <p:txBody>
          <a:bodyPr wrap="square" lIns="0" tIns="0" rIns="0" bIns="0" rtlCol="0" anchor="t"/>
          <a:lstStyle/>
          <a:p>
            <a:pPr indent="0" marL="0">
              <a:buNone/>
            </a:pPr>
            <a:r>
              <a:rPr lang="en-US" sz="1150" dirty="0">
                <a:solidFill>
                  <a:srgbClr val="2B2840"/>
                </a:solidFill>
                <a:latin typeface="Calibri" pitchFamily="34" charset="0"/>
                <a:ea typeface="Calibri" pitchFamily="34" charset="-122"/>
                <a:cs typeface="Calibri" pitchFamily="34" charset="-120"/>
              </a:rPr>
              <a:t>A European University alliance. The University of Seville, the Technical University of Košice and the University of Montenegro are members.</a:t>
            </a:r>
            <a:endParaRPr lang="en-US" sz="1150" dirty="0"/>
          </a:p>
        </p:txBody>
      </p:sp>
      <p:sp>
        <p:nvSpPr>
          <p:cNvPr id="15" name="Shape 11"/>
          <p:cNvSpPr/>
          <p:nvPr/>
        </p:nvSpPr>
        <p:spPr>
          <a:xfrm>
            <a:off x="6035040" y="1234440"/>
            <a:ext cx="2606040" cy="3017520"/>
          </a:xfrm>
          <a:prstGeom prst="rect">
            <a:avLst/>
          </a:prstGeom>
          <a:solidFill>
            <a:srgbClr val="F4F3F9"/>
          </a:solidFill>
          <a:ln w="12700">
            <a:solidFill>
              <a:srgbClr val="F4F3F9"/>
            </a:solidFill>
            <a:prstDash val="solid"/>
          </a:ln>
        </p:spPr>
      </p:sp>
      <p:sp>
        <p:nvSpPr>
          <p:cNvPr id="16" name="Shape 12"/>
          <p:cNvSpPr/>
          <p:nvPr/>
        </p:nvSpPr>
        <p:spPr>
          <a:xfrm>
            <a:off x="6309360" y="1463040"/>
            <a:ext cx="685800" cy="685800"/>
          </a:xfrm>
          <a:prstGeom prst="ellipse">
            <a:avLst/>
          </a:prstGeom>
          <a:solidFill>
            <a:srgbClr val="312A63"/>
          </a:solidFill>
          <a:ln w="12700">
            <a:solidFill>
              <a:srgbClr val="312A63"/>
            </a:solidFill>
            <a:prstDash val="solid"/>
          </a:ln>
        </p:spPr>
      </p:sp>
      <p:pic>
        <p:nvPicPr>
          <p:cNvPr id="17" name="Image 2" descr="preencoded.png">    </p:cNvPr>
          <p:cNvPicPr>
            <a:picLocks noChangeAspect="1"/>
          </p:cNvPicPr>
          <p:nvPr/>
        </p:nvPicPr>
        <p:blipFill>
          <a:blip r:embed="rId3"/>
          <a:stretch>
            <a:fillRect/>
          </a:stretch>
        </p:blipFill>
        <p:spPr>
          <a:xfrm>
            <a:off x="6473952" y="1627632"/>
            <a:ext cx="365760" cy="365760"/>
          </a:xfrm>
          <a:prstGeom prst="rect">
            <a:avLst/>
          </a:prstGeom>
        </p:spPr>
      </p:pic>
      <p:sp>
        <p:nvSpPr>
          <p:cNvPr id="18" name="Text 13"/>
          <p:cNvSpPr/>
          <p:nvPr/>
        </p:nvSpPr>
        <p:spPr>
          <a:xfrm>
            <a:off x="6309360" y="2331720"/>
            <a:ext cx="2194560" cy="365760"/>
          </a:xfrm>
          <a:prstGeom prst="rect">
            <a:avLst/>
          </a:prstGeom>
          <a:noFill/>
          <a:ln/>
        </p:spPr>
        <p:txBody>
          <a:bodyPr wrap="square" lIns="0" tIns="0" rIns="0" bIns="0" rtlCol="0" anchor="ctr"/>
          <a:lstStyle/>
          <a:p>
            <a:pPr indent="0" marL="0">
              <a:buNone/>
            </a:pPr>
            <a:r>
              <a:rPr lang="en-US" sz="1800" b="1" dirty="0">
                <a:solidFill>
                  <a:srgbClr val="312A63"/>
                </a:solidFill>
                <a:latin typeface="Georgia" pitchFamily="34" charset="0"/>
                <a:ea typeface="Georgia" pitchFamily="34" charset="-122"/>
                <a:cs typeface="Georgia" pitchFamily="34" charset="-120"/>
              </a:rPr>
              <a:t>This COIL</a:t>
            </a:r>
            <a:endParaRPr lang="en-US" sz="1800" dirty="0"/>
          </a:p>
        </p:txBody>
      </p:sp>
      <p:sp>
        <p:nvSpPr>
          <p:cNvPr id="19" name="Text 14"/>
          <p:cNvSpPr/>
          <p:nvPr/>
        </p:nvSpPr>
        <p:spPr>
          <a:xfrm>
            <a:off x="6309360" y="2743200"/>
            <a:ext cx="2148840" cy="1371600"/>
          </a:xfrm>
          <a:prstGeom prst="rect">
            <a:avLst/>
          </a:prstGeom>
          <a:noFill/>
          <a:ln/>
        </p:spPr>
        <p:txBody>
          <a:bodyPr wrap="square" lIns="0" tIns="0" rIns="0" bIns="0" rtlCol="0" anchor="t"/>
          <a:lstStyle/>
          <a:p>
            <a:pPr indent="0" marL="0">
              <a:buNone/>
            </a:pPr>
            <a:r>
              <a:rPr lang="en-US" sz="1150" dirty="0">
                <a:solidFill>
                  <a:srgbClr val="2B2840"/>
                </a:solidFill>
                <a:latin typeface="Calibri" pitchFamily="34" charset="0"/>
                <a:ea typeface="Calibri" pitchFamily="34" charset="-122"/>
                <a:cs typeface="Calibri" pitchFamily="34" charset="-120"/>
              </a:rPr>
              <a:t>Eight weeks, three countries, one data project: compare Spain, Slovakia and Montenegro with the rest of Europe using real data.</a:t>
            </a:r>
            <a:endParaRPr lang="en-US" sz="115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YOUR PROJECT</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One question, real data, three countries</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Kick-off</a:t>
            </a:r>
            <a:endParaRPr lang="en-US" sz="850" dirty="0"/>
          </a:p>
        </p:txBody>
      </p:sp>
      <p:sp>
        <p:nvSpPr>
          <p:cNvPr id="5" name="Shape 3"/>
          <p:cNvSpPr/>
          <p:nvPr/>
        </p:nvSpPr>
        <p:spPr>
          <a:xfrm>
            <a:off x="457200" y="1463040"/>
            <a:ext cx="1517904" cy="1737360"/>
          </a:xfrm>
          <a:prstGeom prst="rect">
            <a:avLst/>
          </a:prstGeom>
          <a:solidFill>
            <a:srgbClr val="312A63"/>
          </a:solidFill>
          <a:ln w="12700">
            <a:solidFill>
              <a:srgbClr val="312A63"/>
            </a:solidFill>
            <a:prstDash val="solid"/>
          </a:ln>
        </p:spPr>
      </p:sp>
      <p:sp>
        <p:nvSpPr>
          <p:cNvPr id="6" name="Text 4"/>
          <p:cNvSpPr/>
          <p:nvPr/>
        </p:nvSpPr>
        <p:spPr>
          <a:xfrm>
            <a:off x="594360" y="1554480"/>
            <a:ext cx="548640" cy="457200"/>
          </a:xfrm>
          <a:prstGeom prst="rect">
            <a:avLst/>
          </a:prstGeom>
          <a:noFill/>
          <a:ln/>
        </p:spPr>
        <p:txBody>
          <a:bodyPr wrap="square" lIns="0" tIns="0" rIns="0" bIns="0" rtlCol="0" anchor="ctr"/>
          <a:lstStyle/>
          <a:p>
            <a:pPr indent="0" marL="0">
              <a:buNone/>
            </a:pPr>
            <a:r>
              <a:rPr lang="en-US" sz="2400" b="1" dirty="0">
                <a:solidFill>
                  <a:srgbClr val="F5A3A3"/>
                </a:solidFill>
                <a:latin typeface="Georgia" pitchFamily="34" charset="0"/>
                <a:ea typeface="Georgia" pitchFamily="34" charset="-122"/>
                <a:cs typeface="Georgia" pitchFamily="34" charset="-120"/>
              </a:rPr>
              <a:t>1</a:t>
            </a:r>
            <a:endParaRPr lang="en-US" sz="2400" dirty="0"/>
          </a:p>
        </p:txBody>
      </p:sp>
      <p:sp>
        <p:nvSpPr>
          <p:cNvPr id="7" name="Text 5"/>
          <p:cNvSpPr/>
          <p:nvPr/>
        </p:nvSpPr>
        <p:spPr>
          <a:xfrm>
            <a:off x="594360" y="2057400"/>
            <a:ext cx="12801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Question</a:t>
            </a:r>
            <a:endParaRPr lang="en-US" sz="1500" dirty="0"/>
          </a:p>
        </p:txBody>
      </p:sp>
      <p:sp>
        <p:nvSpPr>
          <p:cNvPr id="8" name="Text 6"/>
          <p:cNvSpPr/>
          <p:nvPr/>
        </p:nvSpPr>
        <p:spPr>
          <a:xfrm>
            <a:off x="594360" y="2423160"/>
            <a:ext cx="1280160" cy="731520"/>
          </a:xfrm>
          <a:prstGeom prst="rect">
            <a:avLst/>
          </a:prstGeom>
          <a:noFill/>
          <a:ln/>
        </p:spPr>
        <p:txBody>
          <a:bodyPr wrap="square" lIns="0" tIns="0" rIns="0" bIns="0" rtlCol="0" anchor="t"/>
          <a:lstStyle/>
          <a:p>
            <a:pPr indent="0" marL="0">
              <a:buNone/>
            </a:pPr>
            <a:r>
              <a:rPr lang="en-US" sz="1050" dirty="0">
                <a:solidFill>
                  <a:srgbClr val="D9D6EA"/>
                </a:solidFill>
                <a:latin typeface="Calibri" pitchFamily="34" charset="0"/>
                <a:ea typeface="Calibri" pitchFamily="34" charset="-122"/>
                <a:cs typeface="Calibri" pitchFamily="34" charset="-120"/>
              </a:rPr>
              <a:t>A socio-economic or policy question</a:t>
            </a:r>
            <a:endParaRPr lang="en-US" sz="1050" dirty="0"/>
          </a:p>
        </p:txBody>
      </p:sp>
      <p:sp>
        <p:nvSpPr>
          <p:cNvPr id="9" name="Shape 7"/>
          <p:cNvSpPr/>
          <p:nvPr/>
        </p:nvSpPr>
        <p:spPr>
          <a:xfrm>
            <a:off x="2139696" y="1463040"/>
            <a:ext cx="1517904" cy="1737360"/>
          </a:xfrm>
          <a:prstGeom prst="rect">
            <a:avLst/>
          </a:prstGeom>
          <a:solidFill>
            <a:srgbClr val="312A63"/>
          </a:solidFill>
          <a:ln w="12700">
            <a:solidFill>
              <a:srgbClr val="312A63"/>
            </a:solidFill>
            <a:prstDash val="solid"/>
          </a:ln>
        </p:spPr>
      </p:sp>
      <p:sp>
        <p:nvSpPr>
          <p:cNvPr id="10" name="Text 8"/>
          <p:cNvSpPr/>
          <p:nvPr/>
        </p:nvSpPr>
        <p:spPr>
          <a:xfrm>
            <a:off x="2276856" y="1554480"/>
            <a:ext cx="548640" cy="457200"/>
          </a:xfrm>
          <a:prstGeom prst="rect">
            <a:avLst/>
          </a:prstGeom>
          <a:noFill/>
          <a:ln/>
        </p:spPr>
        <p:txBody>
          <a:bodyPr wrap="square" lIns="0" tIns="0" rIns="0" bIns="0" rtlCol="0" anchor="ctr"/>
          <a:lstStyle/>
          <a:p>
            <a:pPr indent="0" marL="0">
              <a:buNone/>
            </a:pPr>
            <a:r>
              <a:rPr lang="en-US" sz="2400" b="1" dirty="0">
                <a:solidFill>
                  <a:srgbClr val="F5A3A3"/>
                </a:solidFill>
                <a:latin typeface="Georgia" pitchFamily="34" charset="0"/>
                <a:ea typeface="Georgia" pitchFamily="34" charset="-122"/>
                <a:cs typeface="Georgia" pitchFamily="34" charset="-120"/>
              </a:rPr>
              <a:t>2</a:t>
            </a:r>
            <a:endParaRPr lang="en-US" sz="2400" dirty="0"/>
          </a:p>
        </p:txBody>
      </p:sp>
      <p:sp>
        <p:nvSpPr>
          <p:cNvPr id="11" name="Text 9"/>
          <p:cNvSpPr/>
          <p:nvPr/>
        </p:nvSpPr>
        <p:spPr>
          <a:xfrm>
            <a:off x="2276856" y="2057400"/>
            <a:ext cx="12801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Data</a:t>
            </a:r>
            <a:endParaRPr lang="en-US" sz="1500" dirty="0"/>
          </a:p>
        </p:txBody>
      </p:sp>
      <p:sp>
        <p:nvSpPr>
          <p:cNvPr id="12" name="Text 10"/>
          <p:cNvSpPr/>
          <p:nvPr/>
        </p:nvSpPr>
        <p:spPr>
          <a:xfrm>
            <a:off x="2276856" y="2423160"/>
            <a:ext cx="1280160" cy="731520"/>
          </a:xfrm>
          <a:prstGeom prst="rect">
            <a:avLst/>
          </a:prstGeom>
          <a:noFill/>
          <a:ln/>
        </p:spPr>
        <p:txBody>
          <a:bodyPr wrap="square" lIns="0" tIns="0" rIns="0" bIns="0" rtlCol="0" anchor="t"/>
          <a:lstStyle/>
          <a:p>
            <a:pPr indent="0" marL="0">
              <a:buNone/>
            </a:pPr>
            <a:r>
              <a:rPr lang="en-US" sz="1050" dirty="0">
                <a:solidFill>
                  <a:srgbClr val="D9D6EA"/>
                </a:solidFill>
                <a:latin typeface="Calibri" pitchFamily="34" charset="0"/>
                <a:ea typeface="Calibri" pitchFamily="34" charset="-122"/>
                <a:cs typeface="Calibri" pitchFamily="34" charset="-120"/>
              </a:rPr>
              <a:t>COIL dataset: 32 European countries</a:t>
            </a:r>
            <a:endParaRPr lang="en-US" sz="1050" dirty="0"/>
          </a:p>
        </p:txBody>
      </p:sp>
      <p:sp>
        <p:nvSpPr>
          <p:cNvPr id="13" name="Shape 11"/>
          <p:cNvSpPr/>
          <p:nvPr/>
        </p:nvSpPr>
        <p:spPr>
          <a:xfrm>
            <a:off x="3822192" y="1463040"/>
            <a:ext cx="1517904" cy="1737360"/>
          </a:xfrm>
          <a:prstGeom prst="rect">
            <a:avLst/>
          </a:prstGeom>
          <a:solidFill>
            <a:srgbClr val="312A63"/>
          </a:solidFill>
          <a:ln w="12700">
            <a:solidFill>
              <a:srgbClr val="312A63"/>
            </a:solidFill>
            <a:prstDash val="solid"/>
          </a:ln>
        </p:spPr>
      </p:sp>
      <p:sp>
        <p:nvSpPr>
          <p:cNvPr id="14" name="Text 12"/>
          <p:cNvSpPr/>
          <p:nvPr/>
        </p:nvSpPr>
        <p:spPr>
          <a:xfrm>
            <a:off x="3959352" y="1554480"/>
            <a:ext cx="548640" cy="457200"/>
          </a:xfrm>
          <a:prstGeom prst="rect">
            <a:avLst/>
          </a:prstGeom>
          <a:noFill/>
          <a:ln/>
        </p:spPr>
        <p:txBody>
          <a:bodyPr wrap="square" lIns="0" tIns="0" rIns="0" bIns="0" rtlCol="0" anchor="ctr"/>
          <a:lstStyle/>
          <a:p>
            <a:pPr indent="0" marL="0">
              <a:buNone/>
            </a:pPr>
            <a:r>
              <a:rPr lang="en-US" sz="2400" b="1" dirty="0">
                <a:solidFill>
                  <a:srgbClr val="F5A3A3"/>
                </a:solidFill>
                <a:latin typeface="Georgia" pitchFamily="34" charset="0"/>
                <a:ea typeface="Georgia" pitchFamily="34" charset="-122"/>
                <a:cs typeface="Georgia" pitchFamily="34" charset="-120"/>
              </a:rPr>
              <a:t>3</a:t>
            </a:r>
            <a:endParaRPr lang="en-US" sz="2400" dirty="0"/>
          </a:p>
        </p:txBody>
      </p:sp>
      <p:sp>
        <p:nvSpPr>
          <p:cNvPr id="15" name="Text 13"/>
          <p:cNvSpPr/>
          <p:nvPr/>
        </p:nvSpPr>
        <p:spPr>
          <a:xfrm>
            <a:off x="3959352" y="2057400"/>
            <a:ext cx="12801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Analysis</a:t>
            </a:r>
            <a:endParaRPr lang="en-US" sz="1500" dirty="0"/>
          </a:p>
        </p:txBody>
      </p:sp>
      <p:sp>
        <p:nvSpPr>
          <p:cNvPr id="16" name="Text 14"/>
          <p:cNvSpPr/>
          <p:nvPr/>
        </p:nvSpPr>
        <p:spPr>
          <a:xfrm>
            <a:off x="3959352" y="2423160"/>
            <a:ext cx="1280160" cy="731520"/>
          </a:xfrm>
          <a:prstGeom prst="rect">
            <a:avLst/>
          </a:prstGeom>
          <a:noFill/>
          <a:ln/>
        </p:spPr>
        <p:txBody>
          <a:bodyPr wrap="square" lIns="0" tIns="0" rIns="0" bIns="0" rtlCol="0" anchor="t"/>
          <a:lstStyle/>
          <a:p>
            <a:pPr indent="0" marL="0">
              <a:buNone/>
            </a:pPr>
            <a:r>
              <a:rPr lang="en-US" sz="1050" dirty="0">
                <a:solidFill>
                  <a:srgbClr val="D9D6EA"/>
                </a:solidFill>
                <a:latin typeface="Calibri" pitchFamily="34" charset="0"/>
                <a:ea typeface="Calibri" pitchFamily="34" charset="-122"/>
                <a:cs typeface="Calibri" pitchFamily="34" charset="-120"/>
              </a:rPr>
              <a:t>Regression, classification, PCA, clustering</a:t>
            </a:r>
            <a:endParaRPr lang="en-US" sz="1050" dirty="0"/>
          </a:p>
        </p:txBody>
      </p:sp>
      <p:sp>
        <p:nvSpPr>
          <p:cNvPr id="17" name="Shape 15"/>
          <p:cNvSpPr/>
          <p:nvPr/>
        </p:nvSpPr>
        <p:spPr>
          <a:xfrm>
            <a:off x="5504688" y="1463040"/>
            <a:ext cx="1517904" cy="1737360"/>
          </a:xfrm>
          <a:prstGeom prst="rect">
            <a:avLst/>
          </a:prstGeom>
          <a:solidFill>
            <a:srgbClr val="312A63"/>
          </a:solidFill>
          <a:ln w="12700">
            <a:solidFill>
              <a:srgbClr val="312A63"/>
            </a:solidFill>
            <a:prstDash val="solid"/>
          </a:ln>
        </p:spPr>
      </p:sp>
      <p:sp>
        <p:nvSpPr>
          <p:cNvPr id="18" name="Text 16"/>
          <p:cNvSpPr/>
          <p:nvPr/>
        </p:nvSpPr>
        <p:spPr>
          <a:xfrm>
            <a:off x="5641848" y="1554480"/>
            <a:ext cx="548640" cy="457200"/>
          </a:xfrm>
          <a:prstGeom prst="rect">
            <a:avLst/>
          </a:prstGeom>
          <a:noFill/>
          <a:ln/>
        </p:spPr>
        <p:txBody>
          <a:bodyPr wrap="square" lIns="0" tIns="0" rIns="0" bIns="0" rtlCol="0" anchor="ctr"/>
          <a:lstStyle/>
          <a:p>
            <a:pPr indent="0" marL="0">
              <a:buNone/>
            </a:pPr>
            <a:r>
              <a:rPr lang="en-US" sz="2400" b="1" dirty="0">
                <a:solidFill>
                  <a:srgbClr val="F5A3A3"/>
                </a:solidFill>
                <a:latin typeface="Georgia" pitchFamily="34" charset="0"/>
                <a:ea typeface="Georgia" pitchFamily="34" charset="-122"/>
                <a:cs typeface="Georgia" pitchFamily="34" charset="-120"/>
              </a:rPr>
              <a:t>4</a:t>
            </a:r>
            <a:endParaRPr lang="en-US" sz="2400" dirty="0"/>
          </a:p>
        </p:txBody>
      </p:sp>
      <p:sp>
        <p:nvSpPr>
          <p:cNvPr id="19" name="Text 17"/>
          <p:cNvSpPr/>
          <p:nvPr/>
        </p:nvSpPr>
        <p:spPr>
          <a:xfrm>
            <a:off x="5641848" y="2057400"/>
            <a:ext cx="12801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Dashboard</a:t>
            </a:r>
            <a:endParaRPr lang="en-US" sz="1500" dirty="0"/>
          </a:p>
        </p:txBody>
      </p:sp>
      <p:sp>
        <p:nvSpPr>
          <p:cNvPr id="20" name="Text 18"/>
          <p:cNvSpPr/>
          <p:nvPr/>
        </p:nvSpPr>
        <p:spPr>
          <a:xfrm>
            <a:off x="5641848" y="2423160"/>
            <a:ext cx="1280160" cy="731520"/>
          </a:xfrm>
          <a:prstGeom prst="rect">
            <a:avLst/>
          </a:prstGeom>
          <a:noFill/>
          <a:ln/>
        </p:spPr>
        <p:txBody>
          <a:bodyPr wrap="square" lIns="0" tIns="0" rIns="0" bIns="0" rtlCol="0" anchor="t"/>
          <a:lstStyle/>
          <a:p>
            <a:pPr indent="0" marL="0">
              <a:buNone/>
            </a:pPr>
            <a:r>
              <a:rPr lang="en-US" sz="1050" dirty="0">
                <a:solidFill>
                  <a:srgbClr val="D9D6EA"/>
                </a:solidFill>
                <a:latin typeface="Calibri" pitchFamily="34" charset="0"/>
                <a:ea typeface="Calibri" pitchFamily="34" charset="-122"/>
                <a:cs typeface="Calibri" pitchFamily="34" charset="-120"/>
              </a:rPr>
              <a:t>For a non-specialist audience</a:t>
            </a:r>
            <a:endParaRPr lang="en-US" sz="1050" dirty="0"/>
          </a:p>
        </p:txBody>
      </p:sp>
      <p:sp>
        <p:nvSpPr>
          <p:cNvPr id="21" name="Shape 19"/>
          <p:cNvSpPr/>
          <p:nvPr/>
        </p:nvSpPr>
        <p:spPr>
          <a:xfrm>
            <a:off x="7187184" y="1463040"/>
            <a:ext cx="1517904" cy="1737360"/>
          </a:xfrm>
          <a:prstGeom prst="rect">
            <a:avLst/>
          </a:prstGeom>
          <a:solidFill>
            <a:srgbClr val="E55A5A"/>
          </a:solidFill>
          <a:ln w="12700">
            <a:solidFill>
              <a:srgbClr val="E55A5A"/>
            </a:solidFill>
            <a:prstDash val="solid"/>
          </a:ln>
        </p:spPr>
      </p:sp>
      <p:sp>
        <p:nvSpPr>
          <p:cNvPr id="22" name="Text 20"/>
          <p:cNvSpPr/>
          <p:nvPr/>
        </p:nvSpPr>
        <p:spPr>
          <a:xfrm>
            <a:off x="7324344" y="1554480"/>
            <a:ext cx="548640" cy="457200"/>
          </a:xfrm>
          <a:prstGeom prst="rect">
            <a:avLst/>
          </a:prstGeom>
          <a:noFill/>
          <a:ln/>
        </p:spPr>
        <p:txBody>
          <a:bodyPr wrap="square" lIns="0" tIns="0" rIns="0" bIns="0" rtlCol="0" anchor="ctr"/>
          <a:lstStyle/>
          <a:p>
            <a:pPr indent="0" marL="0">
              <a:buNone/>
            </a:pPr>
            <a:r>
              <a:rPr lang="en-US" sz="2400" b="1" dirty="0">
                <a:solidFill>
                  <a:srgbClr val="FFFFFF"/>
                </a:solidFill>
                <a:latin typeface="Georgia" pitchFamily="34" charset="0"/>
                <a:ea typeface="Georgia" pitchFamily="34" charset="-122"/>
                <a:cs typeface="Georgia" pitchFamily="34" charset="-120"/>
              </a:rPr>
              <a:t>5</a:t>
            </a:r>
            <a:endParaRPr lang="en-US" sz="2400" dirty="0"/>
          </a:p>
        </p:txBody>
      </p:sp>
      <p:sp>
        <p:nvSpPr>
          <p:cNvPr id="23" name="Text 21"/>
          <p:cNvSpPr/>
          <p:nvPr/>
        </p:nvSpPr>
        <p:spPr>
          <a:xfrm>
            <a:off x="7324344" y="2057400"/>
            <a:ext cx="12801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Presentation</a:t>
            </a:r>
            <a:endParaRPr lang="en-US" sz="1500" dirty="0"/>
          </a:p>
        </p:txBody>
      </p:sp>
      <p:sp>
        <p:nvSpPr>
          <p:cNvPr id="24" name="Text 22"/>
          <p:cNvSpPr/>
          <p:nvPr/>
        </p:nvSpPr>
        <p:spPr>
          <a:xfrm>
            <a:off x="7324344" y="2423160"/>
            <a:ext cx="1280160" cy="731520"/>
          </a:xfrm>
          <a:prstGeom prst="rect">
            <a:avLst/>
          </a:prstGeom>
          <a:noFill/>
          <a:ln/>
        </p:spPr>
        <p:txBody>
          <a:bodyPr wrap="square" lIns="0" tIns="0" rIns="0" bIns="0" rtlCol="0" anchor="t"/>
          <a:lstStyle/>
          <a:p>
            <a:pPr indent="0" marL="0">
              <a:buNone/>
            </a:pPr>
            <a:r>
              <a:rPr lang="en-US" sz="1050" dirty="0">
                <a:solidFill>
                  <a:srgbClr val="D9D6EA"/>
                </a:solidFill>
                <a:latin typeface="Calibri" pitchFamily="34" charset="0"/>
                <a:ea typeface="Calibri" pitchFamily="34" charset="-122"/>
                <a:cs typeface="Calibri" pitchFamily="34" charset="-120"/>
              </a:rPr>
              <a:t>Week 8, to all three universities</a:t>
            </a:r>
            <a:endParaRPr lang="en-US" sz="1050" dirty="0"/>
          </a:p>
        </p:txBody>
      </p:sp>
      <p:sp>
        <p:nvSpPr>
          <p:cNvPr id="25" name="Text 23"/>
          <p:cNvSpPr/>
          <p:nvPr/>
        </p:nvSpPr>
        <p:spPr>
          <a:xfrm>
            <a:off x="457200" y="3520440"/>
            <a:ext cx="8229600" cy="731520"/>
          </a:xfrm>
          <a:prstGeom prst="rect">
            <a:avLst/>
          </a:prstGeom>
          <a:noFill/>
          <a:ln/>
        </p:spPr>
        <p:txBody>
          <a:bodyPr wrap="square" lIns="0" tIns="0" rIns="0" bIns="0" rtlCol="0" anchor="t"/>
          <a:lstStyle/>
          <a:p>
            <a:pPr indent="0" marL="0">
              <a:buNone/>
            </a:pPr>
            <a:r>
              <a:rPr lang="en-US" sz="1200" dirty="0">
                <a:solidFill>
                  <a:srgbClr val="2B2840"/>
                </a:solidFill>
                <a:latin typeface="Calibri" pitchFamily="34" charset="0"/>
                <a:ea typeface="Calibri" pitchFamily="34" charset="-122"/>
                <a:cs typeface="Calibri" pitchFamily="34" charset="-120"/>
              </a:rPr>
              <a:t>Example projects are on the website (Projects): education and youth unemployment, the digital divide, ageing and public spending, women in the labour market, the green transition, inequality. You can also propose your own question.</a:t>
            </a:r>
            <a:endParaRPr lang="en-US" sz="120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SCHEDULE</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Eight weeks · 19 October – 13 December 2026</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Kick-off</a:t>
            </a:r>
            <a:endParaRPr lang="en-US" sz="850" dirty="0"/>
          </a:p>
        </p:txBody>
      </p:sp>
      <p:sp>
        <p:nvSpPr>
          <p:cNvPr id="5" name="Shape 3"/>
          <p:cNvSpPr/>
          <p:nvPr/>
        </p:nvSpPr>
        <p:spPr>
          <a:xfrm>
            <a:off x="457200" y="1234440"/>
            <a:ext cx="973836" cy="457200"/>
          </a:xfrm>
          <a:prstGeom prst="rect">
            <a:avLst/>
          </a:prstGeom>
          <a:solidFill>
            <a:srgbClr val="312A63"/>
          </a:solidFill>
          <a:ln w="12700">
            <a:solidFill>
              <a:srgbClr val="312A63"/>
            </a:solidFill>
            <a:prstDash val="solid"/>
          </a:ln>
        </p:spPr>
      </p:sp>
      <p:sp>
        <p:nvSpPr>
          <p:cNvPr id="6" name="Text 4"/>
          <p:cNvSpPr/>
          <p:nvPr/>
        </p:nvSpPr>
        <p:spPr>
          <a:xfrm>
            <a:off x="457200" y="1234440"/>
            <a:ext cx="97383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W1</a:t>
            </a:r>
            <a:endParaRPr lang="en-US" sz="1300" dirty="0"/>
          </a:p>
        </p:txBody>
      </p:sp>
      <p:sp>
        <p:nvSpPr>
          <p:cNvPr id="7" name="Text 5"/>
          <p:cNvSpPr/>
          <p:nvPr/>
        </p:nvSpPr>
        <p:spPr>
          <a:xfrm>
            <a:off x="457200" y="1737360"/>
            <a:ext cx="973836" cy="228600"/>
          </a:xfrm>
          <a:prstGeom prst="rect">
            <a:avLst/>
          </a:prstGeom>
          <a:noFill/>
          <a:ln/>
        </p:spPr>
        <p:txBody>
          <a:bodyPr wrap="square" lIns="0" tIns="0" rIns="0" bIns="0" rtlCol="0" anchor="ctr"/>
          <a:lstStyle/>
          <a:p>
            <a:pPr algn="ctr" indent="0" marL="0">
              <a:buNone/>
            </a:pPr>
            <a:r>
              <a:rPr lang="en-US" sz="900" dirty="0">
                <a:solidFill>
                  <a:srgbClr val="6B6880"/>
                </a:solidFill>
                <a:latin typeface="Calibri" pitchFamily="34" charset="0"/>
                <a:ea typeface="Calibri" pitchFamily="34" charset="-122"/>
                <a:cs typeface="Calibri" pitchFamily="34" charset="-120"/>
              </a:rPr>
              <a:t>19 Oct</a:t>
            </a:r>
            <a:endParaRPr lang="en-US" sz="900" dirty="0"/>
          </a:p>
        </p:txBody>
      </p:sp>
      <p:sp>
        <p:nvSpPr>
          <p:cNvPr id="8" name="Text 6"/>
          <p:cNvSpPr/>
          <p:nvPr/>
        </p:nvSpPr>
        <p:spPr>
          <a:xfrm>
            <a:off x="475488" y="2011680"/>
            <a:ext cx="937260" cy="1143000"/>
          </a:xfrm>
          <a:prstGeom prst="rect">
            <a:avLst/>
          </a:prstGeom>
          <a:noFill/>
          <a:ln/>
        </p:spPr>
        <p:txBody>
          <a:bodyPr wrap="square" lIns="0" tIns="0" rIns="0" bIns="0" rtlCol="0" anchor="t">
            <a:normAutofit/>
          </a:bodyPr>
          <a:lstStyle/>
          <a:p>
            <a:pPr algn="ctr" indent="0" marL="0">
              <a:buNone/>
            </a:pPr>
            <a:r>
              <a:rPr lang="en-US" sz="900" dirty="0">
                <a:solidFill>
                  <a:srgbClr val="2B2840"/>
                </a:solidFill>
                <a:latin typeface="Calibri" pitchFamily="34" charset="0"/>
                <a:ea typeface="Calibri" pitchFamily="34" charset="-122"/>
                <a:cs typeface="Calibri" pitchFamily="34" charset="-120"/>
              </a:rPr>
              <a:t>Kick-off and intercultural orientation</a:t>
            </a:r>
            <a:endParaRPr lang="en-US" sz="900" dirty="0"/>
          </a:p>
        </p:txBody>
      </p:sp>
      <p:sp>
        <p:nvSpPr>
          <p:cNvPr id="9" name="Shape 7"/>
          <p:cNvSpPr/>
          <p:nvPr/>
        </p:nvSpPr>
        <p:spPr>
          <a:xfrm>
            <a:off x="530352" y="3154680"/>
            <a:ext cx="827532" cy="329184"/>
          </a:xfrm>
          <a:prstGeom prst="roundRect">
            <a:avLst>
              <a:gd name="adj" fmla="val 22222"/>
            </a:avLst>
          </a:prstGeom>
          <a:solidFill>
            <a:srgbClr val="FFFFFF"/>
          </a:solidFill>
          <a:ln w="12700">
            <a:solidFill>
              <a:srgbClr val="312A63"/>
            </a:solidFill>
            <a:prstDash val="solid"/>
          </a:ln>
        </p:spPr>
      </p:sp>
      <p:sp>
        <p:nvSpPr>
          <p:cNvPr id="10" name="Text 8"/>
          <p:cNvSpPr/>
          <p:nvPr/>
        </p:nvSpPr>
        <p:spPr>
          <a:xfrm>
            <a:off x="530352" y="3154680"/>
            <a:ext cx="827532" cy="329184"/>
          </a:xfrm>
          <a:prstGeom prst="rect">
            <a:avLst/>
          </a:prstGeom>
          <a:noFill/>
          <a:ln/>
        </p:spPr>
        <p:txBody>
          <a:bodyPr wrap="square" lIns="0" tIns="0" rIns="0" bIns="0" rtlCol="0" anchor="ctr"/>
          <a:lstStyle/>
          <a:p>
            <a:pPr algn="ctr" indent="0" marL="0">
              <a:buNone/>
            </a:pPr>
            <a:r>
              <a:rPr lang="en-US" sz="850" b="1" dirty="0">
                <a:solidFill>
                  <a:srgbClr val="312A63"/>
                </a:solidFill>
                <a:latin typeface="Calibri" pitchFamily="34" charset="0"/>
                <a:ea typeface="Calibri" pitchFamily="34" charset="-122"/>
                <a:cs typeface="Calibri" pitchFamily="34" charset="-120"/>
              </a:rPr>
              <a:t>Session</a:t>
            </a:r>
            <a:endParaRPr lang="en-US" sz="850" dirty="0"/>
          </a:p>
        </p:txBody>
      </p:sp>
      <p:sp>
        <p:nvSpPr>
          <p:cNvPr id="11" name="Shape 9"/>
          <p:cNvSpPr/>
          <p:nvPr/>
        </p:nvSpPr>
        <p:spPr>
          <a:xfrm>
            <a:off x="1485900" y="1234440"/>
            <a:ext cx="973836" cy="457200"/>
          </a:xfrm>
          <a:prstGeom prst="rect">
            <a:avLst/>
          </a:prstGeom>
          <a:solidFill>
            <a:srgbClr val="312A63"/>
          </a:solidFill>
          <a:ln w="12700">
            <a:solidFill>
              <a:srgbClr val="312A63"/>
            </a:solidFill>
            <a:prstDash val="solid"/>
          </a:ln>
        </p:spPr>
      </p:sp>
      <p:sp>
        <p:nvSpPr>
          <p:cNvPr id="12" name="Text 10"/>
          <p:cNvSpPr/>
          <p:nvPr/>
        </p:nvSpPr>
        <p:spPr>
          <a:xfrm>
            <a:off x="1485900" y="1234440"/>
            <a:ext cx="97383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W2</a:t>
            </a:r>
            <a:endParaRPr lang="en-US" sz="1300" dirty="0"/>
          </a:p>
        </p:txBody>
      </p:sp>
      <p:sp>
        <p:nvSpPr>
          <p:cNvPr id="13" name="Text 11"/>
          <p:cNvSpPr/>
          <p:nvPr/>
        </p:nvSpPr>
        <p:spPr>
          <a:xfrm>
            <a:off x="1485900" y="1737360"/>
            <a:ext cx="973836" cy="228600"/>
          </a:xfrm>
          <a:prstGeom prst="rect">
            <a:avLst/>
          </a:prstGeom>
          <a:noFill/>
          <a:ln/>
        </p:spPr>
        <p:txBody>
          <a:bodyPr wrap="square" lIns="0" tIns="0" rIns="0" bIns="0" rtlCol="0" anchor="ctr"/>
          <a:lstStyle/>
          <a:p>
            <a:pPr algn="ctr" indent="0" marL="0">
              <a:buNone/>
            </a:pPr>
            <a:r>
              <a:rPr lang="en-US" sz="900" dirty="0">
                <a:solidFill>
                  <a:srgbClr val="6B6880"/>
                </a:solidFill>
                <a:latin typeface="Calibri" pitchFamily="34" charset="0"/>
                <a:ea typeface="Calibri" pitchFamily="34" charset="-122"/>
                <a:cs typeface="Calibri" pitchFamily="34" charset="-120"/>
              </a:rPr>
              <a:t>26 Oct</a:t>
            </a:r>
            <a:endParaRPr lang="en-US" sz="900" dirty="0"/>
          </a:p>
        </p:txBody>
      </p:sp>
      <p:sp>
        <p:nvSpPr>
          <p:cNvPr id="14" name="Text 12"/>
          <p:cNvSpPr/>
          <p:nvPr/>
        </p:nvSpPr>
        <p:spPr>
          <a:xfrm>
            <a:off x="1504188" y="2011680"/>
            <a:ext cx="937260" cy="1143000"/>
          </a:xfrm>
          <a:prstGeom prst="rect">
            <a:avLst/>
          </a:prstGeom>
          <a:noFill/>
          <a:ln/>
        </p:spPr>
        <p:txBody>
          <a:bodyPr wrap="square" lIns="0" tIns="0" rIns="0" bIns="0" rtlCol="0" anchor="t">
            <a:normAutofit/>
          </a:bodyPr>
          <a:lstStyle/>
          <a:p>
            <a:pPr algn="ctr" indent="0" marL="0">
              <a:buNone/>
            </a:pPr>
            <a:r>
              <a:rPr lang="en-US" sz="900" dirty="0">
                <a:solidFill>
                  <a:srgbClr val="2B2840"/>
                </a:solidFill>
                <a:latin typeface="Calibri" pitchFamily="34" charset="0"/>
                <a:ea typeface="Calibri" pitchFamily="34" charset="-122"/>
                <a:cs typeface="Calibri" pitchFamily="34" charset="-120"/>
              </a:rPr>
              <a:t>International teams and topic selection</a:t>
            </a:r>
            <a:endParaRPr lang="en-US" sz="900" dirty="0"/>
          </a:p>
        </p:txBody>
      </p:sp>
      <p:sp>
        <p:nvSpPr>
          <p:cNvPr id="15" name="Shape 13"/>
          <p:cNvSpPr/>
          <p:nvPr/>
        </p:nvSpPr>
        <p:spPr>
          <a:xfrm>
            <a:off x="1559052" y="2743200"/>
            <a:ext cx="827532" cy="329184"/>
          </a:xfrm>
          <a:prstGeom prst="roundRect">
            <a:avLst>
              <a:gd name="adj" fmla="val 22222"/>
            </a:avLst>
          </a:prstGeom>
          <a:solidFill>
            <a:srgbClr val="E55A5A"/>
          </a:solidFill>
          <a:ln w="12700">
            <a:solidFill>
              <a:srgbClr val="E55A5A"/>
            </a:solidFill>
            <a:prstDash val="solid"/>
          </a:ln>
        </p:spPr>
      </p:sp>
      <p:sp>
        <p:nvSpPr>
          <p:cNvPr id="16" name="Text 14"/>
          <p:cNvSpPr/>
          <p:nvPr/>
        </p:nvSpPr>
        <p:spPr>
          <a:xfrm>
            <a:off x="1559052" y="2743200"/>
            <a:ext cx="827532" cy="32918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Deliverable 1</a:t>
            </a:r>
            <a:endParaRPr lang="en-US" sz="850" dirty="0"/>
          </a:p>
        </p:txBody>
      </p:sp>
      <p:sp>
        <p:nvSpPr>
          <p:cNvPr id="17" name="Shape 15"/>
          <p:cNvSpPr/>
          <p:nvPr/>
        </p:nvSpPr>
        <p:spPr>
          <a:xfrm>
            <a:off x="2514600" y="1234440"/>
            <a:ext cx="973836" cy="457200"/>
          </a:xfrm>
          <a:prstGeom prst="rect">
            <a:avLst/>
          </a:prstGeom>
          <a:solidFill>
            <a:srgbClr val="2A9D8F"/>
          </a:solidFill>
          <a:ln w="12700">
            <a:solidFill>
              <a:srgbClr val="2A9D8F"/>
            </a:solidFill>
            <a:prstDash val="solid"/>
          </a:ln>
        </p:spPr>
      </p:sp>
      <p:sp>
        <p:nvSpPr>
          <p:cNvPr id="18" name="Text 16"/>
          <p:cNvSpPr/>
          <p:nvPr/>
        </p:nvSpPr>
        <p:spPr>
          <a:xfrm>
            <a:off x="2514600" y="1234440"/>
            <a:ext cx="97383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W3</a:t>
            </a:r>
            <a:endParaRPr lang="en-US" sz="1300" dirty="0"/>
          </a:p>
        </p:txBody>
      </p:sp>
      <p:sp>
        <p:nvSpPr>
          <p:cNvPr id="19" name="Text 17"/>
          <p:cNvSpPr/>
          <p:nvPr/>
        </p:nvSpPr>
        <p:spPr>
          <a:xfrm>
            <a:off x="2514600" y="1737360"/>
            <a:ext cx="973836" cy="228600"/>
          </a:xfrm>
          <a:prstGeom prst="rect">
            <a:avLst/>
          </a:prstGeom>
          <a:noFill/>
          <a:ln/>
        </p:spPr>
        <p:txBody>
          <a:bodyPr wrap="square" lIns="0" tIns="0" rIns="0" bIns="0" rtlCol="0" anchor="ctr"/>
          <a:lstStyle/>
          <a:p>
            <a:pPr algn="ctr" indent="0" marL="0">
              <a:buNone/>
            </a:pPr>
            <a:r>
              <a:rPr lang="en-US" sz="900" dirty="0">
                <a:solidFill>
                  <a:srgbClr val="6B6880"/>
                </a:solidFill>
                <a:latin typeface="Calibri" pitchFamily="34" charset="0"/>
                <a:ea typeface="Calibri" pitchFamily="34" charset="-122"/>
                <a:cs typeface="Calibri" pitchFamily="34" charset="-120"/>
              </a:rPr>
              <a:t>2 Nov</a:t>
            </a:r>
            <a:endParaRPr lang="en-US" sz="900" dirty="0"/>
          </a:p>
        </p:txBody>
      </p:sp>
      <p:sp>
        <p:nvSpPr>
          <p:cNvPr id="20" name="Text 18"/>
          <p:cNvSpPr/>
          <p:nvPr/>
        </p:nvSpPr>
        <p:spPr>
          <a:xfrm>
            <a:off x="2532888" y="2011680"/>
            <a:ext cx="937260" cy="1143000"/>
          </a:xfrm>
          <a:prstGeom prst="rect">
            <a:avLst/>
          </a:prstGeom>
          <a:noFill/>
          <a:ln/>
        </p:spPr>
        <p:txBody>
          <a:bodyPr wrap="square" lIns="0" tIns="0" rIns="0" bIns="0" rtlCol="0" anchor="t">
            <a:normAutofit/>
          </a:bodyPr>
          <a:lstStyle/>
          <a:p>
            <a:pPr algn="ctr" indent="0" marL="0">
              <a:buNone/>
            </a:pPr>
            <a:r>
              <a:rPr lang="en-US" sz="900" dirty="0">
                <a:solidFill>
                  <a:srgbClr val="2B2840"/>
                </a:solidFill>
                <a:latin typeface="Calibri" pitchFamily="34" charset="0"/>
                <a:ea typeface="Calibri" pitchFamily="34" charset="-122"/>
                <a:cs typeface="Calibri" pitchFamily="34" charset="-120"/>
              </a:rPr>
              <a:t>Data collection and preparation</a:t>
            </a:r>
            <a:endParaRPr lang="en-US" sz="900" dirty="0"/>
          </a:p>
        </p:txBody>
      </p:sp>
      <p:sp>
        <p:nvSpPr>
          <p:cNvPr id="21" name="Shape 19"/>
          <p:cNvSpPr/>
          <p:nvPr/>
        </p:nvSpPr>
        <p:spPr>
          <a:xfrm>
            <a:off x="2587752" y="3154680"/>
            <a:ext cx="827532" cy="329184"/>
          </a:xfrm>
          <a:prstGeom prst="roundRect">
            <a:avLst>
              <a:gd name="adj" fmla="val 22222"/>
            </a:avLst>
          </a:prstGeom>
          <a:solidFill>
            <a:srgbClr val="FFFFFF"/>
          </a:solidFill>
          <a:ln w="12700">
            <a:solidFill>
              <a:srgbClr val="312A63"/>
            </a:solidFill>
            <a:prstDash val="solid"/>
          </a:ln>
        </p:spPr>
      </p:sp>
      <p:sp>
        <p:nvSpPr>
          <p:cNvPr id="22" name="Text 20"/>
          <p:cNvSpPr/>
          <p:nvPr/>
        </p:nvSpPr>
        <p:spPr>
          <a:xfrm>
            <a:off x="2587752" y="3154680"/>
            <a:ext cx="827532" cy="329184"/>
          </a:xfrm>
          <a:prstGeom prst="rect">
            <a:avLst/>
          </a:prstGeom>
          <a:noFill/>
          <a:ln/>
        </p:spPr>
        <p:txBody>
          <a:bodyPr wrap="square" lIns="0" tIns="0" rIns="0" bIns="0" rtlCol="0" anchor="ctr"/>
          <a:lstStyle/>
          <a:p>
            <a:pPr algn="ctr" indent="0" marL="0">
              <a:buNone/>
            </a:pPr>
            <a:r>
              <a:rPr lang="en-US" sz="850" b="1" dirty="0">
                <a:solidFill>
                  <a:srgbClr val="312A63"/>
                </a:solidFill>
                <a:latin typeface="Calibri" pitchFamily="34" charset="0"/>
                <a:ea typeface="Calibri" pitchFamily="34" charset="-122"/>
                <a:cs typeface="Calibri" pitchFamily="34" charset="-120"/>
              </a:rPr>
              <a:t>Session</a:t>
            </a:r>
            <a:endParaRPr lang="en-US" sz="850" dirty="0"/>
          </a:p>
        </p:txBody>
      </p:sp>
      <p:sp>
        <p:nvSpPr>
          <p:cNvPr id="23" name="Shape 21"/>
          <p:cNvSpPr/>
          <p:nvPr/>
        </p:nvSpPr>
        <p:spPr>
          <a:xfrm>
            <a:off x="3543300" y="1234440"/>
            <a:ext cx="973836" cy="457200"/>
          </a:xfrm>
          <a:prstGeom prst="rect">
            <a:avLst/>
          </a:prstGeom>
          <a:solidFill>
            <a:srgbClr val="2A9D8F"/>
          </a:solidFill>
          <a:ln w="12700">
            <a:solidFill>
              <a:srgbClr val="2A9D8F"/>
            </a:solidFill>
            <a:prstDash val="solid"/>
          </a:ln>
        </p:spPr>
      </p:sp>
      <p:sp>
        <p:nvSpPr>
          <p:cNvPr id="24" name="Text 22"/>
          <p:cNvSpPr/>
          <p:nvPr/>
        </p:nvSpPr>
        <p:spPr>
          <a:xfrm>
            <a:off x="3543300" y="1234440"/>
            <a:ext cx="97383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W4</a:t>
            </a:r>
            <a:endParaRPr lang="en-US" sz="1300" dirty="0"/>
          </a:p>
        </p:txBody>
      </p:sp>
      <p:sp>
        <p:nvSpPr>
          <p:cNvPr id="25" name="Text 23"/>
          <p:cNvSpPr/>
          <p:nvPr/>
        </p:nvSpPr>
        <p:spPr>
          <a:xfrm>
            <a:off x="3543300" y="1737360"/>
            <a:ext cx="973836" cy="228600"/>
          </a:xfrm>
          <a:prstGeom prst="rect">
            <a:avLst/>
          </a:prstGeom>
          <a:noFill/>
          <a:ln/>
        </p:spPr>
        <p:txBody>
          <a:bodyPr wrap="square" lIns="0" tIns="0" rIns="0" bIns="0" rtlCol="0" anchor="ctr"/>
          <a:lstStyle/>
          <a:p>
            <a:pPr algn="ctr" indent="0" marL="0">
              <a:buNone/>
            </a:pPr>
            <a:r>
              <a:rPr lang="en-US" sz="900" dirty="0">
                <a:solidFill>
                  <a:srgbClr val="6B6880"/>
                </a:solidFill>
                <a:latin typeface="Calibri" pitchFamily="34" charset="0"/>
                <a:ea typeface="Calibri" pitchFamily="34" charset="-122"/>
                <a:cs typeface="Calibri" pitchFamily="34" charset="-120"/>
              </a:rPr>
              <a:t>9 Nov</a:t>
            </a:r>
            <a:endParaRPr lang="en-US" sz="900" dirty="0"/>
          </a:p>
        </p:txBody>
      </p:sp>
      <p:sp>
        <p:nvSpPr>
          <p:cNvPr id="26" name="Text 24"/>
          <p:cNvSpPr/>
          <p:nvPr/>
        </p:nvSpPr>
        <p:spPr>
          <a:xfrm>
            <a:off x="3561588" y="2011680"/>
            <a:ext cx="937260" cy="1143000"/>
          </a:xfrm>
          <a:prstGeom prst="rect">
            <a:avLst/>
          </a:prstGeom>
          <a:noFill/>
          <a:ln/>
        </p:spPr>
        <p:txBody>
          <a:bodyPr wrap="square" lIns="0" tIns="0" rIns="0" bIns="0" rtlCol="0" anchor="t">
            <a:normAutofit/>
          </a:bodyPr>
          <a:lstStyle/>
          <a:p>
            <a:pPr algn="ctr" indent="0" marL="0">
              <a:buNone/>
            </a:pPr>
            <a:r>
              <a:rPr lang="en-US" sz="900" dirty="0">
                <a:solidFill>
                  <a:srgbClr val="2B2840"/>
                </a:solidFill>
                <a:latin typeface="Calibri" pitchFamily="34" charset="0"/>
                <a:ea typeface="Calibri" pitchFamily="34" charset="-122"/>
                <a:cs typeface="Calibri" pitchFamily="34" charset="-120"/>
              </a:rPr>
              <a:t>Exploratory data analysis</a:t>
            </a:r>
            <a:endParaRPr lang="en-US" sz="900" dirty="0"/>
          </a:p>
        </p:txBody>
      </p:sp>
      <p:sp>
        <p:nvSpPr>
          <p:cNvPr id="27" name="Shape 25"/>
          <p:cNvSpPr/>
          <p:nvPr/>
        </p:nvSpPr>
        <p:spPr>
          <a:xfrm>
            <a:off x="4572000" y="1234440"/>
            <a:ext cx="973836" cy="457200"/>
          </a:xfrm>
          <a:prstGeom prst="rect">
            <a:avLst/>
          </a:prstGeom>
          <a:solidFill>
            <a:srgbClr val="E9A23B"/>
          </a:solidFill>
          <a:ln w="12700">
            <a:solidFill>
              <a:srgbClr val="E9A23B"/>
            </a:solidFill>
            <a:prstDash val="solid"/>
          </a:ln>
        </p:spPr>
      </p:sp>
      <p:sp>
        <p:nvSpPr>
          <p:cNvPr id="28" name="Text 26"/>
          <p:cNvSpPr/>
          <p:nvPr/>
        </p:nvSpPr>
        <p:spPr>
          <a:xfrm>
            <a:off x="4572000" y="1234440"/>
            <a:ext cx="97383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W5</a:t>
            </a:r>
            <a:endParaRPr lang="en-US" sz="1300" dirty="0"/>
          </a:p>
        </p:txBody>
      </p:sp>
      <p:sp>
        <p:nvSpPr>
          <p:cNvPr id="29" name="Text 27"/>
          <p:cNvSpPr/>
          <p:nvPr/>
        </p:nvSpPr>
        <p:spPr>
          <a:xfrm>
            <a:off x="4572000" y="1737360"/>
            <a:ext cx="973836" cy="228600"/>
          </a:xfrm>
          <a:prstGeom prst="rect">
            <a:avLst/>
          </a:prstGeom>
          <a:noFill/>
          <a:ln/>
        </p:spPr>
        <p:txBody>
          <a:bodyPr wrap="square" lIns="0" tIns="0" rIns="0" bIns="0" rtlCol="0" anchor="ctr"/>
          <a:lstStyle/>
          <a:p>
            <a:pPr algn="ctr" indent="0" marL="0">
              <a:buNone/>
            </a:pPr>
            <a:r>
              <a:rPr lang="en-US" sz="900" dirty="0">
                <a:solidFill>
                  <a:srgbClr val="6B6880"/>
                </a:solidFill>
                <a:latin typeface="Calibri" pitchFamily="34" charset="0"/>
                <a:ea typeface="Calibri" pitchFamily="34" charset="-122"/>
                <a:cs typeface="Calibri" pitchFamily="34" charset="-120"/>
              </a:rPr>
              <a:t>16 Nov</a:t>
            </a:r>
            <a:endParaRPr lang="en-US" sz="900" dirty="0"/>
          </a:p>
        </p:txBody>
      </p:sp>
      <p:sp>
        <p:nvSpPr>
          <p:cNvPr id="30" name="Text 28"/>
          <p:cNvSpPr/>
          <p:nvPr/>
        </p:nvSpPr>
        <p:spPr>
          <a:xfrm>
            <a:off x="4590288" y="2011680"/>
            <a:ext cx="937260" cy="1143000"/>
          </a:xfrm>
          <a:prstGeom prst="rect">
            <a:avLst/>
          </a:prstGeom>
          <a:noFill/>
          <a:ln/>
        </p:spPr>
        <p:txBody>
          <a:bodyPr wrap="square" lIns="0" tIns="0" rIns="0" bIns="0" rtlCol="0" anchor="t">
            <a:normAutofit/>
          </a:bodyPr>
          <a:lstStyle/>
          <a:p>
            <a:pPr algn="ctr" indent="0" marL="0">
              <a:buNone/>
            </a:pPr>
            <a:r>
              <a:rPr lang="en-US" sz="900" dirty="0">
                <a:solidFill>
                  <a:srgbClr val="2B2840"/>
                </a:solidFill>
                <a:latin typeface="Calibri" pitchFamily="34" charset="0"/>
                <a:ea typeface="Calibri" pitchFamily="34" charset="-122"/>
                <a:cs typeface="Calibri" pitchFamily="34" charset="-120"/>
              </a:rPr>
              <a:t>Regression and classification</a:t>
            </a:r>
            <a:endParaRPr lang="en-US" sz="900" dirty="0"/>
          </a:p>
        </p:txBody>
      </p:sp>
      <p:sp>
        <p:nvSpPr>
          <p:cNvPr id="31" name="Shape 29"/>
          <p:cNvSpPr/>
          <p:nvPr/>
        </p:nvSpPr>
        <p:spPr>
          <a:xfrm>
            <a:off x="4645152" y="3154680"/>
            <a:ext cx="827532" cy="329184"/>
          </a:xfrm>
          <a:prstGeom prst="roundRect">
            <a:avLst>
              <a:gd name="adj" fmla="val 22222"/>
            </a:avLst>
          </a:prstGeom>
          <a:solidFill>
            <a:srgbClr val="FFFFFF"/>
          </a:solidFill>
          <a:ln w="12700">
            <a:solidFill>
              <a:srgbClr val="312A63"/>
            </a:solidFill>
            <a:prstDash val="solid"/>
          </a:ln>
        </p:spPr>
      </p:sp>
      <p:sp>
        <p:nvSpPr>
          <p:cNvPr id="32" name="Text 30"/>
          <p:cNvSpPr/>
          <p:nvPr/>
        </p:nvSpPr>
        <p:spPr>
          <a:xfrm>
            <a:off x="4645152" y="3154680"/>
            <a:ext cx="827532" cy="329184"/>
          </a:xfrm>
          <a:prstGeom prst="rect">
            <a:avLst/>
          </a:prstGeom>
          <a:noFill/>
          <a:ln/>
        </p:spPr>
        <p:txBody>
          <a:bodyPr wrap="square" lIns="0" tIns="0" rIns="0" bIns="0" rtlCol="0" anchor="ctr"/>
          <a:lstStyle/>
          <a:p>
            <a:pPr algn="ctr" indent="0" marL="0">
              <a:buNone/>
            </a:pPr>
            <a:r>
              <a:rPr lang="en-US" sz="850" b="1" dirty="0">
                <a:solidFill>
                  <a:srgbClr val="312A63"/>
                </a:solidFill>
                <a:latin typeface="Calibri" pitchFamily="34" charset="0"/>
                <a:ea typeface="Calibri" pitchFamily="34" charset="-122"/>
                <a:cs typeface="Calibri" pitchFamily="34" charset="-120"/>
              </a:rPr>
              <a:t>Session</a:t>
            </a:r>
            <a:endParaRPr lang="en-US" sz="850" dirty="0"/>
          </a:p>
        </p:txBody>
      </p:sp>
      <p:sp>
        <p:nvSpPr>
          <p:cNvPr id="33" name="Shape 31"/>
          <p:cNvSpPr/>
          <p:nvPr/>
        </p:nvSpPr>
        <p:spPr>
          <a:xfrm>
            <a:off x="5600700" y="1234440"/>
            <a:ext cx="973836" cy="457200"/>
          </a:xfrm>
          <a:prstGeom prst="rect">
            <a:avLst/>
          </a:prstGeom>
          <a:solidFill>
            <a:srgbClr val="E9A23B"/>
          </a:solidFill>
          <a:ln w="12700">
            <a:solidFill>
              <a:srgbClr val="E9A23B"/>
            </a:solidFill>
            <a:prstDash val="solid"/>
          </a:ln>
        </p:spPr>
      </p:sp>
      <p:sp>
        <p:nvSpPr>
          <p:cNvPr id="34" name="Text 32"/>
          <p:cNvSpPr/>
          <p:nvPr/>
        </p:nvSpPr>
        <p:spPr>
          <a:xfrm>
            <a:off x="5600700" y="1234440"/>
            <a:ext cx="97383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W6</a:t>
            </a:r>
            <a:endParaRPr lang="en-US" sz="1300" dirty="0"/>
          </a:p>
        </p:txBody>
      </p:sp>
      <p:sp>
        <p:nvSpPr>
          <p:cNvPr id="35" name="Text 33"/>
          <p:cNvSpPr/>
          <p:nvPr/>
        </p:nvSpPr>
        <p:spPr>
          <a:xfrm>
            <a:off x="5600700" y="1737360"/>
            <a:ext cx="973836" cy="228600"/>
          </a:xfrm>
          <a:prstGeom prst="rect">
            <a:avLst/>
          </a:prstGeom>
          <a:noFill/>
          <a:ln/>
        </p:spPr>
        <p:txBody>
          <a:bodyPr wrap="square" lIns="0" tIns="0" rIns="0" bIns="0" rtlCol="0" anchor="ctr"/>
          <a:lstStyle/>
          <a:p>
            <a:pPr algn="ctr" indent="0" marL="0">
              <a:buNone/>
            </a:pPr>
            <a:r>
              <a:rPr lang="en-US" sz="900" dirty="0">
                <a:solidFill>
                  <a:srgbClr val="6B6880"/>
                </a:solidFill>
                <a:latin typeface="Calibri" pitchFamily="34" charset="0"/>
                <a:ea typeface="Calibri" pitchFamily="34" charset="-122"/>
                <a:cs typeface="Calibri" pitchFamily="34" charset="-120"/>
              </a:rPr>
              <a:t>23 Nov</a:t>
            </a:r>
            <a:endParaRPr lang="en-US" sz="900" dirty="0"/>
          </a:p>
        </p:txBody>
      </p:sp>
      <p:sp>
        <p:nvSpPr>
          <p:cNvPr id="36" name="Text 34"/>
          <p:cNvSpPr/>
          <p:nvPr/>
        </p:nvSpPr>
        <p:spPr>
          <a:xfrm>
            <a:off x="5618988" y="2011680"/>
            <a:ext cx="937260" cy="1143000"/>
          </a:xfrm>
          <a:prstGeom prst="rect">
            <a:avLst/>
          </a:prstGeom>
          <a:noFill/>
          <a:ln/>
        </p:spPr>
        <p:txBody>
          <a:bodyPr wrap="square" lIns="0" tIns="0" rIns="0" bIns="0" rtlCol="0" anchor="t">
            <a:normAutofit/>
          </a:bodyPr>
          <a:lstStyle/>
          <a:p>
            <a:pPr algn="ctr" indent="0" marL="0">
              <a:buNone/>
            </a:pPr>
            <a:r>
              <a:rPr lang="en-US" sz="900" dirty="0">
                <a:solidFill>
                  <a:srgbClr val="2B2840"/>
                </a:solidFill>
                <a:latin typeface="Calibri" pitchFamily="34" charset="0"/>
                <a:ea typeface="Calibri" pitchFamily="34" charset="-122"/>
                <a:cs typeface="Calibri" pitchFamily="34" charset="-120"/>
              </a:rPr>
              <a:t>Dimensionality reduction and clustering</a:t>
            </a:r>
            <a:endParaRPr lang="en-US" sz="900" dirty="0"/>
          </a:p>
        </p:txBody>
      </p:sp>
      <p:sp>
        <p:nvSpPr>
          <p:cNvPr id="37" name="Shape 35"/>
          <p:cNvSpPr/>
          <p:nvPr/>
        </p:nvSpPr>
        <p:spPr>
          <a:xfrm>
            <a:off x="5673852" y="2743200"/>
            <a:ext cx="827532" cy="329184"/>
          </a:xfrm>
          <a:prstGeom prst="roundRect">
            <a:avLst>
              <a:gd name="adj" fmla="val 22222"/>
            </a:avLst>
          </a:prstGeom>
          <a:solidFill>
            <a:srgbClr val="E55A5A"/>
          </a:solidFill>
          <a:ln w="12700">
            <a:solidFill>
              <a:srgbClr val="E55A5A"/>
            </a:solidFill>
            <a:prstDash val="solid"/>
          </a:ln>
        </p:spPr>
      </p:sp>
      <p:sp>
        <p:nvSpPr>
          <p:cNvPr id="38" name="Text 36"/>
          <p:cNvSpPr/>
          <p:nvPr/>
        </p:nvSpPr>
        <p:spPr>
          <a:xfrm>
            <a:off x="5673852" y="2743200"/>
            <a:ext cx="827532" cy="32918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Deliverable 2</a:t>
            </a:r>
            <a:endParaRPr lang="en-US" sz="850" dirty="0"/>
          </a:p>
        </p:txBody>
      </p:sp>
      <p:sp>
        <p:nvSpPr>
          <p:cNvPr id="39" name="Shape 37"/>
          <p:cNvSpPr/>
          <p:nvPr/>
        </p:nvSpPr>
        <p:spPr>
          <a:xfrm>
            <a:off x="6629400" y="1234440"/>
            <a:ext cx="973836" cy="457200"/>
          </a:xfrm>
          <a:prstGeom prst="rect">
            <a:avLst/>
          </a:prstGeom>
          <a:solidFill>
            <a:srgbClr val="6C63A8"/>
          </a:solidFill>
          <a:ln w="12700">
            <a:solidFill>
              <a:srgbClr val="6C63A8"/>
            </a:solidFill>
            <a:prstDash val="solid"/>
          </a:ln>
        </p:spPr>
      </p:sp>
      <p:sp>
        <p:nvSpPr>
          <p:cNvPr id="40" name="Text 38"/>
          <p:cNvSpPr/>
          <p:nvPr/>
        </p:nvSpPr>
        <p:spPr>
          <a:xfrm>
            <a:off x="6629400" y="1234440"/>
            <a:ext cx="97383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W7</a:t>
            </a:r>
            <a:endParaRPr lang="en-US" sz="1300" dirty="0"/>
          </a:p>
        </p:txBody>
      </p:sp>
      <p:sp>
        <p:nvSpPr>
          <p:cNvPr id="41" name="Text 39"/>
          <p:cNvSpPr/>
          <p:nvPr/>
        </p:nvSpPr>
        <p:spPr>
          <a:xfrm>
            <a:off x="6629400" y="1737360"/>
            <a:ext cx="973836" cy="228600"/>
          </a:xfrm>
          <a:prstGeom prst="rect">
            <a:avLst/>
          </a:prstGeom>
          <a:noFill/>
          <a:ln/>
        </p:spPr>
        <p:txBody>
          <a:bodyPr wrap="square" lIns="0" tIns="0" rIns="0" bIns="0" rtlCol="0" anchor="ctr"/>
          <a:lstStyle/>
          <a:p>
            <a:pPr algn="ctr" indent="0" marL="0">
              <a:buNone/>
            </a:pPr>
            <a:r>
              <a:rPr lang="en-US" sz="900" dirty="0">
                <a:solidFill>
                  <a:srgbClr val="6B6880"/>
                </a:solidFill>
                <a:latin typeface="Calibri" pitchFamily="34" charset="0"/>
                <a:ea typeface="Calibri" pitchFamily="34" charset="-122"/>
                <a:cs typeface="Calibri" pitchFamily="34" charset="-120"/>
              </a:rPr>
              <a:t>30 Nov</a:t>
            </a:r>
            <a:endParaRPr lang="en-US" sz="900" dirty="0"/>
          </a:p>
        </p:txBody>
      </p:sp>
      <p:sp>
        <p:nvSpPr>
          <p:cNvPr id="42" name="Text 40"/>
          <p:cNvSpPr/>
          <p:nvPr/>
        </p:nvSpPr>
        <p:spPr>
          <a:xfrm>
            <a:off x="6647688" y="2011680"/>
            <a:ext cx="937260" cy="1143000"/>
          </a:xfrm>
          <a:prstGeom prst="rect">
            <a:avLst/>
          </a:prstGeom>
          <a:noFill/>
          <a:ln/>
        </p:spPr>
        <p:txBody>
          <a:bodyPr wrap="square" lIns="0" tIns="0" rIns="0" bIns="0" rtlCol="0" anchor="t">
            <a:normAutofit/>
          </a:bodyPr>
          <a:lstStyle/>
          <a:p>
            <a:pPr algn="ctr" indent="0" marL="0">
              <a:buNone/>
            </a:pPr>
            <a:r>
              <a:rPr lang="en-US" sz="900" dirty="0">
                <a:solidFill>
                  <a:srgbClr val="2B2840"/>
                </a:solidFill>
                <a:latin typeface="Calibri" pitchFamily="34" charset="0"/>
                <a:ea typeface="Calibri" pitchFamily="34" charset="-122"/>
                <a:cs typeface="Calibri" pitchFamily="34" charset="-120"/>
              </a:rPr>
              <a:t>Dashboard, feedback and rehearsal</a:t>
            </a:r>
            <a:endParaRPr lang="en-US" sz="900" dirty="0"/>
          </a:p>
        </p:txBody>
      </p:sp>
      <p:sp>
        <p:nvSpPr>
          <p:cNvPr id="43" name="Shape 41"/>
          <p:cNvSpPr/>
          <p:nvPr/>
        </p:nvSpPr>
        <p:spPr>
          <a:xfrm>
            <a:off x="7658100" y="1234440"/>
            <a:ext cx="973836" cy="457200"/>
          </a:xfrm>
          <a:prstGeom prst="rect">
            <a:avLst/>
          </a:prstGeom>
          <a:solidFill>
            <a:srgbClr val="E55A5A"/>
          </a:solidFill>
          <a:ln w="12700">
            <a:solidFill>
              <a:srgbClr val="E55A5A"/>
            </a:solidFill>
            <a:prstDash val="solid"/>
          </a:ln>
        </p:spPr>
      </p:sp>
      <p:sp>
        <p:nvSpPr>
          <p:cNvPr id="44" name="Text 42"/>
          <p:cNvSpPr/>
          <p:nvPr/>
        </p:nvSpPr>
        <p:spPr>
          <a:xfrm>
            <a:off x="7658100" y="1234440"/>
            <a:ext cx="97383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W8</a:t>
            </a:r>
            <a:endParaRPr lang="en-US" sz="1300" dirty="0"/>
          </a:p>
        </p:txBody>
      </p:sp>
      <p:sp>
        <p:nvSpPr>
          <p:cNvPr id="45" name="Text 43"/>
          <p:cNvSpPr/>
          <p:nvPr/>
        </p:nvSpPr>
        <p:spPr>
          <a:xfrm>
            <a:off x="7658100" y="1737360"/>
            <a:ext cx="973836" cy="228600"/>
          </a:xfrm>
          <a:prstGeom prst="rect">
            <a:avLst/>
          </a:prstGeom>
          <a:noFill/>
          <a:ln/>
        </p:spPr>
        <p:txBody>
          <a:bodyPr wrap="square" lIns="0" tIns="0" rIns="0" bIns="0" rtlCol="0" anchor="ctr"/>
          <a:lstStyle/>
          <a:p>
            <a:pPr algn="ctr" indent="0" marL="0">
              <a:buNone/>
            </a:pPr>
            <a:r>
              <a:rPr lang="en-US" sz="900" dirty="0">
                <a:solidFill>
                  <a:srgbClr val="6B6880"/>
                </a:solidFill>
                <a:latin typeface="Calibri" pitchFamily="34" charset="0"/>
                <a:ea typeface="Calibri" pitchFamily="34" charset="-122"/>
                <a:cs typeface="Calibri" pitchFamily="34" charset="-120"/>
              </a:rPr>
              <a:t>7 Dec</a:t>
            </a:r>
            <a:endParaRPr lang="en-US" sz="900" dirty="0"/>
          </a:p>
        </p:txBody>
      </p:sp>
      <p:sp>
        <p:nvSpPr>
          <p:cNvPr id="46" name="Text 44"/>
          <p:cNvSpPr/>
          <p:nvPr/>
        </p:nvSpPr>
        <p:spPr>
          <a:xfrm>
            <a:off x="7676388" y="2011680"/>
            <a:ext cx="937260" cy="1143000"/>
          </a:xfrm>
          <a:prstGeom prst="rect">
            <a:avLst/>
          </a:prstGeom>
          <a:noFill/>
          <a:ln/>
        </p:spPr>
        <p:txBody>
          <a:bodyPr wrap="square" lIns="0" tIns="0" rIns="0" bIns="0" rtlCol="0" anchor="t">
            <a:normAutofit/>
          </a:bodyPr>
          <a:lstStyle/>
          <a:p>
            <a:pPr algn="ctr" indent="0" marL="0">
              <a:buNone/>
            </a:pPr>
            <a:r>
              <a:rPr lang="en-US" sz="900" dirty="0">
                <a:solidFill>
                  <a:srgbClr val="2B2840"/>
                </a:solidFill>
                <a:latin typeface="Calibri" pitchFamily="34" charset="0"/>
                <a:ea typeface="Calibri" pitchFamily="34" charset="-122"/>
                <a:cs typeface="Calibri" pitchFamily="34" charset="-120"/>
              </a:rPr>
              <a:t>Joint online presentation and reflection</a:t>
            </a:r>
            <a:endParaRPr lang="en-US" sz="900" dirty="0"/>
          </a:p>
        </p:txBody>
      </p:sp>
      <p:sp>
        <p:nvSpPr>
          <p:cNvPr id="47" name="Shape 45"/>
          <p:cNvSpPr/>
          <p:nvPr/>
        </p:nvSpPr>
        <p:spPr>
          <a:xfrm>
            <a:off x="7731252" y="2743200"/>
            <a:ext cx="827532" cy="329184"/>
          </a:xfrm>
          <a:prstGeom prst="roundRect">
            <a:avLst>
              <a:gd name="adj" fmla="val 22222"/>
            </a:avLst>
          </a:prstGeom>
          <a:solidFill>
            <a:srgbClr val="E55A5A"/>
          </a:solidFill>
          <a:ln w="12700">
            <a:solidFill>
              <a:srgbClr val="E55A5A"/>
            </a:solidFill>
            <a:prstDash val="solid"/>
          </a:ln>
        </p:spPr>
      </p:sp>
      <p:sp>
        <p:nvSpPr>
          <p:cNvPr id="48" name="Text 46"/>
          <p:cNvSpPr/>
          <p:nvPr/>
        </p:nvSpPr>
        <p:spPr>
          <a:xfrm>
            <a:off x="7731252" y="2743200"/>
            <a:ext cx="827532" cy="32918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Deliverable 3</a:t>
            </a:r>
            <a:endParaRPr lang="en-US" sz="850" dirty="0"/>
          </a:p>
        </p:txBody>
      </p:sp>
      <p:sp>
        <p:nvSpPr>
          <p:cNvPr id="49" name="Shape 47"/>
          <p:cNvSpPr/>
          <p:nvPr/>
        </p:nvSpPr>
        <p:spPr>
          <a:xfrm>
            <a:off x="7731252" y="3154680"/>
            <a:ext cx="827532" cy="329184"/>
          </a:xfrm>
          <a:prstGeom prst="roundRect">
            <a:avLst>
              <a:gd name="adj" fmla="val 22222"/>
            </a:avLst>
          </a:prstGeom>
          <a:solidFill>
            <a:srgbClr val="FFFFFF"/>
          </a:solidFill>
          <a:ln w="12700">
            <a:solidFill>
              <a:srgbClr val="312A63"/>
            </a:solidFill>
            <a:prstDash val="solid"/>
          </a:ln>
        </p:spPr>
      </p:sp>
      <p:sp>
        <p:nvSpPr>
          <p:cNvPr id="50" name="Text 48"/>
          <p:cNvSpPr/>
          <p:nvPr/>
        </p:nvSpPr>
        <p:spPr>
          <a:xfrm>
            <a:off x="7731252" y="3154680"/>
            <a:ext cx="827532" cy="329184"/>
          </a:xfrm>
          <a:prstGeom prst="rect">
            <a:avLst/>
          </a:prstGeom>
          <a:noFill/>
          <a:ln/>
        </p:spPr>
        <p:txBody>
          <a:bodyPr wrap="square" lIns="0" tIns="0" rIns="0" bIns="0" rtlCol="0" anchor="ctr"/>
          <a:lstStyle/>
          <a:p>
            <a:pPr algn="ctr" indent="0" marL="0">
              <a:buNone/>
            </a:pPr>
            <a:r>
              <a:rPr lang="en-US" sz="850" b="1" dirty="0">
                <a:solidFill>
                  <a:srgbClr val="312A63"/>
                </a:solidFill>
                <a:latin typeface="Calibri" pitchFamily="34" charset="0"/>
                <a:ea typeface="Calibri" pitchFamily="34" charset="-122"/>
                <a:cs typeface="Calibri" pitchFamily="34" charset="-120"/>
              </a:rPr>
              <a:t>Session</a:t>
            </a:r>
            <a:endParaRPr lang="en-US" sz="850" dirty="0"/>
          </a:p>
        </p:txBody>
      </p:sp>
      <p:sp>
        <p:nvSpPr>
          <p:cNvPr id="51" name="Text 49"/>
          <p:cNvSpPr/>
          <p:nvPr/>
        </p:nvSpPr>
        <p:spPr>
          <a:xfrm>
            <a:off x="457200" y="3749040"/>
            <a:ext cx="8229600" cy="457200"/>
          </a:xfrm>
          <a:prstGeom prst="rect">
            <a:avLst/>
          </a:prstGeom>
          <a:noFill/>
          <a:ln/>
        </p:spPr>
        <p:txBody>
          <a:bodyPr wrap="square" lIns="0" tIns="0" rIns="0" bIns="0" rtlCol="0" anchor="ctr"/>
          <a:lstStyle/>
          <a:p>
            <a:pPr indent="0" marL="0">
              <a:buNone/>
            </a:pPr>
            <a:r>
              <a:rPr lang="en-US" sz="1000" i="1" dirty="0">
                <a:solidFill>
                  <a:srgbClr val="6B6880"/>
                </a:solidFill>
                <a:latin typeface="Calibri" pitchFamily="34" charset="0"/>
                <a:ea typeface="Calibri" pitchFamily="34" charset="-122"/>
                <a:cs typeface="Calibri" pitchFamily="34" charset="-120"/>
              </a:rPr>
              <a:t>Phases: orientation · data · methods · communication · presentation. Dates are provisional until confirmed by the three universities; the website always shows the current version.</a:t>
            </a:r>
            <a:endParaRPr lang="en-US" sz="100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WHAT YOU SUBMIT</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Three deliverables, always Sunday, 23:59 CET</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Kick-off</a:t>
            </a:r>
            <a:endParaRPr lang="en-US" sz="850" dirty="0"/>
          </a:p>
        </p:txBody>
      </p:sp>
      <p:sp>
        <p:nvSpPr>
          <p:cNvPr id="5" name="Shape 3"/>
          <p:cNvSpPr/>
          <p:nvPr/>
        </p:nvSpPr>
        <p:spPr>
          <a:xfrm>
            <a:off x="457200" y="1234440"/>
            <a:ext cx="2606040" cy="3154680"/>
          </a:xfrm>
          <a:prstGeom prst="rect">
            <a:avLst/>
          </a:prstGeom>
          <a:solidFill>
            <a:srgbClr val="FFFFFF"/>
          </a:solidFill>
          <a:ln w="12700">
            <a:solidFill>
              <a:srgbClr val="DDDAE8"/>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457200" y="1234440"/>
            <a:ext cx="2606040" cy="685800"/>
          </a:xfrm>
          <a:prstGeom prst="rect">
            <a:avLst/>
          </a:prstGeom>
          <a:solidFill>
            <a:srgbClr val="312A63"/>
          </a:solidFill>
          <a:ln w="12700">
            <a:solidFill>
              <a:srgbClr val="312A63"/>
            </a:solidFill>
            <a:prstDash val="solid"/>
          </a:ln>
        </p:spPr>
      </p:sp>
      <p:sp>
        <p:nvSpPr>
          <p:cNvPr id="7" name="Text 5"/>
          <p:cNvSpPr/>
          <p:nvPr/>
        </p:nvSpPr>
        <p:spPr>
          <a:xfrm>
            <a:off x="594360" y="1234440"/>
            <a:ext cx="457200" cy="685800"/>
          </a:xfrm>
          <a:prstGeom prst="rect">
            <a:avLst/>
          </a:prstGeom>
          <a:noFill/>
          <a:ln/>
        </p:spPr>
        <p:txBody>
          <a:bodyPr wrap="square" lIns="0" tIns="0" rIns="0" bIns="0" rtlCol="0" anchor="ctr"/>
          <a:lstStyle/>
          <a:p>
            <a:pPr indent="0" marL="0">
              <a:buNone/>
            </a:pPr>
            <a:r>
              <a:rPr lang="en-US" sz="3000" b="1" dirty="0">
                <a:solidFill>
                  <a:srgbClr val="E55A5A"/>
                </a:solidFill>
                <a:latin typeface="Georgia" pitchFamily="34" charset="0"/>
                <a:ea typeface="Georgia" pitchFamily="34" charset="-122"/>
                <a:cs typeface="Georgia" pitchFamily="34" charset="-120"/>
              </a:rPr>
              <a:t>1</a:t>
            </a:r>
            <a:endParaRPr lang="en-US" sz="3000" dirty="0"/>
          </a:p>
        </p:txBody>
      </p:sp>
      <p:sp>
        <p:nvSpPr>
          <p:cNvPr id="8" name="Text 6"/>
          <p:cNvSpPr/>
          <p:nvPr/>
        </p:nvSpPr>
        <p:spPr>
          <a:xfrm>
            <a:off x="1051560" y="1280160"/>
            <a:ext cx="1920240" cy="5943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Week 2</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Sunday 1 November</a:t>
            </a:r>
            <a:endParaRPr lang="en-US" sz="1100" dirty="0"/>
          </a:p>
        </p:txBody>
      </p:sp>
      <p:sp>
        <p:nvSpPr>
          <p:cNvPr id="9" name="Text 7"/>
          <p:cNvSpPr/>
          <p:nvPr/>
        </p:nvSpPr>
        <p:spPr>
          <a:xfrm>
            <a:off x="594360" y="2011680"/>
            <a:ext cx="2331720" cy="548640"/>
          </a:xfrm>
          <a:prstGeom prst="rect">
            <a:avLst/>
          </a:prstGeom>
          <a:noFill/>
          <a:ln/>
        </p:spPr>
        <p:txBody>
          <a:bodyPr wrap="square" lIns="0" tIns="0" rIns="0" bIns="0" rtlCol="0" anchor="t"/>
          <a:lstStyle/>
          <a:p>
            <a:pPr indent="0" marL="0">
              <a:buNone/>
            </a:pPr>
            <a:r>
              <a:rPr lang="en-US" sz="1300" b="1" dirty="0">
                <a:solidFill>
                  <a:srgbClr val="312A63"/>
                </a:solidFill>
                <a:latin typeface="Calibri" pitchFamily="34" charset="0"/>
                <a:ea typeface="Calibri" pitchFamily="34" charset="-122"/>
                <a:cs typeface="Calibri" pitchFamily="34" charset="-120"/>
              </a:rPr>
              <a:t>Team charter and topic proposal</a:t>
            </a:r>
            <a:endParaRPr lang="en-US" sz="1300" dirty="0"/>
          </a:p>
        </p:txBody>
      </p:sp>
      <p:sp>
        <p:nvSpPr>
          <p:cNvPr id="10" name="Text 8"/>
          <p:cNvSpPr/>
          <p:nvPr/>
        </p:nvSpPr>
        <p:spPr>
          <a:xfrm>
            <a:off x="594360" y="2606040"/>
            <a:ext cx="2331720" cy="1691640"/>
          </a:xfrm>
          <a:prstGeom prst="rect">
            <a:avLst/>
          </a:prstGeom>
          <a:noFill/>
          <a:ln/>
        </p:spPr>
        <p:txBody>
          <a:bodyPr wrap="square" lIns="0" tIns="0" rIns="0" bIns="0" rtlCol="0" anchor="t">
            <a:normAutofit/>
          </a:bodyPr>
          <a:lstStyle/>
          <a:p>
            <a:pPr indent="0" marL="0">
              <a:buNone/>
            </a:pPr>
            <a:r>
              <a:rPr lang="en-US" sz="1000" b="1" dirty="0">
                <a:solidFill>
                  <a:srgbClr val="2B2840"/>
                </a:solidFill>
                <a:latin typeface="Calibri" pitchFamily="34" charset="0"/>
                <a:ea typeface="Calibri" pitchFamily="34" charset="-122"/>
                <a:cs typeface="Calibri" pitchFamily="34" charset="-120"/>
              </a:rPr>
              <a:t>Who: </a:t>
            </a:r>
            <a:pPr indent="0" marL="0">
              <a:buNone/>
            </a:pPr>
            <a:r>
              <a:rPr lang="en-US" sz="1000" dirty="0">
                <a:solidFill>
                  <a:srgbClr val="2B2840"/>
                </a:solidFill>
                <a:latin typeface="Calibri" pitchFamily="34" charset="0"/>
                <a:ea typeface="Calibri" pitchFamily="34" charset="-122"/>
                <a:cs typeface="Calibri" pitchFamily="34" charset="-120"/>
              </a:rPr>
              <a:t>Team</a:t>
            </a:r>
            <a:endParaRPr lang="en-US" sz="1000" dirty="0"/>
          </a:p>
          <a:p>
            <a:pPr indent="0" marL="0">
              <a:buNone/>
            </a:pPr>
            <a:r>
              <a:rPr lang="en-US" sz="1000" b="1" dirty="0">
                <a:solidFill>
                  <a:srgbClr val="2B2840"/>
                </a:solidFill>
                <a:latin typeface="Calibri" pitchFamily="34" charset="0"/>
                <a:ea typeface="Calibri" pitchFamily="34" charset="-122"/>
                <a:cs typeface="Calibri" pitchFamily="34" charset="-120"/>
              </a:rPr>
              <a:t>Format: </a:t>
            </a:r>
            <a:pPr indent="0" marL="0">
              <a:buNone/>
            </a:pPr>
            <a:r>
              <a:rPr lang="en-US" sz="1000" dirty="0">
                <a:solidFill>
                  <a:srgbClr val="2B2840"/>
                </a:solidFill>
                <a:latin typeface="Calibri" pitchFamily="34" charset="0"/>
                <a:ea typeface="Calibri" pitchFamily="34" charset="-122"/>
                <a:cs typeface="Calibri" pitchFamily="34" charset="-120"/>
              </a:rPr>
              <a:t>One PDF, maximum 2 pages (use the templates in the Submit section)</a:t>
            </a:r>
            <a:endParaRPr lang="en-US" sz="1000" dirty="0"/>
          </a:p>
        </p:txBody>
      </p:sp>
      <p:sp>
        <p:nvSpPr>
          <p:cNvPr id="11" name="Shape 9"/>
          <p:cNvSpPr/>
          <p:nvPr/>
        </p:nvSpPr>
        <p:spPr>
          <a:xfrm>
            <a:off x="3246120" y="1234440"/>
            <a:ext cx="2606040" cy="3154680"/>
          </a:xfrm>
          <a:prstGeom prst="rect">
            <a:avLst/>
          </a:prstGeom>
          <a:solidFill>
            <a:srgbClr val="FFFFFF"/>
          </a:solidFill>
          <a:ln w="12700">
            <a:solidFill>
              <a:srgbClr val="DDDAE8"/>
            </a:solidFill>
            <a:prstDash val="solid"/>
          </a:ln>
          <a:effectLst>
            <a:outerShdw sx="100000" sy="100000" kx="0" ky="0" algn="bl" rotWithShape="0" blurRad="101600" dist="25400" dir="5400000">
              <a:srgbClr val="000000">
                <a:alpha val="12000"/>
              </a:srgbClr>
            </a:outerShdw>
          </a:effectLst>
        </p:spPr>
      </p:sp>
      <p:sp>
        <p:nvSpPr>
          <p:cNvPr id="12" name="Shape 10"/>
          <p:cNvSpPr/>
          <p:nvPr/>
        </p:nvSpPr>
        <p:spPr>
          <a:xfrm>
            <a:off x="3246120" y="1234440"/>
            <a:ext cx="2606040" cy="685800"/>
          </a:xfrm>
          <a:prstGeom prst="rect">
            <a:avLst/>
          </a:prstGeom>
          <a:solidFill>
            <a:srgbClr val="312A63"/>
          </a:solidFill>
          <a:ln w="12700">
            <a:solidFill>
              <a:srgbClr val="312A63"/>
            </a:solidFill>
            <a:prstDash val="solid"/>
          </a:ln>
        </p:spPr>
      </p:sp>
      <p:sp>
        <p:nvSpPr>
          <p:cNvPr id="13" name="Text 11"/>
          <p:cNvSpPr/>
          <p:nvPr/>
        </p:nvSpPr>
        <p:spPr>
          <a:xfrm>
            <a:off x="3383280" y="1234440"/>
            <a:ext cx="457200" cy="685800"/>
          </a:xfrm>
          <a:prstGeom prst="rect">
            <a:avLst/>
          </a:prstGeom>
          <a:noFill/>
          <a:ln/>
        </p:spPr>
        <p:txBody>
          <a:bodyPr wrap="square" lIns="0" tIns="0" rIns="0" bIns="0" rtlCol="0" anchor="ctr"/>
          <a:lstStyle/>
          <a:p>
            <a:pPr indent="0" marL="0">
              <a:buNone/>
            </a:pPr>
            <a:r>
              <a:rPr lang="en-US" sz="3000" b="1" dirty="0">
                <a:solidFill>
                  <a:srgbClr val="E55A5A"/>
                </a:solidFill>
                <a:latin typeface="Georgia" pitchFamily="34" charset="0"/>
                <a:ea typeface="Georgia" pitchFamily="34" charset="-122"/>
                <a:cs typeface="Georgia" pitchFamily="34" charset="-120"/>
              </a:rPr>
              <a:t>2</a:t>
            </a:r>
            <a:endParaRPr lang="en-US" sz="3000" dirty="0"/>
          </a:p>
        </p:txBody>
      </p:sp>
      <p:sp>
        <p:nvSpPr>
          <p:cNvPr id="14" name="Text 12"/>
          <p:cNvSpPr/>
          <p:nvPr/>
        </p:nvSpPr>
        <p:spPr>
          <a:xfrm>
            <a:off x="3840480" y="1280160"/>
            <a:ext cx="1920240" cy="5943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Week 6</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Sunday 29 November</a:t>
            </a:r>
            <a:endParaRPr lang="en-US" sz="1100" dirty="0"/>
          </a:p>
        </p:txBody>
      </p:sp>
      <p:sp>
        <p:nvSpPr>
          <p:cNvPr id="15" name="Text 13"/>
          <p:cNvSpPr/>
          <p:nvPr/>
        </p:nvSpPr>
        <p:spPr>
          <a:xfrm>
            <a:off x="3383280" y="2011680"/>
            <a:ext cx="2331720" cy="548640"/>
          </a:xfrm>
          <a:prstGeom prst="rect">
            <a:avLst/>
          </a:prstGeom>
          <a:noFill/>
          <a:ln/>
        </p:spPr>
        <p:txBody>
          <a:bodyPr wrap="square" lIns="0" tIns="0" rIns="0" bIns="0" rtlCol="0" anchor="t"/>
          <a:lstStyle/>
          <a:p>
            <a:pPr indent="0" marL="0">
              <a:buNone/>
            </a:pPr>
            <a:r>
              <a:rPr lang="en-US" sz="1300" b="1" dirty="0">
                <a:solidFill>
                  <a:srgbClr val="312A63"/>
                </a:solidFill>
                <a:latin typeface="Calibri" pitchFamily="34" charset="0"/>
                <a:ea typeface="Calibri" pitchFamily="34" charset="-122"/>
                <a:cs typeface="Calibri" pitchFamily="34" charset="-120"/>
              </a:rPr>
              <a:t>Analysis notebook</a:t>
            </a:r>
            <a:endParaRPr lang="en-US" sz="1300" dirty="0"/>
          </a:p>
        </p:txBody>
      </p:sp>
      <p:sp>
        <p:nvSpPr>
          <p:cNvPr id="16" name="Text 14"/>
          <p:cNvSpPr/>
          <p:nvPr/>
        </p:nvSpPr>
        <p:spPr>
          <a:xfrm>
            <a:off x="3383280" y="2606040"/>
            <a:ext cx="2331720" cy="1691640"/>
          </a:xfrm>
          <a:prstGeom prst="rect">
            <a:avLst/>
          </a:prstGeom>
          <a:noFill/>
          <a:ln/>
        </p:spPr>
        <p:txBody>
          <a:bodyPr wrap="square" lIns="0" tIns="0" rIns="0" bIns="0" rtlCol="0" anchor="t">
            <a:normAutofit/>
          </a:bodyPr>
          <a:lstStyle/>
          <a:p>
            <a:pPr indent="0" marL="0">
              <a:buNone/>
            </a:pPr>
            <a:r>
              <a:rPr lang="en-US" sz="1000" b="1" dirty="0">
                <a:solidFill>
                  <a:srgbClr val="2B2840"/>
                </a:solidFill>
                <a:latin typeface="Calibri" pitchFamily="34" charset="0"/>
                <a:ea typeface="Calibri" pitchFamily="34" charset="-122"/>
                <a:cs typeface="Calibri" pitchFamily="34" charset="-120"/>
              </a:rPr>
              <a:t>Who: </a:t>
            </a:r>
            <a:pPr indent="0" marL="0">
              <a:buNone/>
            </a:pPr>
            <a:r>
              <a:rPr lang="en-US" sz="1000" dirty="0">
                <a:solidFill>
                  <a:srgbClr val="2B2840"/>
                </a:solidFill>
                <a:latin typeface="Calibri" pitchFamily="34" charset="0"/>
                <a:ea typeface="Calibri" pitchFamily="34" charset="-122"/>
                <a:cs typeface="Calibri" pitchFamily="34" charset="-120"/>
              </a:rPr>
              <a:t>Team</a:t>
            </a:r>
            <a:endParaRPr lang="en-US" sz="1000" dirty="0"/>
          </a:p>
          <a:p>
            <a:pPr indent="0" marL="0">
              <a:buNone/>
            </a:pPr>
            <a:r>
              <a:rPr lang="en-US" sz="1000" b="1" dirty="0">
                <a:solidFill>
                  <a:srgbClr val="2B2840"/>
                </a:solidFill>
                <a:latin typeface="Calibri" pitchFamily="34" charset="0"/>
                <a:ea typeface="Calibri" pitchFamily="34" charset="-122"/>
                <a:cs typeface="Calibri" pitchFamily="34" charset="-120"/>
              </a:rPr>
              <a:t>Format: </a:t>
            </a:r>
            <a:pPr indent="0" marL="0">
              <a:buNone/>
            </a:pPr>
            <a:r>
              <a:rPr lang="en-US" sz="1000" dirty="0">
                <a:solidFill>
                  <a:srgbClr val="2B2840"/>
                </a:solidFill>
                <a:latin typeface="Calibri" pitchFamily="34" charset="0"/>
                <a:ea typeface="Calibri" pitchFamily="34" charset="-122"/>
                <a:cs typeface="Calibri" pitchFamily="34" charset="-120"/>
              </a:rPr>
              <a:t>Your analysis file (Python or R notebook, Gretl script or session, or Power BI file) + a PDF or HTML report with all results + your dataset (CSV or Excel)</a:t>
            </a:r>
            <a:endParaRPr lang="en-US" sz="1000" dirty="0"/>
          </a:p>
        </p:txBody>
      </p:sp>
      <p:sp>
        <p:nvSpPr>
          <p:cNvPr id="17" name="Shape 15"/>
          <p:cNvSpPr/>
          <p:nvPr/>
        </p:nvSpPr>
        <p:spPr>
          <a:xfrm>
            <a:off x="6035040" y="1234440"/>
            <a:ext cx="2606040" cy="3154680"/>
          </a:xfrm>
          <a:prstGeom prst="rect">
            <a:avLst/>
          </a:prstGeom>
          <a:solidFill>
            <a:srgbClr val="FFFFFF"/>
          </a:solidFill>
          <a:ln w="12700">
            <a:solidFill>
              <a:srgbClr val="DDDAE8"/>
            </a:solidFill>
            <a:prstDash val="solid"/>
          </a:ln>
          <a:effectLst>
            <a:outerShdw sx="100000" sy="100000" kx="0" ky="0" algn="bl" rotWithShape="0" blurRad="101600" dist="25400" dir="5400000">
              <a:srgbClr val="000000">
                <a:alpha val="12000"/>
              </a:srgbClr>
            </a:outerShdw>
          </a:effectLst>
        </p:spPr>
      </p:sp>
      <p:sp>
        <p:nvSpPr>
          <p:cNvPr id="18" name="Shape 16"/>
          <p:cNvSpPr/>
          <p:nvPr/>
        </p:nvSpPr>
        <p:spPr>
          <a:xfrm>
            <a:off x="6035040" y="1234440"/>
            <a:ext cx="2606040" cy="685800"/>
          </a:xfrm>
          <a:prstGeom prst="rect">
            <a:avLst/>
          </a:prstGeom>
          <a:solidFill>
            <a:srgbClr val="312A63"/>
          </a:solidFill>
          <a:ln w="12700">
            <a:solidFill>
              <a:srgbClr val="312A63"/>
            </a:solidFill>
            <a:prstDash val="solid"/>
          </a:ln>
        </p:spPr>
      </p:sp>
      <p:sp>
        <p:nvSpPr>
          <p:cNvPr id="19" name="Text 17"/>
          <p:cNvSpPr/>
          <p:nvPr/>
        </p:nvSpPr>
        <p:spPr>
          <a:xfrm>
            <a:off x="6172200" y="1234440"/>
            <a:ext cx="457200" cy="685800"/>
          </a:xfrm>
          <a:prstGeom prst="rect">
            <a:avLst/>
          </a:prstGeom>
          <a:noFill/>
          <a:ln/>
        </p:spPr>
        <p:txBody>
          <a:bodyPr wrap="square" lIns="0" tIns="0" rIns="0" bIns="0" rtlCol="0" anchor="ctr"/>
          <a:lstStyle/>
          <a:p>
            <a:pPr indent="0" marL="0">
              <a:buNone/>
            </a:pPr>
            <a:r>
              <a:rPr lang="en-US" sz="3000" b="1" dirty="0">
                <a:solidFill>
                  <a:srgbClr val="E55A5A"/>
                </a:solidFill>
                <a:latin typeface="Georgia" pitchFamily="34" charset="0"/>
                <a:ea typeface="Georgia" pitchFamily="34" charset="-122"/>
                <a:cs typeface="Georgia" pitchFamily="34" charset="-120"/>
              </a:rPr>
              <a:t>3</a:t>
            </a:r>
            <a:endParaRPr lang="en-US" sz="3000" dirty="0"/>
          </a:p>
        </p:txBody>
      </p:sp>
      <p:sp>
        <p:nvSpPr>
          <p:cNvPr id="20" name="Text 18"/>
          <p:cNvSpPr/>
          <p:nvPr/>
        </p:nvSpPr>
        <p:spPr>
          <a:xfrm>
            <a:off x="6629400" y="1280160"/>
            <a:ext cx="1920240" cy="5943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Week 8</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Sunday 13 December</a:t>
            </a:r>
            <a:endParaRPr lang="en-US" sz="1100" dirty="0"/>
          </a:p>
        </p:txBody>
      </p:sp>
      <p:sp>
        <p:nvSpPr>
          <p:cNvPr id="21" name="Text 19"/>
          <p:cNvSpPr/>
          <p:nvPr/>
        </p:nvSpPr>
        <p:spPr>
          <a:xfrm>
            <a:off x="6172200" y="2011680"/>
            <a:ext cx="2331720" cy="548640"/>
          </a:xfrm>
          <a:prstGeom prst="rect">
            <a:avLst/>
          </a:prstGeom>
          <a:noFill/>
          <a:ln/>
        </p:spPr>
        <p:txBody>
          <a:bodyPr wrap="square" lIns="0" tIns="0" rIns="0" bIns="0" rtlCol="0" anchor="t"/>
          <a:lstStyle/>
          <a:p>
            <a:pPr indent="0" marL="0">
              <a:buNone/>
            </a:pPr>
            <a:r>
              <a:rPr lang="en-US" sz="1300" b="1" dirty="0">
                <a:solidFill>
                  <a:srgbClr val="312A63"/>
                </a:solidFill>
                <a:latin typeface="Calibri" pitchFamily="34" charset="0"/>
                <a:ea typeface="Calibri" pitchFamily="34" charset="-122"/>
                <a:cs typeface="Calibri" pitchFamily="34" charset="-120"/>
              </a:rPr>
              <a:t>Final dashboard, presentation and final reflection</a:t>
            </a:r>
            <a:endParaRPr lang="en-US" sz="1300" dirty="0"/>
          </a:p>
        </p:txBody>
      </p:sp>
      <p:sp>
        <p:nvSpPr>
          <p:cNvPr id="22" name="Text 20"/>
          <p:cNvSpPr/>
          <p:nvPr/>
        </p:nvSpPr>
        <p:spPr>
          <a:xfrm>
            <a:off x="6172200" y="2606040"/>
            <a:ext cx="2331720" cy="1691640"/>
          </a:xfrm>
          <a:prstGeom prst="rect">
            <a:avLst/>
          </a:prstGeom>
          <a:noFill/>
          <a:ln/>
        </p:spPr>
        <p:txBody>
          <a:bodyPr wrap="square" lIns="0" tIns="0" rIns="0" bIns="0" rtlCol="0" anchor="t">
            <a:normAutofit/>
          </a:bodyPr>
          <a:lstStyle/>
          <a:p>
            <a:pPr indent="0" marL="0">
              <a:buNone/>
            </a:pPr>
            <a:r>
              <a:rPr lang="en-US" sz="1000" b="1" dirty="0">
                <a:solidFill>
                  <a:srgbClr val="2B2840"/>
                </a:solidFill>
                <a:latin typeface="Calibri" pitchFamily="34" charset="0"/>
                <a:ea typeface="Calibri" pitchFamily="34" charset="-122"/>
                <a:cs typeface="Calibri" pitchFamily="34" charset="-120"/>
              </a:rPr>
              <a:t>Who: </a:t>
            </a:r>
            <a:pPr indent="0" marL="0">
              <a:buNone/>
            </a:pPr>
            <a:r>
              <a:rPr lang="en-US" sz="1000" dirty="0">
                <a:solidFill>
                  <a:srgbClr val="2B2840"/>
                </a:solidFill>
                <a:latin typeface="Calibri" pitchFamily="34" charset="0"/>
                <a:ea typeface="Calibri" pitchFamily="34" charset="-122"/>
                <a:cs typeface="Calibri" pitchFamily="34" charset="-120"/>
              </a:rPr>
              <a:t>Team (dashboard, slides and presentation) + individual (reflection)</a:t>
            </a:r>
            <a:endParaRPr lang="en-US" sz="1000" dirty="0"/>
          </a:p>
          <a:p>
            <a:pPr indent="0" marL="0">
              <a:buNone/>
            </a:pPr>
            <a:r>
              <a:rPr lang="en-US" sz="1000" b="1" dirty="0">
                <a:solidFill>
                  <a:srgbClr val="2B2840"/>
                </a:solidFill>
                <a:latin typeface="Calibri" pitchFamily="34" charset="0"/>
                <a:ea typeface="Calibri" pitchFamily="34" charset="-122"/>
                <a:cs typeface="Calibri" pitchFamily="34" charset="-120"/>
              </a:rPr>
              <a:t>Format: </a:t>
            </a:r>
            <a:pPr indent="0" marL="0">
              <a:buNone/>
            </a:pPr>
            <a:r>
              <a:rPr lang="en-US" sz="1000" dirty="0">
                <a:solidFill>
                  <a:srgbClr val="2B2840"/>
                </a:solidFill>
                <a:latin typeface="Calibri" pitchFamily="34" charset="0"/>
                <a:ea typeface="Calibri" pitchFamily="34" charset="-122"/>
                <a:cs typeface="Calibri" pitchFamily="34" charset="-120"/>
              </a:rPr>
              <a:t>Dashboard link or PDF + slides (maximum 6 slides, 5-minute presentation) + one-page PDF reflection</a:t>
            </a:r>
            <a:endParaRPr lang="en-US" sz="1000" dirty="0"/>
          </a:p>
        </p:txBody>
      </p:sp>
      <p:sp>
        <p:nvSpPr>
          <p:cNvPr id="23" name="Text 21"/>
          <p:cNvSpPr/>
          <p:nvPr/>
        </p:nvSpPr>
        <p:spPr>
          <a:xfrm>
            <a:off x="457200" y="4480560"/>
            <a:ext cx="8229600" cy="274320"/>
          </a:xfrm>
          <a:prstGeom prst="rect">
            <a:avLst/>
          </a:prstGeom>
          <a:noFill/>
          <a:ln/>
        </p:spPr>
        <p:txBody>
          <a:bodyPr wrap="square" lIns="0" tIns="0" rIns="0" bIns="0" rtlCol="0" anchor="ctr"/>
          <a:lstStyle/>
          <a:p>
            <a:pPr indent="0" marL="0">
              <a:buNone/>
            </a:pPr>
            <a:r>
              <a:rPr lang="en-US" sz="1050" i="1" dirty="0">
                <a:solidFill>
                  <a:srgbClr val="6B6880"/>
                </a:solidFill>
                <a:latin typeface="Calibri" pitchFamily="34" charset="0"/>
                <a:ea typeface="Calibri" pitchFamily="34" charset="-122"/>
                <a:cs typeface="Calibri" pitchFamily="34" charset="-120"/>
              </a:rPr>
              <a:t>Submit with the Submit button of each deliverable on the website. The full list of what each deliverable must include is in the schedule and the student guide.</a:t>
            </a:r>
            <a:endParaRPr lang="en-US" sz="105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DUE SUNDAY 1 NOVEMBER, 23:59 CET</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Deliverable 1 · Team charter and topic proposal</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Kick-off</a:t>
            </a:r>
            <a:endParaRPr lang="en-US" sz="850" dirty="0"/>
          </a:p>
        </p:txBody>
      </p:sp>
      <p:sp>
        <p:nvSpPr>
          <p:cNvPr id="5" name="Shape 3"/>
          <p:cNvSpPr/>
          <p:nvPr/>
        </p:nvSpPr>
        <p:spPr>
          <a:xfrm>
            <a:off x="457200" y="1188720"/>
            <a:ext cx="5120640" cy="3383280"/>
          </a:xfrm>
          <a:prstGeom prst="rect">
            <a:avLst/>
          </a:prstGeom>
          <a:solidFill>
            <a:srgbClr val="FFFFFF"/>
          </a:solidFill>
          <a:ln w="9525">
            <a:solidFill>
              <a:srgbClr val="DDDAE8"/>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457200" y="1188720"/>
            <a:ext cx="64008" cy="3383280"/>
          </a:xfrm>
          <a:prstGeom prst="rect">
            <a:avLst/>
          </a:prstGeom>
          <a:solidFill>
            <a:srgbClr val="E55A5A"/>
          </a:solidFill>
          <a:ln w="12700">
            <a:solidFill>
              <a:srgbClr val="E55A5A"/>
            </a:solidFill>
            <a:prstDash val="solid"/>
          </a:ln>
        </p:spPr>
      </p:sp>
      <p:sp>
        <p:nvSpPr>
          <p:cNvPr id="7" name="Text 5"/>
          <p:cNvSpPr/>
          <p:nvPr/>
        </p:nvSpPr>
        <p:spPr>
          <a:xfrm>
            <a:off x="658368" y="1298448"/>
            <a:ext cx="4800600" cy="292608"/>
          </a:xfrm>
          <a:prstGeom prst="rect">
            <a:avLst/>
          </a:prstGeom>
          <a:noFill/>
          <a:ln/>
        </p:spPr>
        <p:txBody>
          <a:bodyPr wrap="square" lIns="0" tIns="0" rIns="0" bIns="0" rtlCol="0" anchor="t">
            <a:normAutofit/>
          </a:bodyPr>
          <a:lstStyle/>
          <a:p>
            <a:pPr indent="0" marL="0">
              <a:buNone/>
            </a:pPr>
            <a:r>
              <a:rPr lang="en-US" sz="1300" b="1" dirty="0">
                <a:solidFill>
                  <a:srgbClr val="312A63"/>
                </a:solidFill>
                <a:latin typeface="Calibri" pitchFamily="34" charset="0"/>
                <a:ea typeface="Calibri" pitchFamily="34" charset="-122"/>
                <a:cs typeface="Calibri" pitchFamily="34" charset="-120"/>
              </a:rPr>
              <a:t>It must include</a:t>
            </a:r>
            <a:endParaRPr lang="en-US" sz="1300" dirty="0"/>
          </a:p>
        </p:txBody>
      </p:sp>
      <p:sp>
        <p:nvSpPr>
          <p:cNvPr id="8" name="Text 6"/>
          <p:cNvSpPr/>
          <p:nvPr/>
        </p:nvSpPr>
        <p:spPr>
          <a:xfrm>
            <a:off x="658368" y="1645920"/>
            <a:ext cx="4800600" cy="2852928"/>
          </a:xfrm>
          <a:prstGeom prst="rect">
            <a:avLst/>
          </a:prstGeom>
          <a:noFill/>
          <a:ln/>
        </p:spPr>
        <p:txBody>
          <a:bodyPr wrap="square" lIns="0" tIns="0" rIns="0" bIns="0" rtlCol="0" anchor="t">
            <a:normAutofit/>
          </a:bodyPr>
          <a:lstStyle/>
          <a:p>
            <a:pPr marL="152400" indent="-152400">
              <a:spcAft>
                <a:spcPts val="300"/>
              </a:spcAft>
              <a:buSzPct val="100000"/>
              <a:buChar char="•"/>
            </a:pPr>
            <a:r>
              <a:rPr lang="en-US" sz="1150" dirty="0">
                <a:solidFill>
                  <a:srgbClr val="2B2840"/>
                </a:solidFill>
                <a:latin typeface="Calibri" pitchFamily="34" charset="0"/>
                <a:ea typeface="Calibri" pitchFamily="34" charset="-122"/>
                <a:cs typeface="Calibri" pitchFamily="34" charset="-120"/>
              </a:rPr>
              <a:t>Team charter: team name, members and universities, roles, communication channel, weekly meeting time, how you take decisions, what you do if someone does not contribute.</a:t>
            </a:r>
            <a:endParaRPr lang="en-US" sz="1150" dirty="0"/>
          </a:p>
          <a:p>
            <a:pPr marL="152400" indent="-152400">
              <a:spcAft>
                <a:spcPts val="300"/>
              </a:spcAft>
              <a:buSzPct val="100000"/>
              <a:buChar char="•"/>
            </a:pPr>
            <a:r>
              <a:rPr lang="en-US" sz="1150" dirty="0">
                <a:solidFill>
                  <a:srgbClr val="2B2840"/>
                </a:solidFill>
                <a:latin typeface="Calibri" pitchFamily="34" charset="0"/>
                <a:ea typeface="Calibri" pitchFamily="34" charset="-122"/>
                <a:cs typeface="Calibri" pitchFamily="34" charset="-120"/>
              </a:rPr>
              <a:t>Topic proposal: research question, why it matters for Spain, Slovakia and Montenegro, 3–6 indicators from the COIL dataset (with their codes), countries and years, and the methods you expect to use.</a:t>
            </a:r>
            <a:endParaRPr lang="en-US" sz="1150" dirty="0"/>
          </a:p>
          <a:p>
            <a:pPr marL="152400" indent="-152400">
              <a:spcAft>
                <a:spcPts val="300"/>
              </a:spcAft>
              <a:buSzPct val="100000"/>
              <a:buChar char="•"/>
            </a:pPr>
            <a:r>
              <a:rPr lang="en-US" sz="1150" dirty="0">
                <a:solidFill>
                  <a:srgbClr val="2B2840"/>
                </a:solidFill>
                <a:latin typeface="Calibri" pitchFamily="34" charset="0"/>
                <a:ea typeface="Calibri" pitchFamily="34" charset="-122"/>
                <a:cs typeface="Calibri" pitchFamily="34" charset="-120"/>
              </a:rPr>
              <a:t>A short note on your use of AI tools (which tool, for what, and how you checked the result), or a sentence saying you did not use any.</a:t>
            </a:r>
            <a:endParaRPr lang="en-US" sz="1150" dirty="0"/>
          </a:p>
        </p:txBody>
      </p:sp>
      <p:sp>
        <p:nvSpPr>
          <p:cNvPr id="9" name="Shape 7"/>
          <p:cNvSpPr/>
          <p:nvPr/>
        </p:nvSpPr>
        <p:spPr>
          <a:xfrm>
            <a:off x="5806440" y="1188720"/>
            <a:ext cx="2880360" cy="1600200"/>
          </a:xfrm>
          <a:prstGeom prst="rect">
            <a:avLst/>
          </a:prstGeom>
          <a:solidFill>
            <a:srgbClr val="FFFFFF"/>
          </a:solidFill>
          <a:ln w="9525">
            <a:solidFill>
              <a:srgbClr val="DDDAE8"/>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5806440" y="1188720"/>
            <a:ext cx="64008" cy="1600200"/>
          </a:xfrm>
          <a:prstGeom prst="rect">
            <a:avLst/>
          </a:prstGeom>
          <a:solidFill>
            <a:srgbClr val="312A63"/>
          </a:solidFill>
          <a:ln w="12700">
            <a:solidFill>
              <a:srgbClr val="312A63"/>
            </a:solidFill>
            <a:prstDash val="solid"/>
          </a:ln>
        </p:spPr>
      </p:sp>
      <p:sp>
        <p:nvSpPr>
          <p:cNvPr id="11" name="Text 9"/>
          <p:cNvSpPr/>
          <p:nvPr/>
        </p:nvSpPr>
        <p:spPr>
          <a:xfrm>
            <a:off x="6007608" y="1298448"/>
            <a:ext cx="2560320" cy="292608"/>
          </a:xfrm>
          <a:prstGeom prst="rect">
            <a:avLst/>
          </a:prstGeom>
          <a:noFill/>
          <a:ln/>
        </p:spPr>
        <p:txBody>
          <a:bodyPr wrap="square" lIns="0" tIns="0" rIns="0" bIns="0" rtlCol="0" anchor="t">
            <a:normAutofit/>
          </a:bodyPr>
          <a:lstStyle/>
          <a:p>
            <a:pPr indent="0" marL="0">
              <a:buNone/>
            </a:pPr>
            <a:r>
              <a:rPr lang="en-US" sz="1300" b="1" dirty="0">
                <a:solidFill>
                  <a:srgbClr val="312A63"/>
                </a:solidFill>
                <a:latin typeface="Calibri" pitchFamily="34" charset="0"/>
                <a:ea typeface="Calibri" pitchFamily="34" charset="-122"/>
                <a:cs typeface="Calibri" pitchFamily="34" charset="-120"/>
              </a:rPr>
              <a:t>Format</a:t>
            </a:r>
            <a:endParaRPr lang="en-US" sz="1300" dirty="0"/>
          </a:p>
        </p:txBody>
      </p:sp>
      <p:sp>
        <p:nvSpPr>
          <p:cNvPr id="12" name="Text 10"/>
          <p:cNvSpPr/>
          <p:nvPr/>
        </p:nvSpPr>
        <p:spPr>
          <a:xfrm>
            <a:off x="6007608" y="1645920"/>
            <a:ext cx="2560320" cy="1069848"/>
          </a:xfrm>
          <a:prstGeom prst="rect">
            <a:avLst/>
          </a:prstGeom>
          <a:noFill/>
          <a:ln/>
        </p:spPr>
        <p:txBody>
          <a:bodyPr wrap="square" lIns="0" tIns="0" rIns="0" bIns="0" rtlCol="0" anchor="t">
            <a:normAutofit/>
          </a:bodyPr>
          <a:lstStyle/>
          <a:p>
            <a:pPr indent="0" marL="0">
              <a:buNone/>
            </a:pPr>
            <a:r>
              <a:rPr lang="en-US" sz="1150" dirty="0">
                <a:solidFill>
                  <a:srgbClr val="2B2840"/>
                </a:solidFill>
                <a:latin typeface="Calibri" pitchFamily="34" charset="0"/>
                <a:ea typeface="Calibri" pitchFamily="34" charset="-122"/>
                <a:cs typeface="Calibri" pitchFamily="34" charset="-120"/>
              </a:rPr>
              <a:t>One PDF, maximum 2 pages (use the templates in the Submit section)</a:t>
            </a:r>
            <a:endParaRPr lang="en-US" sz="1150" dirty="0"/>
          </a:p>
        </p:txBody>
      </p:sp>
      <p:sp>
        <p:nvSpPr>
          <p:cNvPr id="13" name="Shape 11"/>
          <p:cNvSpPr/>
          <p:nvPr/>
        </p:nvSpPr>
        <p:spPr>
          <a:xfrm>
            <a:off x="5806440" y="2971800"/>
            <a:ext cx="2880360" cy="1600200"/>
          </a:xfrm>
          <a:prstGeom prst="rect">
            <a:avLst/>
          </a:prstGeom>
          <a:solidFill>
            <a:srgbClr val="FFFFFF"/>
          </a:solidFill>
          <a:ln w="9525">
            <a:solidFill>
              <a:srgbClr val="DDDAE8"/>
            </a:solidFill>
            <a:prstDash val="solid"/>
          </a:ln>
          <a:effectLst>
            <a:outerShdw sx="100000" sy="100000" kx="0" ky="0" algn="bl" rotWithShape="0" blurRad="101600" dist="25400" dir="5400000">
              <a:srgbClr val="000000">
                <a:alpha val="12000"/>
              </a:srgbClr>
            </a:outerShdw>
          </a:effectLst>
        </p:spPr>
      </p:sp>
      <p:sp>
        <p:nvSpPr>
          <p:cNvPr id="14" name="Shape 12"/>
          <p:cNvSpPr/>
          <p:nvPr/>
        </p:nvSpPr>
        <p:spPr>
          <a:xfrm>
            <a:off x="5806440" y="2971800"/>
            <a:ext cx="64008" cy="1600200"/>
          </a:xfrm>
          <a:prstGeom prst="rect">
            <a:avLst/>
          </a:prstGeom>
          <a:solidFill>
            <a:srgbClr val="2A9D8F"/>
          </a:solidFill>
          <a:ln w="12700">
            <a:solidFill>
              <a:srgbClr val="2A9D8F"/>
            </a:solidFill>
            <a:prstDash val="solid"/>
          </a:ln>
        </p:spPr>
      </p:sp>
      <p:sp>
        <p:nvSpPr>
          <p:cNvPr id="15" name="Text 13"/>
          <p:cNvSpPr/>
          <p:nvPr/>
        </p:nvSpPr>
        <p:spPr>
          <a:xfrm>
            <a:off x="6007608" y="3081528"/>
            <a:ext cx="2560320" cy="292608"/>
          </a:xfrm>
          <a:prstGeom prst="rect">
            <a:avLst/>
          </a:prstGeom>
          <a:noFill/>
          <a:ln/>
        </p:spPr>
        <p:txBody>
          <a:bodyPr wrap="square" lIns="0" tIns="0" rIns="0" bIns="0" rtlCol="0" anchor="t">
            <a:normAutofit/>
          </a:bodyPr>
          <a:lstStyle/>
          <a:p>
            <a:pPr indent="0" marL="0">
              <a:buNone/>
            </a:pPr>
            <a:r>
              <a:rPr lang="en-US" sz="1300" b="1" dirty="0">
                <a:solidFill>
                  <a:srgbClr val="312A63"/>
                </a:solidFill>
                <a:latin typeface="Calibri" pitchFamily="34" charset="0"/>
                <a:ea typeface="Calibri" pitchFamily="34" charset="-122"/>
                <a:cs typeface="Calibri" pitchFamily="34" charset="-120"/>
              </a:rPr>
              <a:t>Templates</a:t>
            </a:r>
            <a:endParaRPr lang="en-US" sz="1300" dirty="0"/>
          </a:p>
        </p:txBody>
      </p:sp>
      <p:sp>
        <p:nvSpPr>
          <p:cNvPr id="16" name="Text 14"/>
          <p:cNvSpPr/>
          <p:nvPr/>
        </p:nvSpPr>
        <p:spPr>
          <a:xfrm>
            <a:off x="6007608" y="3429000"/>
            <a:ext cx="2560320" cy="1069848"/>
          </a:xfrm>
          <a:prstGeom prst="rect">
            <a:avLst/>
          </a:prstGeom>
          <a:noFill/>
          <a:ln/>
        </p:spPr>
        <p:txBody>
          <a:bodyPr wrap="square" lIns="0" tIns="0" rIns="0" bIns="0" rtlCol="0" anchor="t">
            <a:normAutofit/>
          </a:bodyPr>
          <a:lstStyle/>
          <a:p>
            <a:pPr indent="0" marL="0">
              <a:buNone/>
            </a:pPr>
            <a:r>
              <a:rPr lang="en-US" sz="1150" dirty="0">
                <a:solidFill>
                  <a:srgbClr val="2B2840"/>
                </a:solidFill>
                <a:latin typeface="Calibri" pitchFamily="34" charset="0"/>
                <a:ea typeface="Calibri" pitchFamily="34" charset="-122"/>
                <a:cs typeface="Calibri" pitchFamily="34" charset="-120"/>
              </a:rPr>
              <a:t>Topic proposal and team charter templates are in the Guide section of the website.</a:t>
            </a:r>
            <a:endParaRPr lang="en-US" sz="115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THE DATA</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The COIL dataset, ready to use</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Kick-off</a:t>
            </a:r>
            <a:endParaRPr lang="en-US" sz="850" dirty="0"/>
          </a:p>
        </p:txBody>
      </p:sp>
      <p:sp>
        <p:nvSpPr>
          <p:cNvPr id="5" name="Text 3"/>
          <p:cNvSpPr/>
          <p:nvPr/>
        </p:nvSpPr>
        <p:spPr>
          <a:xfrm>
            <a:off x="457200" y="1280160"/>
            <a:ext cx="1920240" cy="685800"/>
          </a:xfrm>
          <a:prstGeom prst="rect">
            <a:avLst/>
          </a:prstGeom>
          <a:noFill/>
          <a:ln/>
        </p:spPr>
        <p:txBody>
          <a:bodyPr wrap="square" lIns="0" tIns="0" rIns="0" bIns="0" rtlCol="0" anchor="b"/>
          <a:lstStyle/>
          <a:p>
            <a:pPr indent="0" marL="0">
              <a:buNone/>
            </a:pPr>
            <a:r>
              <a:rPr lang="en-US" sz="4000" b="1" dirty="0">
                <a:solidFill>
                  <a:srgbClr val="E55A5A"/>
                </a:solidFill>
                <a:latin typeface="Georgia" pitchFamily="34" charset="0"/>
                <a:ea typeface="Georgia" pitchFamily="34" charset="-122"/>
                <a:cs typeface="Georgia" pitchFamily="34" charset="-120"/>
              </a:rPr>
              <a:t>32</a:t>
            </a:r>
            <a:endParaRPr lang="en-US" sz="4000" dirty="0"/>
          </a:p>
        </p:txBody>
      </p:sp>
      <p:sp>
        <p:nvSpPr>
          <p:cNvPr id="6" name="Text 4"/>
          <p:cNvSpPr/>
          <p:nvPr/>
        </p:nvSpPr>
        <p:spPr>
          <a:xfrm>
            <a:off x="457200" y="1993392"/>
            <a:ext cx="1920240" cy="502920"/>
          </a:xfrm>
          <a:prstGeom prst="rect">
            <a:avLst/>
          </a:prstGeom>
          <a:noFill/>
          <a:ln/>
        </p:spPr>
        <p:txBody>
          <a:bodyPr wrap="square" lIns="0" tIns="0" rIns="0" bIns="0" rtlCol="0" anchor="t"/>
          <a:lstStyle/>
          <a:p>
            <a:pPr indent="0" marL="0">
              <a:buNone/>
            </a:pPr>
            <a:r>
              <a:rPr lang="en-US" sz="1100" dirty="0">
                <a:solidFill>
                  <a:srgbClr val="6B6880"/>
                </a:solidFill>
                <a:latin typeface="Calibri" pitchFamily="34" charset="0"/>
                <a:ea typeface="Calibri" pitchFamily="34" charset="-122"/>
                <a:cs typeface="Calibri" pitchFamily="34" charset="-120"/>
              </a:rPr>
              <a:t>European countries, plus the EU aggregate</a:t>
            </a:r>
            <a:endParaRPr lang="en-US" sz="1100" dirty="0"/>
          </a:p>
        </p:txBody>
      </p:sp>
      <p:sp>
        <p:nvSpPr>
          <p:cNvPr id="7" name="Text 5"/>
          <p:cNvSpPr/>
          <p:nvPr/>
        </p:nvSpPr>
        <p:spPr>
          <a:xfrm>
            <a:off x="2560320" y="1280160"/>
            <a:ext cx="1920240" cy="685800"/>
          </a:xfrm>
          <a:prstGeom prst="rect">
            <a:avLst/>
          </a:prstGeom>
          <a:noFill/>
          <a:ln/>
        </p:spPr>
        <p:txBody>
          <a:bodyPr wrap="square" lIns="0" tIns="0" rIns="0" bIns="0" rtlCol="0" anchor="b"/>
          <a:lstStyle/>
          <a:p>
            <a:pPr indent="0" marL="0">
              <a:buNone/>
            </a:pPr>
            <a:r>
              <a:rPr lang="en-US" sz="4000" b="1" dirty="0">
                <a:solidFill>
                  <a:srgbClr val="E55A5A"/>
                </a:solidFill>
                <a:latin typeface="Georgia" pitchFamily="34" charset="0"/>
                <a:ea typeface="Georgia" pitchFamily="34" charset="-122"/>
                <a:cs typeface="Georgia" pitchFamily="34" charset="-120"/>
              </a:rPr>
              <a:t>21</a:t>
            </a:r>
            <a:endParaRPr lang="en-US" sz="4000" dirty="0"/>
          </a:p>
        </p:txBody>
      </p:sp>
      <p:sp>
        <p:nvSpPr>
          <p:cNvPr id="8" name="Text 6"/>
          <p:cNvSpPr/>
          <p:nvPr/>
        </p:nvSpPr>
        <p:spPr>
          <a:xfrm>
            <a:off x="2560320" y="1993392"/>
            <a:ext cx="1920240" cy="502920"/>
          </a:xfrm>
          <a:prstGeom prst="rect">
            <a:avLst/>
          </a:prstGeom>
          <a:noFill/>
          <a:ln/>
        </p:spPr>
        <p:txBody>
          <a:bodyPr wrap="square" lIns="0" tIns="0" rIns="0" bIns="0" rtlCol="0" anchor="t"/>
          <a:lstStyle/>
          <a:p>
            <a:pPr indent="0" marL="0">
              <a:buNone/>
            </a:pPr>
            <a:r>
              <a:rPr lang="en-US" sz="1100" dirty="0">
                <a:solidFill>
                  <a:srgbClr val="6B6880"/>
                </a:solidFill>
                <a:latin typeface="Calibri" pitchFamily="34" charset="0"/>
                <a:ea typeface="Calibri" pitchFamily="34" charset="-122"/>
                <a:cs typeface="Calibri" pitchFamily="34" charset="-120"/>
              </a:rPr>
              <a:t>indicators: labour, economy, public finance, population, education, digital, environment</a:t>
            </a:r>
            <a:endParaRPr lang="en-US" sz="1100" dirty="0"/>
          </a:p>
        </p:txBody>
      </p:sp>
      <p:sp>
        <p:nvSpPr>
          <p:cNvPr id="9" name="Text 7"/>
          <p:cNvSpPr/>
          <p:nvPr/>
        </p:nvSpPr>
        <p:spPr>
          <a:xfrm>
            <a:off x="4663440" y="1280160"/>
            <a:ext cx="1920240" cy="685800"/>
          </a:xfrm>
          <a:prstGeom prst="rect">
            <a:avLst/>
          </a:prstGeom>
          <a:noFill/>
          <a:ln/>
        </p:spPr>
        <p:txBody>
          <a:bodyPr wrap="square" lIns="0" tIns="0" rIns="0" bIns="0" rtlCol="0" anchor="b"/>
          <a:lstStyle/>
          <a:p>
            <a:pPr indent="0" marL="0">
              <a:buNone/>
            </a:pPr>
            <a:r>
              <a:rPr lang="en-US" sz="4000" b="1" dirty="0">
                <a:solidFill>
                  <a:srgbClr val="E55A5A"/>
                </a:solidFill>
                <a:latin typeface="Georgia" pitchFamily="34" charset="0"/>
                <a:ea typeface="Georgia" pitchFamily="34" charset="-122"/>
                <a:cs typeface="Georgia" pitchFamily="34" charset="-120"/>
              </a:rPr>
              <a:t>16</a:t>
            </a:r>
            <a:endParaRPr lang="en-US" sz="4000" dirty="0"/>
          </a:p>
        </p:txBody>
      </p:sp>
      <p:sp>
        <p:nvSpPr>
          <p:cNvPr id="10" name="Text 8"/>
          <p:cNvSpPr/>
          <p:nvPr/>
        </p:nvSpPr>
        <p:spPr>
          <a:xfrm>
            <a:off x="4663440" y="1993392"/>
            <a:ext cx="1920240" cy="502920"/>
          </a:xfrm>
          <a:prstGeom prst="rect">
            <a:avLst/>
          </a:prstGeom>
          <a:noFill/>
          <a:ln/>
        </p:spPr>
        <p:txBody>
          <a:bodyPr wrap="square" lIns="0" tIns="0" rIns="0" bIns="0" rtlCol="0" anchor="t"/>
          <a:lstStyle/>
          <a:p>
            <a:pPr indent="0" marL="0">
              <a:buNone/>
            </a:pPr>
            <a:r>
              <a:rPr lang="en-US" sz="1100" dirty="0">
                <a:solidFill>
                  <a:srgbClr val="6B6880"/>
                </a:solidFill>
                <a:latin typeface="Calibri" pitchFamily="34" charset="0"/>
                <a:ea typeface="Calibri" pitchFamily="34" charset="-122"/>
                <a:cs typeface="Calibri" pitchFamily="34" charset="-120"/>
              </a:rPr>
              <a:t>years (2010–2025), one row per country and year</a:t>
            </a:r>
            <a:endParaRPr lang="en-US" sz="1100" dirty="0"/>
          </a:p>
        </p:txBody>
      </p:sp>
      <p:sp>
        <p:nvSpPr>
          <p:cNvPr id="11" name="Text 9"/>
          <p:cNvSpPr/>
          <p:nvPr/>
        </p:nvSpPr>
        <p:spPr>
          <a:xfrm>
            <a:off x="6766560" y="1280160"/>
            <a:ext cx="1920240" cy="685800"/>
          </a:xfrm>
          <a:prstGeom prst="rect">
            <a:avLst/>
          </a:prstGeom>
          <a:noFill/>
          <a:ln/>
        </p:spPr>
        <p:txBody>
          <a:bodyPr wrap="square" lIns="0" tIns="0" rIns="0" bIns="0" rtlCol="0" anchor="b"/>
          <a:lstStyle/>
          <a:p>
            <a:pPr indent="0" marL="0">
              <a:buNone/>
            </a:pPr>
            <a:r>
              <a:rPr lang="en-US" sz="4000" b="1" dirty="0">
                <a:solidFill>
                  <a:srgbClr val="E55A5A"/>
                </a:solidFill>
                <a:latin typeface="Georgia" pitchFamily="34" charset="0"/>
                <a:ea typeface="Georgia" pitchFamily="34" charset="-122"/>
                <a:cs typeface="Georgia" pitchFamily="34" charset="-120"/>
              </a:rPr>
              <a:t>3</a:t>
            </a:r>
            <a:endParaRPr lang="en-US" sz="4000" dirty="0"/>
          </a:p>
        </p:txBody>
      </p:sp>
      <p:sp>
        <p:nvSpPr>
          <p:cNvPr id="12" name="Text 10"/>
          <p:cNvSpPr/>
          <p:nvPr/>
        </p:nvSpPr>
        <p:spPr>
          <a:xfrm>
            <a:off x="6766560" y="1993392"/>
            <a:ext cx="1920240" cy="502920"/>
          </a:xfrm>
          <a:prstGeom prst="rect">
            <a:avLst/>
          </a:prstGeom>
          <a:noFill/>
          <a:ln/>
        </p:spPr>
        <p:txBody>
          <a:bodyPr wrap="square" lIns="0" tIns="0" rIns="0" bIns="0" rtlCol="0" anchor="t"/>
          <a:lstStyle/>
          <a:p>
            <a:pPr indent="0" marL="0">
              <a:buNone/>
            </a:pPr>
            <a:r>
              <a:rPr lang="en-US" sz="1100" dirty="0">
                <a:solidFill>
                  <a:srgbClr val="6B6880"/>
                </a:solidFill>
                <a:latin typeface="Calibri" pitchFamily="34" charset="0"/>
                <a:ea typeface="Calibri" pitchFamily="34" charset="-122"/>
                <a:cs typeface="Calibri" pitchFamily="34" charset="-120"/>
              </a:rPr>
              <a:t>file formats: long, wide (Excel, Power BI) and Gretl</a:t>
            </a:r>
            <a:endParaRPr lang="en-US" sz="1100" dirty="0"/>
          </a:p>
        </p:txBody>
      </p:sp>
      <p:sp>
        <p:nvSpPr>
          <p:cNvPr id="13" name="Shape 11"/>
          <p:cNvSpPr/>
          <p:nvPr/>
        </p:nvSpPr>
        <p:spPr>
          <a:xfrm>
            <a:off x="457200" y="2926080"/>
            <a:ext cx="8229600" cy="1600200"/>
          </a:xfrm>
          <a:prstGeom prst="rect">
            <a:avLst/>
          </a:prstGeom>
          <a:solidFill>
            <a:srgbClr val="FFFFFF"/>
          </a:solidFill>
          <a:ln w="9525">
            <a:solidFill>
              <a:srgbClr val="DDDAE8"/>
            </a:solidFill>
            <a:prstDash val="solid"/>
          </a:ln>
          <a:effectLst>
            <a:outerShdw sx="100000" sy="100000" kx="0" ky="0" algn="bl" rotWithShape="0" blurRad="101600" dist="25400" dir="5400000">
              <a:srgbClr val="000000">
                <a:alpha val="12000"/>
              </a:srgbClr>
            </a:outerShdw>
          </a:effectLst>
        </p:spPr>
      </p:sp>
      <p:sp>
        <p:nvSpPr>
          <p:cNvPr id="14" name="Shape 12"/>
          <p:cNvSpPr/>
          <p:nvPr/>
        </p:nvSpPr>
        <p:spPr>
          <a:xfrm>
            <a:off x="457200" y="2926080"/>
            <a:ext cx="64008" cy="1600200"/>
          </a:xfrm>
          <a:prstGeom prst="rect">
            <a:avLst/>
          </a:prstGeom>
          <a:solidFill>
            <a:srgbClr val="2A9D8F"/>
          </a:solidFill>
          <a:ln w="12700">
            <a:solidFill>
              <a:srgbClr val="2A9D8F"/>
            </a:solidFill>
            <a:prstDash val="solid"/>
          </a:ln>
        </p:spPr>
      </p:sp>
      <p:sp>
        <p:nvSpPr>
          <p:cNvPr id="15" name="Text 13"/>
          <p:cNvSpPr/>
          <p:nvPr/>
        </p:nvSpPr>
        <p:spPr>
          <a:xfrm>
            <a:off x="658368" y="3035808"/>
            <a:ext cx="7909560" cy="292608"/>
          </a:xfrm>
          <a:prstGeom prst="rect">
            <a:avLst/>
          </a:prstGeom>
          <a:noFill/>
          <a:ln/>
        </p:spPr>
        <p:txBody>
          <a:bodyPr wrap="square" lIns="0" tIns="0" rIns="0" bIns="0" rtlCol="0" anchor="t">
            <a:normAutofit/>
          </a:bodyPr>
          <a:lstStyle/>
          <a:p>
            <a:pPr indent="0" marL="0">
              <a:buNone/>
            </a:pPr>
            <a:r>
              <a:rPr lang="en-US" sz="1300" b="1" dirty="0">
                <a:solidFill>
                  <a:srgbClr val="312A63"/>
                </a:solidFill>
                <a:latin typeface="Calibri" pitchFamily="34" charset="0"/>
                <a:ea typeface="Calibri" pitchFamily="34" charset="-122"/>
                <a:cs typeface="Calibri" pitchFamily="34" charset="-120"/>
              </a:rPr>
              <a:t>Sources and gaps</a:t>
            </a:r>
            <a:endParaRPr lang="en-US" sz="1300" dirty="0"/>
          </a:p>
        </p:txBody>
      </p:sp>
      <p:sp>
        <p:nvSpPr>
          <p:cNvPr id="16" name="Text 14"/>
          <p:cNvSpPr/>
          <p:nvPr/>
        </p:nvSpPr>
        <p:spPr>
          <a:xfrm>
            <a:off x="658368" y="3383280"/>
            <a:ext cx="7909560" cy="1069848"/>
          </a:xfrm>
          <a:prstGeom prst="rect">
            <a:avLst/>
          </a:prstGeom>
          <a:noFill/>
          <a:ln/>
        </p:spPr>
        <p:txBody>
          <a:bodyPr wrap="square" lIns="0" tIns="0" rIns="0" bIns="0" rtlCol="0" anchor="t">
            <a:normAutofit/>
          </a:bodyPr>
          <a:lstStyle/>
          <a:p>
            <a:pPr marL="152400" indent="-152400">
              <a:spcAft>
                <a:spcPts val="300"/>
              </a:spcAft>
              <a:buSzPct val="100000"/>
              <a:buChar char="•"/>
            </a:pPr>
            <a:r>
              <a:rPr lang="en-US" sz="1150" dirty="0">
                <a:solidFill>
                  <a:srgbClr val="2B2840"/>
                </a:solidFill>
                <a:latin typeface="Calibri" pitchFamily="34" charset="0"/>
                <a:ea typeface="Calibri" pitchFamily="34" charset="-122"/>
                <a:cs typeface="Calibri" pitchFamily="34" charset="-120"/>
              </a:rPr>
              <a:t>Sources: World Bank (World Development Indicators) and IMF (World Economic Outlook). Each indicator keeps its code and unit.</a:t>
            </a:r>
            <a:endParaRPr lang="en-US" sz="1150" dirty="0"/>
          </a:p>
          <a:p>
            <a:pPr marL="152400" indent="-152400">
              <a:spcAft>
                <a:spcPts val="300"/>
              </a:spcAft>
              <a:buSzPct val="100000"/>
              <a:buChar char="•"/>
            </a:pPr>
            <a:r>
              <a:rPr lang="en-US" sz="1150" dirty="0">
                <a:solidFill>
                  <a:srgbClr val="2B2840"/>
                </a:solidFill>
                <a:latin typeface="Calibri" pitchFamily="34" charset="0"/>
                <a:ea typeface="Calibri" pitchFamily="34" charset="-122"/>
                <a:cs typeface="Calibri" pitchFamily="34" charset="-120"/>
              </a:rPr>
              <a:t>Some series have gaps, especially for Montenegro. The data workshop (week 3) shows how to deal with them.</a:t>
            </a:r>
            <a:endParaRPr lang="en-US" sz="1150" dirty="0"/>
          </a:p>
          <a:p>
            <a:pPr marL="152400" indent="-152400">
              <a:spcAft>
                <a:spcPts val="300"/>
              </a:spcAft>
              <a:buSzPct val="100000"/>
              <a:buChar char="•"/>
            </a:pPr>
            <a:r>
              <a:rPr lang="en-US" sz="1150" dirty="0">
                <a:solidFill>
                  <a:srgbClr val="2B2840"/>
                </a:solidFill>
                <a:latin typeface="Calibri" pitchFamily="34" charset="0"/>
                <a:ea typeface="Calibri" pitchFamily="34" charset="-122"/>
                <a:cs typeface="Calibri" pitchFamily="34" charset="-120"/>
              </a:rPr>
              <a:t>Download everything from the Data section of the website.</a:t>
            </a:r>
            <a:endParaRPr lang="en-US" sz="115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TOOLS</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Use the tool of your course</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Kick-off</a:t>
            </a:r>
            <a:endParaRPr lang="en-US" sz="850" dirty="0"/>
          </a:p>
        </p:txBody>
      </p:sp>
      <p:sp>
        <p:nvSpPr>
          <p:cNvPr id="5" name="Shape 3"/>
          <p:cNvSpPr/>
          <p:nvPr/>
        </p:nvSpPr>
        <p:spPr>
          <a:xfrm>
            <a:off x="457200" y="1188720"/>
            <a:ext cx="2468880" cy="1280160"/>
          </a:xfrm>
          <a:prstGeom prst="rect">
            <a:avLst/>
          </a:prstGeom>
          <a:solidFill>
            <a:srgbClr val="FFFFFF"/>
          </a:solidFill>
          <a:ln w="9525">
            <a:solidFill>
              <a:srgbClr val="DDDAE8"/>
            </a:solidFill>
            <a:prstDash val="solid"/>
          </a:ln>
          <a:effectLst>
            <a:outerShdw sx="100000" sy="100000" kx="0" ky="0" algn="bl" rotWithShape="0" blurRad="101600" dist="25400" dir="5400000">
              <a:srgbClr val="000000">
                <a:alpha val="12000"/>
              </a:srgbClr>
            </a:outerShdw>
          </a:effectLst>
        </p:spPr>
      </p:sp>
      <p:sp>
        <p:nvSpPr>
          <p:cNvPr id="6" name="Shape 4"/>
          <p:cNvSpPr/>
          <p:nvPr/>
        </p:nvSpPr>
        <p:spPr>
          <a:xfrm>
            <a:off x="457200" y="1188720"/>
            <a:ext cx="64008" cy="1280160"/>
          </a:xfrm>
          <a:prstGeom prst="rect">
            <a:avLst/>
          </a:prstGeom>
          <a:solidFill>
            <a:srgbClr val="312A63"/>
          </a:solidFill>
          <a:ln w="12700">
            <a:solidFill>
              <a:srgbClr val="312A63"/>
            </a:solidFill>
            <a:prstDash val="solid"/>
          </a:ln>
        </p:spPr>
      </p:sp>
      <p:sp>
        <p:nvSpPr>
          <p:cNvPr id="7" name="Text 5"/>
          <p:cNvSpPr/>
          <p:nvPr/>
        </p:nvSpPr>
        <p:spPr>
          <a:xfrm>
            <a:off x="658368" y="1298448"/>
            <a:ext cx="2148840" cy="292608"/>
          </a:xfrm>
          <a:prstGeom prst="rect">
            <a:avLst/>
          </a:prstGeom>
          <a:noFill/>
          <a:ln/>
        </p:spPr>
        <p:txBody>
          <a:bodyPr wrap="square" lIns="0" tIns="0" rIns="0" bIns="0" rtlCol="0" anchor="t">
            <a:normAutofit/>
          </a:bodyPr>
          <a:lstStyle/>
          <a:p>
            <a:pPr indent="0" marL="0">
              <a:buNone/>
            </a:pPr>
            <a:r>
              <a:rPr lang="en-US" sz="1300" b="1" dirty="0">
                <a:solidFill>
                  <a:srgbClr val="312A63"/>
                </a:solidFill>
                <a:latin typeface="Calibri" pitchFamily="34" charset="0"/>
                <a:ea typeface="Calibri" pitchFamily="34" charset="-122"/>
                <a:cs typeface="Calibri" pitchFamily="34" charset="-120"/>
              </a:rPr>
              <a:t>Python</a:t>
            </a:r>
            <a:endParaRPr lang="en-US" sz="1300" dirty="0"/>
          </a:p>
        </p:txBody>
      </p:sp>
      <p:sp>
        <p:nvSpPr>
          <p:cNvPr id="8" name="Text 6"/>
          <p:cNvSpPr/>
          <p:nvPr/>
        </p:nvSpPr>
        <p:spPr>
          <a:xfrm>
            <a:off x="658368" y="1645920"/>
            <a:ext cx="2148840" cy="749808"/>
          </a:xfrm>
          <a:prstGeom prst="rect">
            <a:avLst/>
          </a:prstGeom>
          <a:noFill/>
          <a:ln/>
        </p:spPr>
        <p:txBody>
          <a:bodyPr wrap="square" lIns="0" tIns="0" rIns="0" bIns="0" rtlCol="0" anchor="t">
            <a:normAutofit/>
          </a:bodyPr>
          <a:lstStyle/>
          <a:p>
            <a:pPr indent="0" marL="0">
              <a:buNone/>
            </a:pPr>
            <a:r>
              <a:rPr lang="en-US" sz="1100" dirty="0">
                <a:solidFill>
                  <a:srgbClr val="2B2840"/>
                </a:solidFill>
                <a:latin typeface="Calibri" pitchFamily="34" charset="0"/>
                <a:ea typeface="Calibri" pitchFamily="34" charset="-122"/>
                <a:cs typeface="Calibri" pitchFamily="34" charset="-120"/>
              </a:rPr>
              <a:t>pandas, statsmodels, scikit-learn; Jupyter notebook</a:t>
            </a:r>
            <a:endParaRPr lang="en-US" sz="1100" dirty="0"/>
          </a:p>
        </p:txBody>
      </p:sp>
      <p:sp>
        <p:nvSpPr>
          <p:cNvPr id="9" name="Shape 7"/>
          <p:cNvSpPr/>
          <p:nvPr/>
        </p:nvSpPr>
        <p:spPr>
          <a:xfrm>
            <a:off x="3063240" y="1188720"/>
            <a:ext cx="2468880" cy="1280160"/>
          </a:xfrm>
          <a:prstGeom prst="rect">
            <a:avLst/>
          </a:prstGeom>
          <a:solidFill>
            <a:srgbClr val="FFFFFF"/>
          </a:solidFill>
          <a:ln w="9525">
            <a:solidFill>
              <a:srgbClr val="DDDAE8"/>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3063240" y="1188720"/>
            <a:ext cx="64008" cy="1280160"/>
          </a:xfrm>
          <a:prstGeom prst="rect">
            <a:avLst/>
          </a:prstGeom>
          <a:solidFill>
            <a:srgbClr val="2A9D8F"/>
          </a:solidFill>
          <a:ln w="12700">
            <a:solidFill>
              <a:srgbClr val="2A9D8F"/>
            </a:solidFill>
            <a:prstDash val="solid"/>
          </a:ln>
        </p:spPr>
      </p:sp>
      <p:sp>
        <p:nvSpPr>
          <p:cNvPr id="11" name="Text 9"/>
          <p:cNvSpPr/>
          <p:nvPr/>
        </p:nvSpPr>
        <p:spPr>
          <a:xfrm>
            <a:off x="3264408" y="1298448"/>
            <a:ext cx="2148840" cy="292608"/>
          </a:xfrm>
          <a:prstGeom prst="rect">
            <a:avLst/>
          </a:prstGeom>
          <a:noFill/>
          <a:ln/>
        </p:spPr>
        <p:txBody>
          <a:bodyPr wrap="square" lIns="0" tIns="0" rIns="0" bIns="0" rtlCol="0" anchor="t">
            <a:normAutofit/>
          </a:bodyPr>
          <a:lstStyle/>
          <a:p>
            <a:pPr indent="0" marL="0">
              <a:buNone/>
            </a:pPr>
            <a:r>
              <a:rPr lang="en-US" sz="1300" b="1" dirty="0">
                <a:solidFill>
                  <a:srgbClr val="312A63"/>
                </a:solidFill>
                <a:latin typeface="Calibri" pitchFamily="34" charset="0"/>
                <a:ea typeface="Calibri" pitchFamily="34" charset="-122"/>
                <a:cs typeface="Calibri" pitchFamily="34" charset="-120"/>
              </a:rPr>
              <a:t>R</a:t>
            </a:r>
            <a:endParaRPr lang="en-US" sz="1300" dirty="0"/>
          </a:p>
        </p:txBody>
      </p:sp>
      <p:sp>
        <p:nvSpPr>
          <p:cNvPr id="12" name="Text 10"/>
          <p:cNvSpPr/>
          <p:nvPr/>
        </p:nvSpPr>
        <p:spPr>
          <a:xfrm>
            <a:off x="3264408" y="1645920"/>
            <a:ext cx="2148840" cy="749808"/>
          </a:xfrm>
          <a:prstGeom prst="rect">
            <a:avLst/>
          </a:prstGeom>
          <a:noFill/>
          <a:ln/>
        </p:spPr>
        <p:txBody>
          <a:bodyPr wrap="square" lIns="0" tIns="0" rIns="0" bIns="0" rtlCol="0" anchor="t">
            <a:normAutofit/>
          </a:bodyPr>
          <a:lstStyle/>
          <a:p>
            <a:pPr indent="0" marL="0">
              <a:buNone/>
            </a:pPr>
            <a:r>
              <a:rPr lang="en-US" sz="1100" dirty="0">
                <a:solidFill>
                  <a:srgbClr val="2B2840"/>
                </a:solidFill>
                <a:latin typeface="Calibri" pitchFamily="34" charset="0"/>
                <a:ea typeface="Calibri" pitchFamily="34" charset="-122"/>
                <a:cs typeface="Calibri" pitchFamily="34" charset="-120"/>
              </a:rPr>
              <a:t>lm, glm, prcomp, kmeans, fixest, ggplot2</a:t>
            </a:r>
            <a:endParaRPr lang="en-US" sz="1100" dirty="0"/>
          </a:p>
        </p:txBody>
      </p:sp>
      <p:sp>
        <p:nvSpPr>
          <p:cNvPr id="13" name="Shape 11"/>
          <p:cNvSpPr/>
          <p:nvPr/>
        </p:nvSpPr>
        <p:spPr>
          <a:xfrm>
            <a:off x="457200" y="2606040"/>
            <a:ext cx="2468880" cy="1280160"/>
          </a:xfrm>
          <a:prstGeom prst="rect">
            <a:avLst/>
          </a:prstGeom>
          <a:solidFill>
            <a:srgbClr val="FFFFFF"/>
          </a:solidFill>
          <a:ln w="9525">
            <a:solidFill>
              <a:srgbClr val="DDDAE8"/>
            </a:solidFill>
            <a:prstDash val="solid"/>
          </a:ln>
          <a:effectLst>
            <a:outerShdw sx="100000" sy="100000" kx="0" ky="0" algn="bl" rotWithShape="0" blurRad="101600" dist="25400" dir="5400000">
              <a:srgbClr val="000000">
                <a:alpha val="12000"/>
              </a:srgbClr>
            </a:outerShdw>
          </a:effectLst>
        </p:spPr>
      </p:sp>
      <p:sp>
        <p:nvSpPr>
          <p:cNvPr id="14" name="Shape 12"/>
          <p:cNvSpPr/>
          <p:nvPr/>
        </p:nvSpPr>
        <p:spPr>
          <a:xfrm>
            <a:off x="457200" y="2606040"/>
            <a:ext cx="64008" cy="1280160"/>
          </a:xfrm>
          <a:prstGeom prst="rect">
            <a:avLst/>
          </a:prstGeom>
          <a:solidFill>
            <a:srgbClr val="E9A23B"/>
          </a:solidFill>
          <a:ln w="12700">
            <a:solidFill>
              <a:srgbClr val="E9A23B"/>
            </a:solidFill>
            <a:prstDash val="solid"/>
          </a:ln>
        </p:spPr>
      </p:sp>
      <p:sp>
        <p:nvSpPr>
          <p:cNvPr id="15" name="Text 13"/>
          <p:cNvSpPr/>
          <p:nvPr/>
        </p:nvSpPr>
        <p:spPr>
          <a:xfrm>
            <a:off x="658368" y="2715768"/>
            <a:ext cx="2148840" cy="292608"/>
          </a:xfrm>
          <a:prstGeom prst="rect">
            <a:avLst/>
          </a:prstGeom>
          <a:noFill/>
          <a:ln/>
        </p:spPr>
        <p:txBody>
          <a:bodyPr wrap="square" lIns="0" tIns="0" rIns="0" bIns="0" rtlCol="0" anchor="t">
            <a:normAutofit/>
          </a:bodyPr>
          <a:lstStyle/>
          <a:p>
            <a:pPr indent="0" marL="0">
              <a:buNone/>
            </a:pPr>
            <a:r>
              <a:rPr lang="en-US" sz="1300" b="1" dirty="0">
                <a:solidFill>
                  <a:srgbClr val="312A63"/>
                </a:solidFill>
                <a:latin typeface="Calibri" pitchFamily="34" charset="0"/>
                <a:ea typeface="Calibri" pitchFamily="34" charset="-122"/>
                <a:cs typeface="Calibri" pitchFamily="34" charset="-120"/>
              </a:rPr>
              <a:t>Gretl</a:t>
            </a:r>
            <a:endParaRPr lang="en-US" sz="1300" dirty="0"/>
          </a:p>
        </p:txBody>
      </p:sp>
      <p:sp>
        <p:nvSpPr>
          <p:cNvPr id="16" name="Text 14"/>
          <p:cNvSpPr/>
          <p:nvPr/>
        </p:nvSpPr>
        <p:spPr>
          <a:xfrm>
            <a:off x="658368" y="3063240"/>
            <a:ext cx="2148840" cy="749808"/>
          </a:xfrm>
          <a:prstGeom prst="rect">
            <a:avLst/>
          </a:prstGeom>
          <a:noFill/>
          <a:ln/>
        </p:spPr>
        <p:txBody>
          <a:bodyPr wrap="square" lIns="0" tIns="0" rIns="0" bIns="0" rtlCol="0" anchor="t">
            <a:normAutofit/>
          </a:bodyPr>
          <a:lstStyle/>
          <a:p>
            <a:pPr indent="0" marL="0">
              <a:buNone/>
            </a:pPr>
            <a:r>
              <a:rPr lang="en-US" sz="1100" dirty="0">
                <a:solidFill>
                  <a:srgbClr val="2B2840"/>
                </a:solidFill>
                <a:latin typeface="Calibri" pitchFamily="34" charset="0"/>
                <a:ea typeface="Calibri" pitchFamily="34" charset="-122"/>
                <a:cs typeface="Calibri" pitchFamily="34" charset="-120"/>
              </a:rPr>
              <a:t>Free econometrics package: regression, logit, panel, PCA</a:t>
            </a:r>
            <a:endParaRPr lang="en-US" sz="1100" dirty="0"/>
          </a:p>
        </p:txBody>
      </p:sp>
      <p:sp>
        <p:nvSpPr>
          <p:cNvPr id="17" name="Shape 15"/>
          <p:cNvSpPr/>
          <p:nvPr/>
        </p:nvSpPr>
        <p:spPr>
          <a:xfrm>
            <a:off x="3063240" y="2606040"/>
            <a:ext cx="2468880" cy="1280160"/>
          </a:xfrm>
          <a:prstGeom prst="rect">
            <a:avLst/>
          </a:prstGeom>
          <a:solidFill>
            <a:srgbClr val="FFFFFF"/>
          </a:solidFill>
          <a:ln w="9525">
            <a:solidFill>
              <a:srgbClr val="DDDAE8"/>
            </a:solidFill>
            <a:prstDash val="solid"/>
          </a:ln>
          <a:effectLst>
            <a:outerShdw sx="100000" sy="100000" kx="0" ky="0" algn="bl" rotWithShape="0" blurRad="101600" dist="25400" dir="5400000">
              <a:srgbClr val="000000">
                <a:alpha val="12000"/>
              </a:srgbClr>
            </a:outerShdw>
          </a:effectLst>
        </p:spPr>
      </p:sp>
      <p:sp>
        <p:nvSpPr>
          <p:cNvPr id="18" name="Shape 16"/>
          <p:cNvSpPr/>
          <p:nvPr/>
        </p:nvSpPr>
        <p:spPr>
          <a:xfrm>
            <a:off x="3063240" y="2606040"/>
            <a:ext cx="64008" cy="1280160"/>
          </a:xfrm>
          <a:prstGeom prst="rect">
            <a:avLst/>
          </a:prstGeom>
          <a:solidFill>
            <a:srgbClr val="E55A5A"/>
          </a:solidFill>
          <a:ln w="12700">
            <a:solidFill>
              <a:srgbClr val="E55A5A"/>
            </a:solidFill>
            <a:prstDash val="solid"/>
          </a:ln>
        </p:spPr>
      </p:sp>
      <p:sp>
        <p:nvSpPr>
          <p:cNvPr id="19" name="Text 17"/>
          <p:cNvSpPr/>
          <p:nvPr/>
        </p:nvSpPr>
        <p:spPr>
          <a:xfrm>
            <a:off x="3264408" y="2715768"/>
            <a:ext cx="2148840" cy="292608"/>
          </a:xfrm>
          <a:prstGeom prst="rect">
            <a:avLst/>
          </a:prstGeom>
          <a:noFill/>
          <a:ln/>
        </p:spPr>
        <p:txBody>
          <a:bodyPr wrap="square" lIns="0" tIns="0" rIns="0" bIns="0" rtlCol="0" anchor="t">
            <a:normAutofit/>
          </a:bodyPr>
          <a:lstStyle/>
          <a:p>
            <a:pPr indent="0" marL="0">
              <a:buNone/>
            </a:pPr>
            <a:r>
              <a:rPr lang="en-US" sz="1300" b="1" dirty="0">
                <a:solidFill>
                  <a:srgbClr val="312A63"/>
                </a:solidFill>
                <a:latin typeface="Calibri" pitchFamily="34" charset="0"/>
                <a:ea typeface="Calibri" pitchFamily="34" charset="-122"/>
                <a:cs typeface="Calibri" pitchFamily="34" charset="-120"/>
              </a:rPr>
              <a:t>Power BI</a:t>
            </a:r>
            <a:endParaRPr lang="en-US" sz="1300" dirty="0"/>
          </a:p>
        </p:txBody>
      </p:sp>
      <p:sp>
        <p:nvSpPr>
          <p:cNvPr id="20" name="Text 18"/>
          <p:cNvSpPr/>
          <p:nvPr/>
        </p:nvSpPr>
        <p:spPr>
          <a:xfrm>
            <a:off x="3264408" y="3063240"/>
            <a:ext cx="2148840" cy="749808"/>
          </a:xfrm>
          <a:prstGeom prst="rect">
            <a:avLst/>
          </a:prstGeom>
          <a:noFill/>
          <a:ln/>
        </p:spPr>
        <p:txBody>
          <a:bodyPr wrap="square" lIns="0" tIns="0" rIns="0" bIns="0" rtlCol="0" anchor="t">
            <a:normAutofit/>
          </a:bodyPr>
          <a:lstStyle/>
          <a:p>
            <a:pPr indent="0" marL="0">
              <a:buNone/>
            </a:pPr>
            <a:r>
              <a:rPr lang="en-US" sz="1100" dirty="0">
                <a:solidFill>
                  <a:srgbClr val="2B2840"/>
                </a:solidFill>
                <a:latin typeface="Calibri" pitchFamily="34" charset="0"/>
                <a:ea typeface="Calibri" pitchFamily="34" charset="-122"/>
                <a:cs typeface="Calibri" pitchFamily="34" charset="-120"/>
              </a:rPr>
              <a:t>Dashboards; clustering in scatter charts; Python or R visuals</a:t>
            </a:r>
            <a:endParaRPr lang="en-US" sz="1100" dirty="0"/>
          </a:p>
        </p:txBody>
      </p:sp>
      <p:sp>
        <p:nvSpPr>
          <p:cNvPr id="21" name="Shape 19"/>
          <p:cNvSpPr/>
          <p:nvPr/>
        </p:nvSpPr>
        <p:spPr>
          <a:xfrm>
            <a:off x="5806440" y="1188720"/>
            <a:ext cx="2880360" cy="2697480"/>
          </a:xfrm>
          <a:prstGeom prst="rect">
            <a:avLst/>
          </a:prstGeom>
          <a:solidFill>
            <a:srgbClr val="312A63"/>
          </a:solidFill>
          <a:ln w="12700">
            <a:solidFill>
              <a:srgbClr val="312A63"/>
            </a:solidFill>
            <a:prstDash val="solid"/>
          </a:ln>
        </p:spPr>
      </p:sp>
      <p:pic>
        <p:nvPicPr>
          <p:cNvPr id="22" name="Image 0" descr="preencoded.png">    </p:cNvPr>
          <p:cNvPicPr>
            <a:picLocks noChangeAspect="1"/>
          </p:cNvPicPr>
          <p:nvPr/>
        </p:nvPicPr>
        <p:blipFill>
          <a:blip r:embed="rId1"/>
          <a:stretch>
            <a:fillRect/>
          </a:stretch>
        </p:blipFill>
        <p:spPr>
          <a:xfrm>
            <a:off x="6035040" y="1371600"/>
            <a:ext cx="411480" cy="411480"/>
          </a:xfrm>
          <a:prstGeom prst="rect">
            <a:avLst/>
          </a:prstGeom>
        </p:spPr>
      </p:pic>
      <p:sp>
        <p:nvSpPr>
          <p:cNvPr id="23" name="Text 20"/>
          <p:cNvSpPr/>
          <p:nvPr/>
        </p:nvSpPr>
        <p:spPr>
          <a:xfrm>
            <a:off x="6035040" y="1874520"/>
            <a:ext cx="25603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AI tools are allowed</a:t>
            </a:r>
            <a:endParaRPr lang="en-US" sz="1400" dirty="0"/>
          </a:p>
        </p:txBody>
      </p:sp>
      <p:sp>
        <p:nvSpPr>
          <p:cNvPr id="24" name="Text 21"/>
          <p:cNvSpPr/>
          <p:nvPr/>
        </p:nvSpPr>
        <p:spPr>
          <a:xfrm>
            <a:off x="6035040" y="2240280"/>
            <a:ext cx="2514600" cy="1554480"/>
          </a:xfrm>
          <a:prstGeom prst="rect">
            <a:avLst/>
          </a:prstGeom>
          <a:noFill/>
          <a:ln/>
        </p:spPr>
        <p:txBody>
          <a:bodyPr wrap="square" lIns="0" tIns="0" rIns="0" bIns="0" rtlCol="0" anchor="t"/>
          <a:lstStyle/>
          <a:p>
            <a:pPr indent="0" marL="0">
              <a:buNone/>
            </a:pPr>
            <a:r>
              <a:rPr lang="en-US" sz="1100" dirty="0">
                <a:solidFill>
                  <a:srgbClr val="D9D6EA"/>
                </a:solidFill>
                <a:latin typeface="Calibri" pitchFamily="34" charset="0"/>
                <a:ea typeface="Calibri" pitchFamily="34" charset="-122"/>
                <a:cs typeface="Calibri" pitchFamily="34" charset="-120"/>
              </a:rPr>
              <a:t>On two conditions: you declare in every deliverable which tool you used and for what, and you check everything it produces. All figures must come from the data, never from the AI.</a:t>
            </a:r>
            <a:endParaRPr lang="en-US" sz="1100" dirty="0"/>
          </a:p>
        </p:txBody>
      </p:sp>
      <p:sp>
        <p:nvSpPr>
          <p:cNvPr id="25" name="Text 22"/>
          <p:cNvSpPr/>
          <p:nvPr/>
        </p:nvSpPr>
        <p:spPr>
          <a:xfrm>
            <a:off x="457200" y="4069080"/>
            <a:ext cx="8229600" cy="320040"/>
          </a:xfrm>
          <a:prstGeom prst="rect">
            <a:avLst/>
          </a:prstGeom>
          <a:noFill/>
          <a:ln/>
        </p:spPr>
        <p:txBody>
          <a:bodyPr wrap="square" lIns="0" tIns="0" rIns="0" bIns="0" rtlCol="0" anchor="ctr"/>
          <a:lstStyle/>
          <a:p>
            <a:pPr indent="0" marL="0">
              <a:buNone/>
            </a:pPr>
            <a:r>
              <a:rPr lang="en-US" sz="1150" i="1" dirty="0">
                <a:solidFill>
                  <a:srgbClr val="6B6880"/>
                </a:solidFill>
                <a:latin typeface="Calibri" pitchFamily="34" charset="0"/>
                <a:ea typeface="Calibri" pitchFamily="34" charset="-122"/>
                <a:cs typeface="Calibri" pitchFamily="34" charset="-120"/>
              </a:rPr>
              <a:t>The methods module shows every method step by step in the four tools.</a:t>
            </a:r>
            <a:endParaRPr lang="en-US" sz="115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ONE PLACE FOR EVERYTHING</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The COIL website is the reference</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Kick-off</a:t>
            </a:r>
            <a:endParaRPr lang="en-US" sz="850" dirty="0"/>
          </a:p>
        </p:txBody>
      </p:sp>
      <p:sp>
        <p:nvSpPr>
          <p:cNvPr id="5" name="Shape 3"/>
          <p:cNvSpPr/>
          <p:nvPr/>
        </p:nvSpPr>
        <p:spPr>
          <a:xfrm>
            <a:off x="868680" y="1325880"/>
            <a:ext cx="731520" cy="731520"/>
          </a:xfrm>
          <a:prstGeom prst="ellipse">
            <a:avLst/>
          </a:prstGeom>
          <a:solidFill>
            <a:srgbClr val="F4F3F9"/>
          </a:solidFill>
          <a:ln w="12700">
            <a:solidFill>
              <a:srgbClr val="F4F3F9"/>
            </a:solidFill>
            <a:prstDash val="solid"/>
          </a:ln>
        </p:spPr>
      </p:sp>
      <p:pic>
        <p:nvPicPr>
          <p:cNvPr id="6" name="Image 0" descr="preencoded.png">    </p:cNvPr>
          <p:cNvPicPr>
            <a:picLocks noChangeAspect="1"/>
          </p:cNvPicPr>
          <p:nvPr/>
        </p:nvPicPr>
        <p:blipFill>
          <a:blip r:embed="rId1"/>
          <a:stretch>
            <a:fillRect/>
          </a:stretch>
        </p:blipFill>
        <p:spPr>
          <a:xfrm>
            <a:off x="1051560" y="1508760"/>
            <a:ext cx="365760" cy="365760"/>
          </a:xfrm>
          <a:prstGeom prst="rect">
            <a:avLst/>
          </a:prstGeom>
        </p:spPr>
      </p:pic>
      <p:sp>
        <p:nvSpPr>
          <p:cNvPr id="7" name="Text 4"/>
          <p:cNvSpPr/>
          <p:nvPr/>
        </p:nvSpPr>
        <p:spPr>
          <a:xfrm>
            <a:off x="457200" y="2194560"/>
            <a:ext cx="1554480" cy="320040"/>
          </a:xfrm>
          <a:prstGeom prst="rect">
            <a:avLst/>
          </a:prstGeom>
          <a:noFill/>
          <a:ln/>
        </p:spPr>
        <p:txBody>
          <a:bodyPr wrap="square" lIns="0" tIns="0" rIns="0" bIns="0" rtlCol="0" anchor="ctr"/>
          <a:lstStyle/>
          <a:p>
            <a:pPr algn="ctr" indent="0" marL="0">
              <a:buNone/>
            </a:pPr>
            <a:r>
              <a:rPr lang="en-US" sz="1300" b="1" dirty="0">
                <a:solidFill>
                  <a:srgbClr val="312A63"/>
                </a:solidFill>
                <a:latin typeface="Calibri" pitchFamily="34" charset="0"/>
                <a:ea typeface="Calibri" pitchFamily="34" charset="-122"/>
                <a:cs typeface="Calibri" pitchFamily="34" charset="-120"/>
              </a:rPr>
              <a:t>Session links</a:t>
            </a:r>
            <a:endParaRPr lang="en-US" sz="1300" dirty="0"/>
          </a:p>
        </p:txBody>
      </p:sp>
      <p:sp>
        <p:nvSpPr>
          <p:cNvPr id="8" name="Text 5"/>
          <p:cNvSpPr/>
          <p:nvPr/>
        </p:nvSpPr>
        <p:spPr>
          <a:xfrm>
            <a:off x="457200" y="2514600"/>
            <a:ext cx="1554480" cy="640080"/>
          </a:xfrm>
          <a:prstGeom prst="rect">
            <a:avLst/>
          </a:prstGeom>
          <a:noFill/>
          <a:ln/>
        </p:spPr>
        <p:txBody>
          <a:bodyPr wrap="square" lIns="0" tIns="0" rIns="0" bIns="0" rtlCol="0" anchor="t"/>
          <a:lstStyle/>
          <a:p>
            <a:pPr algn="ctr" indent="0" marL="0">
              <a:buNone/>
            </a:pPr>
            <a:r>
              <a:rPr lang="en-US" sz="1050" dirty="0">
                <a:solidFill>
                  <a:srgbClr val="2B2840"/>
                </a:solidFill>
                <a:latin typeface="Calibri" pitchFamily="34" charset="0"/>
                <a:ea typeface="Calibri" pitchFamily="34" charset="-122"/>
                <a:cs typeface="Calibri" pitchFamily="34" charset="-120"/>
              </a:rPr>
              <a:t>and the vote on dates and times</a:t>
            </a:r>
            <a:endParaRPr lang="en-US" sz="1050" dirty="0"/>
          </a:p>
        </p:txBody>
      </p:sp>
      <p:sp>
        <p:nvSpPr>
          <p:cNvPr id="9" name="Shape 6"/>
          <p:cNvSpPr/>
          <p:nvPr/>
        </p:nvSpPr>
        <p:spPr>
          <a:xfrm>
            <a:off x="2551176" y="1325880"/>
            <a:ext cx="731520" cy="731520"/>
          </a:xfrm>
          <a:prstGeom prst="ellipse">
            <a:avLst/>
          </a:prstGeom>
          <a:solidFill>
            <a:srgbClr val="F4F3F9"/>
          </a:solidFill>
          <a:ln w="12700">
            <a:solidFill>
              <a:srgbClr val="F4F3F9"/>
            </a:solidFill>
            <a:prstDash val="solid"/>
          </a:ln>
        </p:spPr>
      </p:sp>
      <p:pic>
        <p:nvPicPr>
          <p:cNvPr id="10" name="Image 1" descr="preencoded.png">    </p:cNvPr>
          <p:cNvPicPr>
            <a:picLocks noChangeAspect="1"/>
          </p:cNvPicPr>
          <p:nvPr/>
        </p:nvPicPr>
        <p:blipFill>
          <a:blip r:embed="rId2"/>
          <a:stretch>
            <a:fillRect/>
          </a:stretch>
        </p:blipFill>
        <p:spPr>
          <a:xfrm>
            <a:off x="2734056" y="1508760"/>
            <a:ext cx="365760" cy="365760"/>
          </a:xfrm>
          <a:prstGeom prst="rect">
            <a:avLst/>
          </a:prstGeom>
        </p:spPr>
      </p:pic>
      <p:sp>
        <p:nvSpPr>
          <p:cNvPr id="11" name="Text 7"/>
          <p:cNvSpPr/>
          <p:nvPr/>
        </p:nvSpPr>
        <p:spPr>
          <a:xfrm>
            <a:off x="2139696" y="2194560"/>
            <a:ext cx="1554480" cy="320040"/>
          </a:xfrm>
          <a:prstGeom prst="rect">
            <a:avLst/>
          </a:prstGeom>
          <a:noFill/>
          <a:ln/>
        </p:spPr>
        <p:txBody>
          <a:bodyPr wrap="square" lIns="0" tIns="0" rIns="0" bIns="0" rtlCol="0" anchor="ctr"/>
          <a:lstStyle/>
          <a:p>
            <a:pPr algn="ctr" indent="0" marL="0">
              <a:buNone/>
            </a:pPr>
            <a:r>
              <a:rPr lang="en-US" sz="1300" b="1" dirty="0">
                <a:solidFill>
                  <a:srgbClr val="312A63"/>
                </a:solidFill>
                <a:latin typeface="Calibri" pitchFamily="34" charset="0"/>
                <a:ea typeface="Calibri" pitchFamily="34" charset="-122"/>
                <a:cs typeface="Calibri" pitchFamily="34" charset="-120"/>
              </a:rPr>
              <a:t>Submissions</a:t>
            </a:r>
            <a:endParaRPr lang="en-US" sz="1300" dirty="0"/>
          </a:p>
        </p:txBody>
      </p:sp>
      <p:sp>
        <p:nvSpPr>
          <p:cNvPr id="12" name="Text 8"/>
          <p:cNvSpPr/>
          <p:nvPr/>
        </p:nvSpPr>
        <p:spPr>
          <a:xfrm>
            <a:off x="2139696" y="2514600"/>
            <a:ext cx="1554480" cy="640080"/>
          </a:xfrm>
          <a:prstGeom prst="rect">
            <a:avLst/>
          </a:prstGeom>
          <a:noFill/>
          <a:ln/>
        </p:spPr>
        <p:txBody>
          <a:bodyPr wrap="square" lIns="0" tIns="0" rIns="0" bIns="0" rtlCol="0" anchor="t"/>
          <a:lstStyle/>
          <a:p>
            <a:pPr algn="ctr" indent="0" marL="0">
              <a:buNone/>
            </a:pPr>
            <a:r>
              <a:rPr lang="en-US" sz="1050" dirty="0">
                <a:solidFill>
                  <a:srgbClr val="2B2840"/>
                </a:solidFill>
                <a:latin typeface="Calibri" pitchFamily="34" charset="0"/>
                <a:ea typeface="Calibri" pitchFamily="34" charset="-122"/>
                <a:cs typeface="Calibri" pitchFamily="34" charset="-120"/>
              </a:rPr>
              <a:t>Submit button for each deliverable</a:t>
            </a:r>
            <a:endParaRPr lang="en-US" sz="1050" dirty="0"/>
          </a:p>
        </p:txBody>
      </p:sp>
      <p:sp>
        <p:nvSpPr>
          <p:cNvPr id="13" name="Shape 9"/>
          <p:cNvSpPr/>
          <p:nvPr/>
        </p:nvSpPr>
        <p:spPr>
          <a:xfrm>
            <a:off x="4233672" y="1325880"/>
            <a:ext cx="731520" cy="731520"/>
          </a:xfrm>
          <a:prstGeom prst="ellipse">
            <a:avLst/>
          </a:prstGeom>
          <a:solidFill>
            <a:srgbClr val="F4F3F9"/>
          </a:solidFill>
          <a:ln w="12700">
            <a:solidFill>
              <a:srgbClr val="F4F3F9"/>
            </a:solidFill>
            <a:prstDash val="solid"/>
          </a:ln>
        </p:spPr>
      </p:sp>
      <p:pic>
        <p:nvPicPr>
          <p:cNvPr id="14" name="Image 2" descr="preencoded.png">    </p:cNvPr>
          <p:cNvPicPr>
            <a:picLocks noChangeAspect="1"/>
          </p:cNvPicPr>
          <p:nvPr/>
        </p:nvPicPr>
        <p:blipFill>
          <a:blip r:embed="rId3"/>
          <a:stretch>
            <a:fillRect/>
          </a:stretch>
        </p:blipFill>
        <p:spPr>
          <a:xfrm>
            <a:off x="4416552" y="1508760"/>
            <a:ext cx="365760" cy="365760"/>
          </a:xfrm>
          <a:prstGeom prst="rect">
            <a:avLst/>
          </a:prstGeom>
        </p:spPr>
      </p:pic>
      <p:sp>
        <p:nvSpPr>
          <p:cNvPr id="15" name="Text 10"/>
          <p:cNvSpPr/>
          <p:nvPr/>
        </p:nvSpPr>
        <p:spPr>
          <a:xfrm>
            <a:off x="3822192" y="2194560"/>
            <a:ext cx="1554480" cy="320040"/>
          </a:xfrm>
          <a:prstGeom prst="rect">
            <a:avLst/>
          </a:prstGeom>
          <a:noFill/>
          <a:ln/>
        </p:spPr>
        <p:txBody>
          <a:bodyPr wrap="square" lIns="0" tIns="0" rIns="0" bIns="0" rtlCol="0" anchor="ctr"/>
          <a:lstStyle/>
          <a:p>
            <a:pPr algn="ctr" indent="0" marL="0">
              <a:buNone/>
            </a:pPr>
            <a:r>
              <a:rPr lang="en-US" sz="1300" b="1" dirty="0">
                <a:solidFill>
                  <a:srgbClr val="312A63"/>
                </a:solidFill>
                <a:latin typeface="Calibri" pitchFamily="34" charset="0"/>
                <a:ea typeface="Calibri" pitchFamily="34" charset="-122"/>
                <a:cs typeface="Calibri" pitchFamily="34" charset="-120"/>
              </a:rPr>
              <a:t>Data</a:t>
            </a:r>
            <a:endParaRPr lang="en-US" sz="1300" dirty="0"/>
          </a:p>
        </p:txBody>
      </p:sp>
      <p:sp>
        <p:nvSpPr>
          <p:cNvPr id="16" name="Text 11"/>
          <p:cNvSpPr/>
          <p:nvPr/>
        </p:nvSpPr>
        <p:spPr>
          <a:xfrm>
            <a:off x="3822192" y="2514600"/>
            <a:ext cx="1554480" cy="640080"/>
          </a:xfrm>
          <a:prstGeom prst="rect">
            <a:avLst/>
          </a:prstGeom>
          <a:noFill/>
          <a:ln/>
        </p:spPr>
        <p:txBody>
          <a:bodyPr wrap="square" lIns="0" tIns="0" rIns="0" bIns="0" rtlCol="0" anchor="t"/>
          <a:lstStyle/>
          <a:p>
            <a:pPr algn="ctr" indent="0" marL="0">
              <a:buNone/>
            </a:pPr>
            <a:r>
              <a:rPr lang="en-US" sz="1050" dirty="0">
                <a:solidFill>
                  <a:srgbClr val="2B2840"/>
                </a:solidFill>
                <a:latin typeface="Calibri" pitchFamily="34" charset="0"/>
                <a:ea typeface="Calibri" pitchFamily="34" charset="-122"/>
                <a:cs typeface="Calibri" pitchFamily="34" charset="-120"/>
              </a:rPr>
              <a:t>CSV files, indicators and coverage</a:t>
            </a:r>
            <a:endParaRPr lang="en-US" sz="1050" dirty="0"/>
          </a:p>
        </p:txBody>
      </p:sp>
      <p:sp>
        <p:nvSpPr>
          <p:cNvPr id="17" name="Shape 12"/>
          <p:cNvSpPr/>
          <p:nvPr/>
        </p:nvSpPr>
        <p:spPr>
          <a:xfrm>
            <a:off x="5916168" y="1325880"/>
            <a:ext cx="731520" cy="731520"/>
          </a:xfrm>
          <a:prstGeom prst="ellipse">
            <a:avLst/>
          </a:prstGeom>
          <a:solidFill>
            <a:srgbClr val="F4F3F9"/>
          </a:solidFill>
          <a:ln w="12700">
            <a:solidFill>
              <a:srgbClr val="F4F3F9"/>
            </a:solidFill>
            <a:prstDash val="solid"/>
          </a:ln>
        </p:spPr>
      </p:sp>
      <p:pic>
        <p:nvPicPr>
          <p:cNvPr id="18" name="Image 3" descr="preencoded.png">    </p:cNvPr>
          <p:cNvPicPr>
            <a:picLocks noChangeAspect="1"/>
          </p:cNvPicPr>
          <p:nvPr/>
        </p:nvPicPr>
        <p:blipFill>
          <a:blip r:embed="rId4"/>
          <a:stretch>
            <a:fillRect/>
          </a:stretch>
        </p:blipFill>
        <p:spPr>
          <a:xfrm>
            <a:off x="6099048" y="1508760"/>
            <a:ext cx="365760" cy="365760"/>
          </a:xfrm>
          <a:prstGeom prst="rect">
            <a:avLst/>
          </a:prstGeom>
        </p:spPr>
      </p:pic>
      <p:sp>
        <p:nvSpPr>
          <p:cNvPr id="19" name="Text 13"/>
          <p:cNvSpPr/>
          <p:nvPr/>
        </p:nvSpPr>
        <p:spPr>
          <a:xfrm>
            <a:off x="5504688" y="2194560"/>
            <a:ext cx="1554480" cy="320040"/>
          </a:xfrm>
          <a:prstGeom prst="rect">
            <a:avLst/>
          </a:prstGeom>
          <a:noFill/>
          <a:ln/>
        </p:spPr>
        <p:txBody>
          <a:bodyPr wrap="square" lIns="0" tIns="0" rIns="0" bIns="0" rtlCol="0" anchor="ctr"/>
          <a:lstStyle/>
          <a:p>
            <a:pPr algn="ctr" indent="0" marL="0">
              <a:buNone/>
            </a:pPr>
            <a:r>
              <a:rPr lang="en-US" sz="1300" b="1" dirty="0">
                <a:solidFill>
                  <a:srgbClr val="312A63"/>
                </a:solidFill>
                <a:latin typeface="Calibri" pitchFamily="34" charset="0"/>
                <a:ea typeface="Calibri" pitchFamily="34" charset="-122"/>
                <a:cs typeface="Calibri" pitchFamily="34" charset="-120"/>
              </a:rPr>
              <a:t>Materials</a:t>
            </a:r>
            <a:endParaRPr lang="en-US" sz="1300" dirty="0"/>
          </a:p>
        </p:txBody>
      </p:sp>
      <p:sp>
        <p:nvSpPr>
          <p:cNvPr id="20" name="Text 14"/>
          <p:cNvSpPr/>
          <p:nvPr/>
        </p:nvSpPr>
        <p:spPr>
          <a:xfrm>
            <a:off x="5504688" y="2514600"/>
            <a:ext cx="1554480" cy="640080"/>
          </a:xfrm>
          <a:prstGeom prst="rect">
            <a:avLst/>
          </a:prstGeom>
          <a:noFill/>
          <a:ln/>
        </p:spPr>
        <p:txBody>
          <a:bodyPr wrap="square" lIns="0" tIns="0" rIns="0" bIns="0" rtlCol="0" anchor="t"/>
          <a:lstStyle/>
          <a:p>
            <a:pPr algn="ctr" indent="0" marL="0">
              <a:buNone/>
            </a:pPr>
            <a:r>
              <a:rPr lang="en-US" sz="1050" dirty="0">
                <a:solidFill>
                  <a:srgbClr val="2B2840"/>
                </a:solidFill>
                <a:latin typeface="Calibri" pitchFamily="34" charset="0"/>
                <a:ea typeface="Calibri" pitchFamily="34" charset="-122"/>
                <a:cs typeface="Calibri" pitchFamily="34" charset="-120"/>
              </a:rPr>
              <a:t>Slides, methods module and code</a:t>
            </a:r>
            <a:endParaRPr lang="en-US" sz="1050" dirty="0"/>
          </a:p>
        </p:txBody>
      </p:sp>
      <p:sp>
        <p:nvSpPr>
          <p:cNvPr id="21" name="Shape 15"/>
          <p:cNvSpPr/>
          <p:nvPr/>
        </p:nvSpPr>
        <p:spPr>
          <a:xfrm>
            <a:off x="7598664" y="1325880"/>
            <a:ext cx="731520" cy="731520"/>
          </a:xfrm>
          <a:prstGeom prst="ellipse">
            <a:avLst/>
          </a:prstGeom>
          <a:solidFill>
            <a:srgbClr val="F4F3F9"/>
          </a:solidFill>
          <a:ln w="12700">
            <a:solidFill>
              <a:srgbClr val="F4F3F9"/>
            </a:solidFill>
            <a:prstDash val="solid"/>
          </a:ln>
        </p:spPr>
      </p:sp>
      <p:pic>
        <p:nvPicPr>
          <p:cNvPr id="22" name="Image 4" descr="preencoded.png">    </p:cNvPr>
          <p:cNvPicPr>
            <a:picLocks noChangeAspect="1"/>
          </p:cNvPicPr>
          <p:nvPr/>
        </p:nvPicPr>
        <p:blipFill>
          <a:blip r:embed="rId5"/>
          <a:stretch>
            <a:fillRect/>
          </a:stretch>
        </p:blipFill>
        <p:spPr>
          <a:xfrm>
            <a:off x="7781544" y="1508760"/>
            <a:ext cx="365760" cy="365760"/>
          </a:xfrm>
          <a:prstGeom prst="rect">
            <a:avLst/>
          </a:prstGeom>
        </p:spPr>
      </p:pic>
      <p:sp>
        <p:nvSpPr>
          <p:cNvPr id="23" name="Text 16"/>
          <p:cNvSpPr/>
          <p:nvPr/>
        </p:nvSpPr>
        <p:spPr>
          <a:xfrm>
            <a:off x="7187184" y="2194560"/>
            <a:ext cx="1554480" cy="320040"/>
          </a:xfrm>
          <a:prstGeom prst="rect">
            <a:avLst/>
          </a:prstGeom>
          <a:noFill/>
          <a:ln/>
        </p:spPr>
        <p:txBody>
          <a:bodyPr wrap="square" lIns="0" tIns="0" rIns="0" bIns="0" rtlCol="0" anchor="ctr"/>
          <a:lstStyle/>
          <a:p>
            <a:pPr algn="ctr" indent="0" marL="0">
              <a:buNone/>
            </a:pPr>
            <a:r>
              <a:rPr lang="en-US" sz="1300" b="1" dirty="0">
                <a:solidFill>
                  <a:srgbClr val="312A63"/>
                </a:solidFill>
                <a:latin typeface="Calibri" pitchFamily="34" charset="0"/>
                <a:ea typeface="Calibri" pitchFamily="34" charset="-122"/>
                <a:cs typeface="Calibri" pitchFamily="34" charset="-120"/>
              </a:rPr>
              <a:t>Guide</a:t>
            </a:r>
            <a:endParaRPr lang="en-US" sz="1300" dirty="0"/>
          </a:p>
        </p:txBody>
      </p:sp>
      <p:sp>
        <p:nvSpPr>
          <p:cNvPr id="24" name="Text 17"/>
          <p:cNvSpPr/>
          <p:nvPr/>
        </p:nvSpPr>
        <p:spPr>
          <a:xfrm>
            <a:off x="7187184" y="2514600"/>
            <a:ext cx="1554480" cy="640080"/>
          </a:xfrm>
          <a:prstGeom prst="rect">
            <a:avLst/>
          </a:prstGeom>
          <a:noFill/>
          <a:ln/>
        </p:spPr>
        <p:txBody>
          <a:bodyPr wrap="square" lIns="0" tIns="0" rIns="0" bIns="0" rtlCol="0" anchor="t"/>
          <a:lstStyle/>
          <a:p>
            <a:pPr algn="ctr" indent="0" marL="0">
              <a:buNone/>
            </a:pPr>
            <a:r>
              <a:rPr lang="en-US" sz="1050" dirty="0">
                <a:solidFill>
                  <a:srgbClr val="2B2840"/>
                </a:solidFill>
                <a:latin typeface="Calibri" pitchFamily="34" charset="0"/>
                <a:ea typeface="Calibri" pitchFamily="34" charset="-122"/>
                <a:cs typeface="Calibri" pitchFamily="34" charset="-120"/>
              </a:rPr>
              <a:t>Rules, templates and contacts</a:t>
            </a:r>
            <a:endParaRPr lang="en-US" sz="1050" dirty="0"/>
          </a:p>
        </p:txBody>
      </p:sp>
      <p:sp>
        <p:nvSpPr>
          <p:cNvPr id="25" name="Text 18"/>
          <p:cNvSpPr/>
          <p:nvPr/>
        </p:nvSpPr>
        <p:spPr>
          <a:xfrm>
            <a:off x="457200" y="3566160"/>
            <a:ext cx="8229600" cy="457200"/>
          </a:xfrm>
          <a:prstGeom prst="rect">
            <a:avLst/>
          </a:prstGeom>
          <a:noFill/>
          <a:ln/>
        </p:spPr>
        <p:txBody>
          <a:bodyPr wrap="square" lIns="0" tIns="0" rIns="0" bIns="0" rtlCol="0" anchor="ctr"/>
          <a:lstStyle/>
          <a:p>
            <a:pPr algn="ctr" indent="0" marL="0">
              <a:buNone/>
            </a:pPr>
            <a:r>
              <a:rPr lang="en-US" sz="1500" i="1" dirty="0">
                <a:solidFill>
                  <a:srgbClr val="E55A5A"/>
                </a:solidFill>
                <a:latin typeface="Georgia" pitchFamily="34" charset="0"/>
                <a:ea typeface="Georgia" pitchFamily="34" charset="-122"/>
                <a:cs typeface="Georgia" pitchFamily="34" charset="-120"/>
              </a:rPr>
              <a:t>If something in a slide or a message differs from the website, the website is right.</a:t>
            </a:r>
            <a:endParaRPr lang="en-US" sz="150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WHY IT IS WORTH IT</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Extra points and a certificate</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Kick-off</a:t>
            </a:r>
            <a:endParaRPr lang="en-US" sz="850" dirty="0"/>
          </a:p>
        </p:txBody>
      </p:sp>
      <p:sp>
        <p:nvSpPr>
          <p:cNvPr id="5" name="Shape 3"/>
          <p:cNvSpPr/>
          <p:nvPr/>
        </p:nvSpPr>
        <p:spPr>
          <a:xfrm>
            <a:off x="457200" y="1188720"/>
            <a:ext cx="4937760" cy="3200400"/>
          </a:xfrm>
          <a:prstGeom prst="rect">
            <a:avLst/>
          </a:prstGeom>
          <a:solidFill>
            <a:srgbClr val="312A63"/>
          </a:solidFill>
          <a:ln w="12700">
            <a:solidFill>
              <a:srgbClr val="312A63"/>
            </a:solidFill>
            <a:prstDash val="solid"/>
          </a:ln>
        </p:spPr>
      </p:sp>
      <p:sp>
        <p:nvSpPr>
          <p:cNvPr id="6" name="Text 4"/>
          <p:cNvSpPr/>
          <p:nvPr/>
        </p:nvSpPr>
        <p:spPr>
          <a:xfrm>
            <a:off x="731520" y="1417320"/>
            <a:ext cx="2194560" cy="82296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+1</a:t>
            </a:r>
            <a:endParaRPr lang="en-US" sz="4800" dirty="0"/>
          </a:p>
        </p:txBody>
      </p:sp>
      <p:sp>
        <p:nvSpPr>
          <p:cNvPr id="7" name="Text 5"/>
          <p:cNvSpPr/>
          <p:nvPr/>
        </p:nvSpPr>
        <p:spPr>
          <a:xfrm>
            <a:off x="731520" y="2240280"/>
            <a:ext cx="2194560" cy="320040"/>
          </a:xfrm>
          <a:prstGeom prst="rect">
            <a:avLst/>
          </a:prstGeom>
          <a:noFill/>
          <a:ln/>
        </p:spPr>
        <p:txBody>
          <a:bodyPr wrap="square" lIns="0" tIns="0" rIns="0" bIns="0" rtlCol="0" anchor="ctr"/>
          <a:lstStyle/>
          <a:p>
            <a:pPr indent="0" marL="0">
              <a:buNone/>
            </a:pPr>
            <a:r>
              <a:rPr lang="en-US" sz="1500" b="1" dirty="0">
                <a:solidFill>
                  <a:srgbClr val="F5A3A3"/>
                </a:solidFill>
                <a:latin typeface="Calibri" pitchFamily="34" charset="0"/>
                <a:ea typeface="Calibri" pitchFamily="34" charset="-122"/>
                <a:cs typeface="Calibri" pitchFamily="34" charset="-120"/>
              </a:rPr>
              <a:t>/ 10</a:t>
            </a:r>
            <a:endParaRPr lang="en-US" sz="1500" dirty="0"/>
          </a:p>
        </p:txBody>
      </p:sp>
      <p:sp>
        <p:nvSpPr>
          <p:cNvPr id="8" name="Text 6"/>
          <p:cNvSpPr/>
          <p:nvPr/>
        </p:nvSpPr>
        <p:spPr>
          <a:xfrm>
            <a:off x="731520" y="2606040"/>
            <a:ext cx="2103120" cy="731520"/>
          </a:xfrm>
          <a:prstGeom prst="rect">
            <a:avLst/>
          </a:prstGeom>
          <a:noFill/>
          <a:ln/>
        </p:spPr>
        <p:txBody>
          <a:bodyPr wrap="square" lIns="0" tIns="0" rIns="0" bIns="0" rtlCol="0" anchor="t"/>
          <a:lstStyle/>
          <a:p>
            <a:pPr indent="0" marL="0">
              <a:buNone/>
            </a:pPr>
            <a:r>
              <a:rPr lang="en-US" sz="1100" dirty="0">
                <a:solidFill>
                  <a:srgbClr val="D9D6EA"/>
                </a:solidFill>
                <a:latin typeface="Calibri" pitchFamily="34" charset="0"/>
                <a:ea typeface="Calibri" pitchFamily="34" charset="-122"/>
                <a:cs typeface="Calibri" pitchFamily="34" charset="-120"/>
              </a:rPr>
              <a:t>University of Seville</a:t>
            </a:r>
            <a:endParaRPr lang="en-US" sz="1100" dirty="0"/>
          </a:p>
        </p:txBody>
      </p:sp>
      <p:sp>
        <p:nvSpPr>
          <p:cNvPr id="9" name="Text 7"/>
          <p:cNvSpPr/>
          <p:nvPr/>
        </p:nvSpPr>
        <p:spPr>
          <a:xfrm>
            <a:off x="3108960" y="1417320"/>
            <a:ext cx="2194560" cy="82296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+20</a:t>
            </a:r>
            <a:endParaRPr lang="en-US" sz="4800" dirty="0"/>
          </a:p>
        </p:txBody>
      </p:sp>
      <p:sp>
        <p:nvSpPr>
          <p:cNvPr id="10" name="Text 8"/>
          <p:cNvSpPr/>
          <p:nvPr/>
        </p:nvSpPr>
        <p:spPr>
          <a:xfrm>
            <a:off x="3108960" y="2240280"/>
            <a:ext cx="2194560" cy="320040"/>
          </a:xfrm>
          <a:prstGeom prst="rect">
            <a:avLst/>
          </a:prstGeom>
          <a:noFill/>
          <a:ln/>
        </p:spPr>
        <p:txBody>
          <a:bodyPr wrap="square" lIns="0" tIns="0" rIns="0" bIns="0" rtlCol="0" anchor="ctr"/>
          <a:lstStyle/>
          <a:p>
            <a:pPr indent="0" marL="0">
              <a:buNone/>
            </a:pPr>
            <a:r>
              <a:rPr lang="en-US" sz="1500" b="1" dirty="0">
                <a:solidFill>
                  <a:srgbClr val="F5A3A3"/>
                </a:solidFill>
                <a:latin typeface="Calibri" pitchFamily="34" charset="0"/>
                <a:ea typeface="Calibri" pitchFamily="34" charset="-122"/>
                <a:cs typeface="Calibri" pitchFamily="34" charset="-120"/>
              </a:rPr>
              <a:t>/ 100</a:t>
            </a:r>
            <a:endParaRPr lang="en-US" sz="1500" dirty="0"/>
          </a:p>
        </p:txBody>
      </p:sp>
      <p:sp>
        <p:nvSpPr>
          <p:cNvPr id="11" name="Text 9"/>
          <p:cNvSpPr/>
          <p:nvPr/>
        </p:nvSpPr>
        <p:spPr>
          <a:xfrm>
            <a:off x="3108960" y="2606040"/>
            <a:ext cx="2103120" cy="731520"/>
          </a:xfrm>
          <a:prstGeom prst="rect">
            <a:avLst/>
          </a:prstGeom>
          <a:noFill/>
          <a:ln/>
        </p:spPr>
        <p:txBody>
          <a:bodyPr wrap="square" lIns="0" tIns="0" rIns="0" bIns="0" rtlCol="0" anchor="t"/>
          <a:lstStyle/>
          <a:p>
            <a:pPr indent="0" marL="0">
              <a:buNone/>
            </a:pPr>
            <a:r>
              <a:rPr lang="en-US" sz="1100" dirty="0">
                <a:solidFill>
                  <a:srgbClr val="D9D6EA"/>
                </a:solidFill>
                <a:latin typeface="Calibri" pitchFamily="34" charset="0"/>
                <a:ea typeface="Calibri" pitchFamily="34" charset="-122"/>
                <a:cs typeface="Calibri" pitchFamily="34" charset="-120"/>
              </a:rPr>
              <a:t>Technical University of Košice · University of Montenegro</a:t>
            </a:r>
            <a:endParaRPr lang="en-US" sz="1100" dirty="0"/>
          </a:p>
        </p:txBody>
      </p:sp>
      <p:sp>
        <p:nvSpPr>
          <p:cNvPr id="12" name="Text 10"/>
          <p:cNvSpPr/>
          <p:nvPr/>
        </p:nvSpPr>
        <p:spPr>
          <a:xfrm>
            <a:off x="731520" y="3520440"/>
            <a:ext cx="4480560" cy="64008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Extra points on your course grade for students who complete the final presentation.</a:t>
            </a:r>
            <a:endParaRPr lang="en-US" sz="1150" dirty="0"/>
          </a:p>
        </p:txBody>
      </p:sp>
      <p:sp>
        <p:nvSpPr>
          <p:cNvPr id="13" name="Shape 11"/>
          <p:cNvSpPr/>
          <p:nvPr/>
        </p:nvSpPr>
        <p:spPr>
          <a:xfrm>
            <a:off x="5577840" y="1188720"/>
            <a:ext cx="3108960" cy="3200400"/>
          </a:xfrm>
          <a:prstGeom prst="rect">
            <a:avLst/>
          </a:prstGeom>
          <a:solidFill>
            <a:srgbClr val="FDEEEE"/>
          </a:solidFill>
          <a:ln w="12700">
            <a:solidFill>
              <a:srgbClr val="FDEEEE"/>
            </a:solidFill>
            <a:prstDash val="solid"/>
          </a:ln>
        </p:spPr>
      </p:sp>
      <p:sp>
        <p:nvSpPr>
          <p:cNvPr id="14" name="Shape 12"/>
          <p:cNvSpPr/>
          <p:nvPr/>
        </p:nvSpPr>
        <p:spPr>
          <a:xfrm>
            <a:off x="5806440" y="1417320"/>
            <a:ext cx="731520" cy="731520"/>
          </a:xfrm>
          <a:prstGeom prst="ellipse">
            <a:avLst/>
          </a:prstGeom>
          <a:solidFill>
            <a:srgbClr val="E55A5A"/>
          </a:solidFill>
          <a:ln w="12700">
            <a:solidFill>
              <a:srgbClr val="E55A5A"/>
            </a:solidFill>
            <a:prstDash val="solid"/>
          </a:ln>
        </p:spPr>
      </p:sp>
      <p:pic>
        <p:nvPicPr>
          <p:cNvPr id="15" name="Image 0" descr="preencoded.png">    </p:cNvPr>
          <p:cNvPicPr>
            <a:picLocks noChangeAspect="1"/>
          </p:cNvPicPr>
          <p:nvPr/>
        </p:nvPicPr>
        <p:blipFill>
          <a:blip r:embed="rId1"/>
          <a:stretch>
            <a:fillRect/>
          </a:stretch>
        </p:blipFill>
        <p:spPr>
          <a:xfrm>
            <a:off x="5989320" y="1600200"/>
            <a:ext cx="365760" cy="365760"/>
          </a:xfrm>
          <a:prstGeom prst="rect">
            <a:avLst/>
          </a:prstGeom>
        </p:spPr>
      </p:pic>
      <p:sp>
        <p:nvSpPr>
          <p:cNvPr id="16" name="Text 13"/>
          <p:cNvSpPr/>
          <p:nvPr/>
        </p:nvSpPr>
        <p:spPr>
          <a:xfrm>
            <a:off x="5806440" y="2286000"/>
            <a:ext cx="2743200" cy="365760"/>
          </a:xfrm>
          <a:prstGeom prst="rect">
            <a:avLst/>
          </a:prstGeom>
          <a:noFill/>
          <a:ln/>
        </p:spPr>
        <p:txBody>
          <a:bodyPr wrap="square" lIns="0" tIns="0" rIns="0" bIns="0" rtlCol="0" anchor="ctr"/>
          <a:lstStyle/>
          <a:p>
            <a:pPr indent="0" marL="0">
              <a:buNone/>
            </a:pPr>
            <a:r>
              <a:rPr lang="en-US" sz="1500" b="1" dirty="0">
                <a:solidFill>
                  <a:srgbClr val="E55A5A"/>
                </a:solidFill>
                <a:latin typeface="Calibri" pitchFamily="34" charset="0"/>
                <a:ea typeface="Calibri" pitchFamily="34" charset="-122"/>
                <a:cs typeface="Calibri" pitchFamily="34" charset="-120"/>
              </a:rPr>
              <a:t>Certificate</a:t>
            </a:r>
            <a:endParaRPr lang="en-US" sz="1500" dirty="0"/>
          </a:p>
        </p:txBody>
      </p:sp>
      <p:sp>
        <p:nvSpPr>
          <p:cNvPr id="17" name="Text 14"/>
          <p:cNvSpPr/>
          <p:nvPr/>
        </p:nvSpPr>
        <p:spPr>
          <a:xfrm>
            <a:off x="5806440" y="2697480"/>
            <a:ext cx="2697480" cy="1463040"/>
          </a:xfrm>
          <a:prstGeom prst="rect">
            <a:avLst/>
          </a:prstGeom>
          <a:noFill/>
          <a:ln/>
        </p:spPr>
        <p:txBody>
          <a:bodyPr wrap="square" lIns="0" tIns="0" rIns="0" bIns="0" rtlCol="0" anchor="t"/>
          <a:lstStyle/>
          <a:p>
            <a:pPr indent="0" marL="0">
              <a:buNone/>
            </a:pPr>
            <a:r>
              <a:rPr lang="en-US" sz="1200" dirty="0">
                <a:solidFill>
                  <a:srgbClr val="2B2840"/>
                </a:solidFill>
                <a:latin typeface="Calibri" pitchFamily="34" charset="0"/>
                <a:ea typeface="Calibri" pitchFamily="34" charset="-122"/>
                <a:cs typeface="Calibri" pitchFamily="34" charset="-120"/>
              </a:rPr>
              <a:t>Certificate of participation in a Ulysseus European University COIL, signed by three European universities: Seville, Košice and Montenegro. Add it to your CV and LinkedIn.</a:t>
            </a:r>
            <a:endParaRPr lang="en-US" sz="120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BREAK-OUT ROOMS · 25 MINUTES</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Your first team meeting</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Kick-off</a:t>
            </a:r>
            <a:endParaRPr lang="en-US" sz="850" dirty="0"/>
          </a:p>
        </p:txBody>
      </p:sp>
      <p:sp>
        <p:nvSpPr>
          <p:cNvPr id="5" name="Shape 3"/>
          <p:cNvSpPr/>
          <p:nvPr/>
        </p:nvSpPr>
        <p:spPr>
          <a:xfrm>
            <a:off x="457200" y="1280160"/>
            <a:ext cx="384048" cy="384048"/>
          </a:xfrm>
          <a:prstGeom prst="ellipse">
            <a:avLst/>
          </a:prstGeom>
          <a:solidFill>
            <a:srgbClr val="E55A5A"/>
          </a:solidFill>
          <a:ln w="12700">
            <a:solidFill>
              <a:srgbClr val="E55A5A"/>
            </a:solidFill>
            <a:prstDash val="solid"/>
          </a:ln>
        </p:spPr>
      </p:sp>
      <p:sp>
        <p:nvSpPr>
          <p:cNvPr id="6" name="Text 4"/>
          <p:cNvSpPr/>
          <p:nvPr/>
        </p:nvSpPr>
        <p:spPr>
          <a:xfrm>
            <a:off x="45720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005840" y="1234440"/>
            <a:ext cx="4937760" cy="502920"/>
          </a:xfrm>
          <a:prstGeom prst="rect">
            <a:avLst/>
          </a:prstGeom>
          <a:noFill/>
          <a:ln/>
        </p:spPr>
        <p:txBody>
          <a:bodyPr wrap="square" lIns="0" tIns="0" rIns="0" bIns="0" rtlCol="0" anchor="ctr"/>
          <a:lstStyle/>
          <a:p>
            <a:pPr indent="0" marL="0">
              <a:buNone/>
            </a:pPr>
            <a:r>
              <a:rPr lang="en-US" sz="1250" dirty="0">
                <a:solidFill>
                  <a:srgbClr val="2B2840"/>
                </a:solidFill>
                <a:latin typeface="Calibri" pitchFamily="34" charset="0"/>
                <a:ea typeface="Calibri" pitchFamily="34" charset="-122"/>
                <a:cs typeface="Calibri" pitchFamily="34" charset="-120"/>
              </a:rPr>
              <a:t>Introduce yourself: name, university, what you study, and your surprising fact about your country.</a:t>
            </a:r>
            <a:endParaRPr lang="en-US" sz="1250" dirty="0"/>
          </a:p>
        </p:txBody>
      </p:sp>
      <p:sp>
        <p:nvSpPr>
          <p:cNvPr id="8" name="Shape 6"/>
          <p:cNvSpPr/>
          <p:nvPr/>
        </p:nvSpPr>
        <p:spPr>
          <a:xfrm>
            <a:off x="457200" y="2057400"/>
            <a:ext cx="384048" cy="384048"/>
          </a:xfrm>
          <a:prstGeom prst="ellipse">
            <a:avLst/>
          </a:prstGeom>
          <a:solidFill>
            <a:srgbClr val="E55A5A"/>
          </a:solidFill>
          <a:ln w="12700">
            <a:solidFill>
              <a:srgbClr val="E55A5A"/>
            </a:solidFill>
            <a:prstDash val="solid"/>
          </a:ln>
        </p:spPr>
      </p:sp>
      <p:sp>
        <p:nvSpPr>
          <p:cNvPr id="9" name="Text 7"/>
          <p:cNvSpPr/>
          <p:nvPr/>
        </p:nvSpPr>
        <p:spPr>
          <a:xfrm>
            <a:off x="457200" y="2057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005840" y="2011680"/>
            <a:ext cx="4937760" cy="502920"/>
          </a:xfrm>
          <a:prstGeom prst="rect">
            <a:avLst/>
          </a:prstGeom>
          <a:noFill/>
          <a:ln/>
        </p:spPr>
        <p:txBody>
          <a:bodyPr wrap="square" lIns="0" tIns="0" rIns="0" bIns="0" rtlCol="0" anchor="ctr"/>
          <a:lstStyle/>
          <a:p>
            <a:pPr indent="0" marL="0">
              <a:buNone/>
            </a:pPr>
            <a:r>
              <a:rPr lang="en-US" sz="1250" dirty="0">
                <a:solidFill>
                  <a:srgbClr val="2B2840"/>
                </a:solidFill>
                <a:latin typeface="Calibri" pitchFamily="34" charset="0"/>
                <a:ea typeface="Calibri" pitchFamily="34" charset="-122"/>
                <a:cs typeface="Calibri" pitchFamily="34" charset="-120"/>
              </a:rPr>
              <a:t>Choose one communication channel for the team (and agree to answer within 48 hours on working days).</a:t>
            </a:r>
            <a:endParaRPr lang="en-US" sz="1250" dirty="0"/>
          </a:p>
        </p:txBody>
      </p:sp>
      <p:sp>
        <p:nvSpPr>
          <p:cNvPr id="11" name="Shape 9"/>
          <p:cNvSpPr/>
          <p:nvPr/>
        </p:nvSpPr>
        <p:spPr>
          <a:xfrm>
            <a:off x="457200" y="2834640"/>
            <a:ext cx="384048" cy="384048"/>
          </a:xfrm>
          <a:prstGeom prst="ellipse">
            <a:avLst/>
          </a:prstGeom>
          <a:solidFill>
            <a:srgbClr val="E55A5A"/>
          </a:solidFill>
          <a:ln w="12700">
            <a:solidFill>
              <a:srgbClr val="E55A5A"/>
            </a:solidFill>
            <a:prstDash val="solid"/>
          </a:ln>
        </p:spPr>
      </p:sp>
      <p:sp>
        <p:nvSpPr>
          <p:cNvPr id="12" name="Text 10"/>
          <p:cNvSpPr/>
          <p:nvPr/>
        </p:nvSpPr>
        <p:spPr>
          <a:xfrm>
            <a:off x="457200" y="2834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005840" y="2788920"/>
            <a:ext cx="4937760" cy="502920"/>
          </a:xfrm>
          <a:prstGeom prst="rect">
            <a:avLst/>
          </a:prstGeom>
          <a:noFill/>
          <a:ln/>
        </p:spPr>
        <p:txBody>
          <a:bodyPr wrap="square" lIns="0" tIns="0" rIns="0" bIns="0" rtlCol="0" anchor="ctr"/>
          <a:lstStyle/>
          <a:p>
            <a:pPr indent="0" marL="0">
              <a:buNone/>
            </a:pPr>
            <a:r>
              <a:rPr lang="en-US" sz="1250" dirty="0">
                <a:solidFill>
                  <a:srgbClr val="2B2840"/>
                </a:solidFill>
                <a:latin typeface="Calibri" pitchFamily="34" charset="0"/>
                <a:ea typeface="Calibri" pitchFamily="34" charset="-122"/>
                <a:cs typeface="Calibri" pitchFamily="34" charset="-120"/>
              </a:rPr>
              <a:t>Fix a weekly meeting time. All three countries are in the same time zone (CET).</a:t>
            </a:r>
            <a:endParaRPr lang="en-US" sz="1250" dirty="0"/>
          </a:p>
        </p:txBody>
      </p:sp>
      <p:sp>
        <p:nvSpPr>
          <p:cNvPr id="14" name="Shape 12"/>
          <p:cNvSpPr/>
          <p:nvPr/>
        </p:nvSpPr>
        <p:spPr>
          <a:xfrm>
            <a:off x="457200" y="3611880"/>
            <a:ext cx="384048" cy="384048"/>
          </a:xfrm>
          <a:prstGeom prst="ellipse">
            <a:avLst/>
          </a:prstGeom>
          <a:solidFill>
            <a:srgbClr val="E55A5A"/>
          </a:solidFill>
          <a:ln w="12700">
            <a:solidFill>
              <a:srgbClr val="E55A5A"/>
            </a:solidFill>
            <a:prstDash val="solid"/>
          </a:ln>
        </p:spPr>
      </p:sp>
      <p:sp>
        <p:nvSpPr>
          <p:cNvPr id="15" name="Text 13"/>
          <p:cNvSpPr/>
          <p:nvPr/>
        </p:nvSpPr>
        <p:spPr>
          <a:xfrm>
            <a:off x="457200" y="3611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005840" y="3566160"/>
            <a:ext cx="4937760" cy="502920"/>
          </a:xfrm>
          <a:prstGeom prst="rect">
            <a:avLst/>
          </a:prstGeom>
          <a:noFill/>
          <a:ln/>
        </p:spPr>
        <p:txBody>
          <a:bodyPr wrap="square" lIns="0" tIns="0" rIns="0" bIns="0" rtlCol="0" anchor="ctr"/>
          <a:lstStyle/>
          <a:p>
            <a:pPr indent="0" marL="0">
              <a:buNone/>
            </a:pPr>
            <a:r>
              <a:rPr lang="en-US" sz="1250" dirty="0">
                <a:solidFill>
                  <a:srgbClr val="2B2840"/>
                </a:solidFill>
                <a:latin typeface="Calibri" pitchFamily="34" charset="0"/>
                <a:ea typeface="Calibri" pitchFamily="34" charset="-122"/>
                <a:cs typeface="Calibri" pitchFamily="34" charset="-120"/>
              </a:rPr>
              <a:t>Exchange first ideas for your question: look at the example projects on the website.</a:t>
            </a:r>
            <a:endParaRPr lang="en-US" sz="1250" dirty="0"/>
          </a:p>
        </p:txBody>
      </p:sp>
      <p:sp>
        <p:nvSpPr>
          <p:cNvPr id="17" name="Shape 15"/>
          <p:cNvSpPr/>
          <p:nvPr/>
        </p:nvSpPr>
        <p:spPr>
          <a:xfrm>
            <a:off x="6309360" y="1234440"/>
            <a:ext cx="2377440" cy="3017520"/>
          </a:xfrm>
          <a:prstGeom prst="rect">
            <a:avLst/>
          </a:prstGeom>
          <a:solidFill>
            <a:srgbClr val="F4F3F9"/>
          </a:solidFill>
          <a:ln w="12700">
            <a:solidFill>
              <a:srgbClr val="F4F3F9"/>
            </a:solidFill>
            <a:prstDash val="solid"/>
          </a:ln>
        </p:spPr>
      </p:sp>
      <p:pic>
        <p:nvPicPr>
          <p:cNvPr id="18" name="Image 0" descr="preencoded.png">    </p:cNvPr>
          <p:cNvPicPr>
            <a:picLocks noChangeAspect="1"/>
          </p:cNvPicPr>
          <p:nvPr/>
        </p:nvPicPr>
        <p:blipFill>
          <a:blip r:embed="rId1"/>
          <a:stretch>
            <a:fillRect/>
          </a:stretch>
        </p:blipFill>
        <p:spPr>
          <a:xfrm>
            <a:off x="7178040" y="1463040"/>
            <a:ext cx="640080" cy="640080"/>
          </a:xfrm>
          <a:prstGeom prst="rect">
            <a:avLst/>
          </a:prstGeom>
        </p:spPr>
      </p:pic>
      <p:sp>
        <p:nvSpPr>
          <p:cNvPr id="19" name="Text 16"/>
          <p:cNvSpPr/>
          <p:nvPr/>
        </p:nvSpPr>
        <p:spPr>
          <a:xfrm>
            <a:off x="6309360" y="2194560"/>
            <a:ext cx="2377440" cy="822960"/>
          </a:xfrm>
          <a:prstGeom prst="rect">
            <a:avLst/>
          </a:prstGeom>
          <a:noFill/>
          <a:ln/>
        </p:spPr>
        <p:txBody>
          <a:bodyPr wrap="square" lIns="0" tIns="0" rIns="0" bIns="0" rtlCol="0" anchor="ctr"/>
          <a:lstStyle/>
          <a:p>
            <a:pPr algn="ctr" indent="0" marL="0">
              <a:buNone/>
            </a:pPr>
            <a:r>
              <a:rPr lang="en-US" sz="5400" b="1" dirty="0">
                <a:solidFill>
                  <a:srgbClr val="312A63"/>
                </a:solidFill>
                <a:latin typeface="Georgia" pitchFamily="34" charset="0"/>
                <a:ea typeface="Georgia" pitchFamily="34" charset="-122"/>
                <a:cs typeface="Georgia" pitchFamily="34" charset="-120"/>
              </a:rPr>
              <a:t>25</a:t>
            </a:r>
            <a:endParaRPr lang="en-US" sz="5400" dirty="0"/>
          </a:p>
        </p:txBody>
      </p:sp>
      <p:sp>
        <p:nvSpPr>
          <p:cNvPr id="20" name="Text 17"/>
          <p:cNvSpPr/>
          <p:nvPr/>
        </p:nvSpPr>
        <p:spPr>
          <a:xfrm>
            <a:off x="6492240" y="3063240"/>
            <a:ext cx="2011680" cy="548640"/>
          </a:xfrm>
          <a:prstGeom prst="rect">
            <a:avLst/>
          </a:prstGeom>
          <a:noFill/>
          <a:ln/>
        </p:spPr>
        <p:txBody>
          <a:bodyPr wrap="square" lIns="0" tIns="0" rIns="0" bIns="0" rtlCol="0" anchor="ctr"/>
          <a:lstStyle/>
          <a:p>
            <a:pPr algn="ctr" indent="0" marL="0">
              <a:buNone/>
            </a:pPr>
            <a:r>
              <a:rPr lang="en-US" sz="1150" dirty="0">
                <a:solidFill>
                  <a:srgbClr val="6B6880"/>
                </a:solidFill>
                <a:latin typeface="Calibri" pitchFamily="34" charset="0"/>
                <a:ea typeface="Calibri" pitchFamily="34" charset="-122"/>
                <a:cs typeface="Calibri" pitchFamily="34" charset="-120"/>
              </a:rPr>
              <a:t>minutes, then back to the main room</a:t>
            </a:r>
            <a:endParaRPr lang="en-US" sz="115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E55A5A"/>
                </a:solidFill>
                <a:latin typeface="Calibri" pitchFamily="34" charset="0"/>
                <a:ea typeface="Calibri" pitchFamily="34" charset="-122"/>
                <a:cs typeface="Calibri" pitchFamily="34" charset="-120"/>
              </a:rPr>
              <a:t>BEFORE NEXT WEEK</a:t>
            </a:r>
            <a:endParaRPr lang="en-US" sz="1000" dirty="0"/>
          </a:p>
        </p:txBody>
      </p:sp>
      <p:sp>
        <p:nvSpPr>
          <p:cNvPr id="3" name="Text 1"/>
          <p:cNvSpPr/>
          <p:nvPr/>
        </p:nvSpPr>
        <p:spPr>
          <a:xfrm>
            <a:off x="457200" y="502920"/>
            <a:ext cx="8229600" cy="548640"/>
          </a:xfrm>
          <a:prstGeom prst="rect">
            <a:avLst/>
          </a:prstGeom>
          <a:noFill/>
          <a:ln/>
        </p:spPr>
        <p:txBody>
          <a:bodyPr wrap="square" lIns="0" tIns="0" rIns="0" bIns="0" rtlCol="0" anchor="t">
            <a:normAutofit/>
          </a:bodyPr>
          <a:lstStyle/>
          <a:p>
            <a:pPr indent="0" marL="0">
              <a:buNone/>
            </a:pPr>
            <a:r>
              <a:rPr lang="en-US" sz="2400" b="1" dirty="0">
                <a:solidFill>
                  <a:srgbClr val="312A63"/>
                </a:solidFill>
                <a:latin typeface="Georgia" pitchFamily="34" charset="0"/>
                <a:ea typeface="Georgia" pitchFamily="34" charset="-122"/>
                <a:cs typeface="Georgia" pitchFamily="34" charset="-120"/>
              </a:rPr>
              <a:t>Your checklist for week 2</a:t>
            </a:r>
            <a:endParaRPr lang="en-US" sz="2400" dirty="0"/>
          </a:p>
        </p:txBody>
      </p:sp>
      <p:sp>
        <p:nvSpPr>
          <p:cNvPr id="4" name="Text 2"/>
          <p:cNvSpPr/>
          <p:nvPr/>
        </p:nvSpPr>
        <p:spPr>
          <a:xfrm>
            <a:off x="457200" y="4818888"/>
            <a:ext cx="6400800" cy="228600"/>
          </a:xfrm>
          <a:prstGeom prst="rect">
            <a:avLst/>
          </a:prstGeom>
          <a:noFill/>
          <a:ln/>
        </p:spPr>
        <p:txBody>
          <a:bodyPr wrap="square" lIns="0" tIns="0" rIns="0" bIns="0" rtlCol="0" anchor="ctr"/>
          <a:lstStyle/>
          <a:p>
            <a:pPr indent="0" marL="0">
              <a:buNone/>
            </a:pPr>
            <a:r>
              <a:rPr lang="en-US" sz="850" dirty="0">
                <a:solidFill>
                  <a:srgbClr val="6B6880"/>
                </a:solidFill>
                <a:latin typeface="Calibri" pitchFamily="34" charset="0"/>
                <a:ea typeface="Calibri" pitchFamily="34" charset="-122"/>
                <a:cs typeface="Calibri" pitchFamily="34" charset="-120"/>
              </a:rPr>
              <a:t>Ulysseus COIL · Comparing Europe with Data · Kick-off</a:t>
            </a:r>
            <a:endParaRPr lang="en-US" sz="850" dirty="0"/>
          </a:p>
        </p:txBody>
      </p:sp>
      <p:sp>
        <p:nvSpPr>
          <p:cNvPr id="5" name="Shape 3"/>
          <p:cNvSpPr/>
          <p:nvPr/>
        </p:nvSpPr>
        <p:spPr>
          <a:xfrm>
            <a:off x="457200" y="1234440"/>
            <a:ext cx="292608" cy="292608"/>
          </a:xfrm>
          <a:prstGeom prst="rect">
            <a:avLst/>
          </a:prstGeom>
          <a:solidFill>
            <a:srgbClr val="FFFFFF"/>
          </a:solidFill>
          <a:ln w="19050">
            <a:solidFill>
              <a:srgbClr val="312A63"/>
            </a:solidFill>
            <a:prstDash val="solid"/>
          </a:ln>
        </p:spPr>
      </p:sp>
      <p:sp>
        <p:nvSpPr>
          <p:cNvPr id="6" name="Text 4"/>
          <p:cNvSpPr/>
          <p:nvPr/>
        </p:nvSpPr>
        <p:spPr>
          <a:xfrm>
            <a:off x="914400" y="1188720"/>
            <a:ext cx="7680960" cy="384048"/>
          </a:xfrm>
          <a:prstGeom prst="rect">
            <a:avLst/>
          </a:prstGeom>
          <a:noFill/>
          <a:ln/>
        </p:spPr>
        <p:txBody>
          <a:bodyPr wrap="square" lIns="0" tIns="0" rIns="0" bIns="0" rtlCol="0" anchor="ctr"/>
          <a:lstStyle/>
          <a:p>
            <a:pPr indent="0" marL="0">
              <a:buNone/>
            </a:pPr>
            <a:r>
              <a:rPr lang="en-US" sz="1300" dirty="0">
                <a:solidFill>
                  <a:srgbClr val="2B2840"/>
                </a:solidFill>
                <a:latin typeface="Calibri" pitchFamily="34" charset="0"/>
                <a:ea typeface="Calibri" pitchFamily="34" charset="-122"/>
                <a:cs typeface="Calibri" pitchFamily="34" charset="-120"/>
              </a:rPr>
              <a:t>Read the student guide and the schedule on the website.</a:t>
            </a:r>
            <a:endParaRPr lang="en-US" sz="1300" dirty="0"/>
          </a:p>
        </p:txBody>
      </p:sp>
      <p:sp>
        <p:nvSpPr>
          <p:cNvPr id="7" name="Shape 5"/>
          <p:cNvSpPr/>
          <p:nvPr/>
        </p:nvSpPr>
        <p:spPr>
          <a:xfrm>
            <a:off x="457200" y="1856232"/>
            <a:ext cx="292608" cy="292608"/>
          </a:xfrm>
          <a:prstGeom prst="rect">
            <a:avLst/>
          </a:prstGeom>
          <a:solidFill>
            <a:srgbClr val="FFFFFF"/>
          </a:solidFill>
          <a:ln w="19050">
            <a:solidFill>
              <a:srgbClr val="312A63"/>
            </a:solidFill>
            <a:prstDash val="solid"/>
          </a:ln>
        </p:spPr>
      </p:sp>
      <p:sp>
        <p:nvSpPr>
          <p:cNvPr id="8" name="Text 6"/>
          <p:cNvSpPr/>
          <p:nvPr/>
        </p:nvSpPr>
        <p:spPr>
          <a:xfrm>
            <a:off x="914400" y="1810512"/>
            <a:ext cx="7680960" cy="384048"/>
          </a:xfrm>
          <a:prstGeom prst="rect">
            <a:avLst/>
          </a:prstGeom>
          <a:noFill/>
          <a:ln/>
        </p:spPr>
        <p:txBody>
          <a:bodyPr wrap="square" lIns="0" tIns="0" rIns="0" bIns="0" rtlCol="0" anchor="ctr"/>
          <a:lstStyle/>
          <a:p>
            <a:pPr indent="0" marL="0">
              <a:buNone/>
            </a:pPr>
            <a:r>
              <a:rPr lang="en-US" sz="1300" dirty="0">
                <a:solidFill>
                  <a:srgbClr val="2B2840"/>
                </a:solidFill>
                <a:latin typeface="Calibri" pitchFamily="34" charset="0"/>
                <a:ea typeface="Calibri" pitchFamily="34" charset="-122"/>
                <a:cs typeface="Calibri" pitchFamily="34" charset="-120"/>
              </a:rPr>
              <a:t>Hold your first full team meeting and write your team charter.</a:t>
            </a:r>
            <a:endParaRPr lang="en-US" sz="1300" dirty="0"/>
          </a:p>
        </p:txBody>
      </p:sp>
      <p:sp>
        <p:nvSpPr>
          <p:cNvPr id="9" name="Shape 7"/>
          <p:cNvSpPr/>
          <p:nvPr/>
        </p:nvSpPr>
        <p:spPr>
          <a:xfrm>
            <a:off x="457200" y="2478024"/>
            <a:ext cx="292608" cy="292608"/>
          </a:xfrm>
          <a:prstGeom prst="rect">
            <a:avLst/>
          </a:prstGeom>
          <a:solidFill>
            <a:srgbClr val="FFFFFF"/>
          </a:solidFill>
          <a:ln w="19050">
            <a:solidFill>
              <a:srgbClr val="312A63"/>
            </a:solidFill>
            <a:prstDash val="solid"/>
          </a:ln>
        </p:spPr>
      </p:sp>
      <p:sp>
        <p:nvSpPr>
          <p:cNvPr id="10" name="Text 8"/>
          <p:cNvSpPr/>
          <p:nvPr/>
        </p:nvSpPr>
        <p:spPr>
          <a:xfrm>
            <a:off x="914400" y="2432304"/>
            <a:ext cx="7680960" cy="384048"/>
          </a:xfrm>
          <a:prstGeom prst="rect">
            <a:avLst/>
          </a:prstGeom>
          <a:noFill/>
          <a:ln/>
        </p:spPr>
        <p:txBody>
          <a:bodyPr wrap="square" lIns="0" tIns="0" rIns="0" bIns="0" rtlCol="0" anchor="ctr"/>
          <a:lstStyle/>
          <a:p>
            <a:pPr indent="0" marL="0">
              <a:buNone/>
            </a:pPr>
            <a:r>
              <a:rPr lang="en-US" sz="1300" dirty="0">
                <a:solidFill>
                  <a:srgbClr val="2B2840"/>
                </a:solidFill>
                <a:latin typeface="Calibri" pitchFamily="34" charset="0"/>
                <a:ea typeface="Calibri" pitchFamily="34" charset="-122"/>
                <a:cs typeface="Calibri" pitchFamily="34" charset="-120"/>
              </a:rPr>
              <a:t>Choose your question and 3–6 indicators from the COIL dataset.</a:t>
            </a:r>
            <a:endParaRPr lang="en-US" sz="1300" dirty="0"/>
          </a:p>
        </p:txBody>
      </p:sp>
      <p:sp>
        <p:nvSpPr>
          <p:cNvPr id="11" name="Shape 9"/>
          <p:cNvSpPr/>
          <p:nvPr/>
        </p:nvSpPr>
        <p:spPr>
          <a:xfrm>
            <a:off x="457200" y="3099816"/>
            <a:ext cx="292608" cy="292608"/>
          </a:xfrm>
          <a:prstGeom prst="rect">
            <a:avLst/>
          </a:prstGeom>
          <a:solidFill>
            <a:srgbClr val="FFFFFF"/>
          </a:solidFill>
          <a:ln w="19050">
            <a:solidFill>
              <a:srgbClr val="312A63"/>
            </a:solidFill>
            <a:prstDash val="solid"/>
          </a:ln>
        </p:spPr>
      </p:sp>
      <p:sp>
        <p:nvSpPr>
          <p:cNvPr id="12" name="Text 10"/>
          <p:cNvSpPr/>
          <p:nvPr/>
        </p:nvSpPr>
        <p:spPr>
          <a:xfrm>
            <a:off x="914400" y="3054096"/>
            <a:ext cx="7680960" cy="384048"/>
          </a:xfrm>
          <a:prstGeom prst="rect">
            <a:avLst/>
          </a:prstGeom>
          <a:noFill/>
          <a:ln/>
        </p:spPr>
        <p:txBody>
          <a:bodyPr wrap="square" lIns="0" tIns="0" rIns="0" bIns="0" rtlCol="0" anchor="ctr"/>
          <a:lstStyle/>
          <a:p>
            <a:pPr indent="0" marL="0">
              <a:buNone/>
            </a:pPr>
            <a:r>
              <a:rPr lang="en-US" sz="1300" dirty="0">
                <a:solidFill>
                  <a:srgbClr val="2B2840"/>
                </a:solidFill>
                <a:latin typeface="Calibri" pitchFamily="34" charset="0"/>
                <a:ea typeface="Calibri" pitchFamily="34" charset="-122"/>
                <a:cs typeface="Calibri" pitchFamily="34" charset="-120"/>
              </a:rPr>
              <a:t>Submit deliverable 1 on the website by Sunday 1 November, 23:59 CET.</a:t>
            </a:r>
            <a:endParaRPr lang="en-US" sz="1300" dirty="0"/>
          </a:p>
        </p:txBody>
      </p:sp>
      <p:sp>
        <p:nvSpPr>
          <p:cNvPr id="13" name="Shape 11"/>
          <p:cNvSpPr/>
          <p:nvPr/>
        </p:nvSpPr>
        <p:spPr>
          <a:xfrm>
            <a:off x="457200" y="3721608"/>
            <a:ext cx="292608" cy="292608"/>
          </a:xfrm>
          <a:prstGeom prst="rect">
            <a:avLst/>
          </a:prstGeom>
          <a:solidFill>
            <a:srgbClr val="FFFFFF"/>
          </a:solidFill>
          <a:ln w="19050">
            <a:solidFill>
              <a:srgbClr val="312A63"/>
            </a:solidFill>
            <a:prstDash val="solid"/>
          </a:ln>
        </p:spPr>
      </p:sp>
      <p:sp>
        <p:nvSpPr>
          <p:cNvPr id="14" name="Text 12"/>
          <p:cNvSpPr/>
          <p:nvPr/>
        </p:nvSpPr>
        <p:spPr>
          <a:xfrm>
            <a:off x="914400" y="3675888"/>
            <a:ext cx="7680960" cy="384048"/>
          </a:xfrm>
          <a:prstGeom prst="rect">
            <a:avLst/>
          </a:prstGeom>
          <a:noFill/>
          <a:ln/>
        </p:spPr>
        <p:txBody>
          <a:bodyPr wrap="square" lIns="0" tIns="0" rIns="0" bIns="0" rtlCol="0" anchor="ctr"/>
          <a:lstStyle/>
          <a:p>
            <a:pPr indent="0" marL="0">
              <a:buNone/>
            </a:pPr>
            <a:r>
              <a:rPr lang="en-US" sz="1300" dirty="0">
                <a:solidFill>
                  <a:srgbClr val="2B2840"/>
                </a:solidFill>
                <a:latin typeface="Calibri" pitchFamily="34" charset="0"/>
                <a:ea typeface="Calibri" pitchFamily="34" charset="-122"/>
                <a:cs typeface="Calibri" pitchFamily="34" charset="-120"/>
              </a:rPr>
              <a:t>Next joint session: Data workshop, week 3. Vote for the date and time on the website.</a:t>
            </a:r>
            <a:endParaRPr lang="en-US" sz="1300" dirty="0"/>
          </a:p>
        </p:txBody>
      </p:sp>
      <p:sp>
        <p:nvSpPr>
          <p:cNvPr id="15" name="Text 13"/>
          <p:cNvSpPr/>
          <p:nvPr/>
        </p:nvSpPr>
        <p:spPr>
          <a:xfrm>
            <a:off x="457200" y="4343400"/>
            <a:ext cx="8229600" cy="365760"/>
          </a:xfrm>
          <a:prstGeom prst="rect">
            <a:avLst/>
          </a:prstGeom>
          <a:noFill/>
          <a:ln/>
        </p:spPr>
        <p:txBody>
          <a:bodyPr wrap="square" lIns="0" tIns="0" rIns="0" bIns="0" rtlCol="0" anchor="ctr"/>
          <a:lstStyle/>
          <a:p>
            <a:pPr indent="0" marL="0">
              <a:buNone/>
            </a:pPr>
            <a:r>
              <a:rPr lang="en-US" sz="1800" b="1" dirty="0">
                <a:solidFill>
                  <a:srgbClr val="E55A5A"/>
                </a:solidFill>
                <a:latin typeface="Georgia" pitchFamily="34" charset="0"/>
                <a:ea typeface="Georgia" pitchFamily="34" charset="-122"/>
                <a:cs typeface="Georgia" pitchFamily="34" charset="-120"/>
              </a:rPr>
              <a:t>Questions?</a:t>
            </a:r>
            <a:endParaRPr lang="en-US" sz="1800" dirty="0"/>
          </a:p>
        </p:txBody>
      </p:sp>
      <p:sp>
        <p:nvSpPr>
          <p:cNvPr id="25" name="Slide Number Placeholder 0"/>
          <p:cNvSpPr>
            <a:spLocks noGrp="1"/>
          </p:cNvSpPr>
          <p:nvPr>
            <p:ph type="sldNum" sz="quarter" idx="4294967295"/>
          </p:nvPr>
        </p:nvSpPr>
        <p:spPr>
          <a:xfrm>
            <a:off x="8275320" y="4791456"/>
            <a:ext cx="411480" cy="256032"/>
          </a:xfrm>
          <a:prstGeom prst="rect">
            <a:avLst/>
          </a:prstGeom>
          <a:extLst>
            <a:ext uri="{C572A759-6A51-4108-AA02-DFA0A04FC94B}">
              <ma14:wrappingTextBoxFlag xmlns:ma14="http://schemas.microsoft.com/office/mac/drawingml/2011/main" val="0"/>
            </a:ext>
          </a:extLst>
        </p:spPr>
        <p:txBody>
          <a:bodyPr/>
          <a:lstStyle>
            <a:lvl1pPr>
              <a:defRPr sz="850">
                <a:solidFill>
                  <a:srgbClr val="6B68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Comparing Europe with Data · Kick-off</dc:title>
  <dc:subject>PptxGenJS Presentation</dc:subject>
  <dc:creator>Ulysseus COIL teaching team</dc:creator>
  <cp:lastModifiedBy>Ulysseus COIL teaching team</cp:lastModifiedBy>
  <cp:revision>1</cp:revision>
  <dcterms:created xsi:type="dcterms:W3CDTF">2026-10-19T10:43:06Z</dcterms:created>
  <dcterms:modified xsi:type="dcterms:W3CDTF">2026-10-19T10:43:06Z</dcterms:modified>
</cp:coreProperties>
</file>