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12 Oct – 18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announced by the teachers,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708660" y="1234440"/>
            <a:ext cx="1143000" cy="1143000"/>
          </a:xfrm>
          <a:prstGeom prst="ellipse">
            <a:avLst/>
          </a:prstGeom>
        </p:spPr>
      </p:pic>
      <p:sp>
        <p:nvSpPr>
          <p:cNvPr id="6" name="Text 3"/>
          <p:cNvSpPr/>
          <p:nvPr/>
        </p:nvSpPr>
        <p:spPr>
          <a:xfrm>
            <a:off x="45720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2354580" y="1234440"/>
            <a:ext cx="1143000" cy="1143000"/>
          </a:xfrm>
          <a:prstGeom prst="ellipse">
            <a:avLst/>
          </a:prstGeom>
        </p:spPr>
      </p:pic>
      <p:sp>
        <p:nvSpPr>
          <p:cNvPr id="10" name="Text 6"/>
          <p:cNvSpPr/>
          <p:nvPr/>
        </p:nvSpPr>
        <p:spPr>
          <a:xfrm>
            <a:off x="210312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210312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210312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4000500" y="1234440"/>
            <a:ext cx="1143000" cy="1143000"/>
          </a:xfrm>
          <a:prstGeom prst="ellipse">
            <a:avLst/>
          </a:prstGeom>
        </p:spPr>
      </p:pic>
      <p:sp>
        <p:nvSpPr>
          <p:cNvPr id="14" name="Text 9"/>
          <p:cNvSpPr/>
          <p:nvPr/>
        </p:nvSpPr>
        <p:spPr>
          <a:xfrm>
            <a:off x="374904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74904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74904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dana-palova.jpg">    </p:cNvPr>
          <p:cNvPicPr>
            <a:picLocks noChangeAspect="1"/>
          </p:cNvPicPr>
          <p:nvPr/>
        </p:nvPicPr>
        <p:blipFill>
          <a:blip r:embed="rId4"/>
          <a:srcRect l="0" r="0" t="0" b="0"/>
          <a:stretch/>
        </p:blipFill>
        <p:spPr>
          <a:xfrm>
            <a:off x="5646420" y="1234440"/>
            <a:ext cx="1143000" cy="1143000"/>
          </a:xfrm>
          <a:prstGeom prst="ellipse">
            <a:avLst/>
          </a:prstGeom>
        </p:spPr>
      </p:pic>
      <p:sp>
        <p:nvSpPr>
          <p:cNvPr id="18" name="Text 12"/>
          <p:cNvSpPr/>
          <p:nvPr/>
        </p:nvSpPr>
        <p:spPr>
          <a:xfrm>
            <a:off x="539496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19" name="Text 13"/>
          <p:cNvSpPr/>
          <p:nvPr/>
        </p:nvSpPr>
        <p:spPr>
          <a:xfrm>
            <a:off x="539496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0" name="Text 14"/>
          <p:cNvSpPr/>
          <p:nvPr/>
        </p:nvSpPr>
        <p:spPr>
          <a:xfrm>
            <a:off x="539496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1" name="Image 4" descr="C:\Users\danir\Desktop\COIL Ulysseus\site\img\team\victor-perez-leon.jpg">    </p:cNvPr>
          <p:cNvPicPr>
            <a:picLocks noChangeAspect="1"/>
          </p:cNvPicPr>
          <p:nvPr/>
        </p:nvPicPr>
        <p:blipFill>
          <a:blip r:embed="rId5"/>
          <a:srcRect l="0" r="0" t="0" b="0"/>
          <a:stretch/>
        </p:blipFill>
        <p:spPr>
          <a:xfrm>
            <a:off x="7292340" y="1234440"/>
            <a:ext cx="1143000" cy="1143000"/>
          </a:xfrm>
          <a:prstGeom prst="ellipse">
            <a:avLst/>
          </a:prstGeom>
        </p:spPr>
      </p:pic>
      <p:sp>
        <p:nvSpPr>
          <p:cNvPr id="22" name="Text 15"/>
          <p:cNvSpPr/>
          <p:nvPr/>
        </p:nvSpPr>
        <p:spPr>
          <a:xfrm>
            <a:off x="704088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23" name="Text 16"/>
          <p:cNvSpPr/>
          <p:nvPr/>
        </p:nvSpPr>
        <p:spPr>
          <a:xfrm>
            <a:off x="704088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4" name="Text 17"/>
          <p:cNvSpPr/>
          <p:nvPr/>
        </p:nvSpPr>
        <p:spPr>
          <a:xfrm>
            <a:off x="704088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sp>
        <p:nvSpPr>
          <p:cNvPr id="25" name="Text 18"/>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Nine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9,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Nine weeks · 12 October – 11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859536" cy="457200"/>
          </a:xfrm>
          <a:prstGeom prst="rect">
            <a:avLst/>
          </a:prstGeom>
          <a:solidFill>
            <a:srgbClr val="312A63"/>
          </a:solidFill>
          <a:ln w="12700">
            <a:solidFill>
              <a:srgbClr val="312A63"/>
            </a:solidFill>
            <a:prstDash val="solid"/>
          </a:ln>
        </p:spPr>
      </p:sp>
      <p:sp>
        <p:nvSpPr>
          <p:cNvPr id="6" name="Text 4"/>
          <p:cNvSpPr/>
          <p:nvPr/>
        </p:nvSpPr>
        <p:spPr>
          <a:xfrm>
            <a:off x="457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12 Oct</a:t>
            </a:r>
            <a:endParaRPr lang="en-US" sz="900" dirty="0"/>
          </a:p>
        </p:txBody>
      </p:sp>
      <p:sp>
        <p:nvSpPr>
          <p:cNvPr id="8" name="Text 6"/>
          <p:cNvSpPr/>
          <p:nvPr/>
        </p:nvSpPr>
        <p:spPr>
          <a:xfrm>
            <a:off x="475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7132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371600" y="1234440"/>
            <a:ext cx="859536" cy="457200"/>
          </a:xfrm>
          <a:prstGeom prst="rect">
            <a:avLst/>
          </a:prstGeom>
          <a:solidFill>
            <a:srgbClr val="312A63"/>
          </a:solidFill>
          <a:ln w="12700">
            <a:solidFill>
              <a:srgbClr val="312A63"/>
            </a:solidFill>
            <a:prstDash val="solid"/>
          </a:ln>
        </p:spPr>
      </p:sp>
      <p:sp>
        <p:nvSpPr>
          <p:cNvPr id="12" name="Text 10"/>
          <p:cNvSpPr/>
          <p:nvPr/>
        </p:nvSpPr>
        <p:spPr>
          <a:xfrm>
            <a:off x="1371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371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14" name="Text 12"/>
          <p:cNvSpPr/>
          <p:nvPr/>
        </p:nvSpPr>
        <p:spPr>
          <a:xfrm>
            <a:off x="1389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444752" y="2743200"/>
            <a:ext cx="7132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4447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286000" y="1234440"/>
            <a:ext cx="859536" cy="457200"/>
          </a:xfrm>
          <a:prstGeom prst="rect">
            <a:avLst/>
          </a:prstGeom>
          <a:solidFill>
            <a:srgbClr val="2A9D8F"/>
          </a:solidFill>
          <a:ln w="12700">
            <a:solidFill>
              <a:srgbClr val="2A9D8F"/>
            </a:solidFill>
            <a:prstDash val="solid"/>
          </a:ln>
        </p:spPr>
      </p:sp>
      <p:sp>
        <p:nvSpPr>
          <p:cNvPr id="18" name="Text 16"/>
          <p:cNvSpPr/>
          <p:nvPr/>
        </p:nvSpPr>
        <p:spPr>
          <a:xfrm>
            <a:off x="2286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286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20" name="Text 18"/>
          <p:cNvSpPr/>
          <p:nvPr/>
        </p:nvSpPr>
        <p:spPr>
          <a:xfrm>
            <a:off x="2304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359152" y="3154680"/>
            <a:ext cx="7132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3591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200400" y="1234440"/>
            <a:ext cx="859536" cy="457200"/>
          </a:xfrm>
          <a:prstGeom prst="rect">
            <a:avLst/>
          </a:prstGeom>
          <a:solidFill>
            <a:srgbClr val="2A9D8F"/>
          </a:solidFill>
          <a:ln w="12700">
            <a:solidFill>
              <a:srgbClr val="2A9D8F"/>
            </a:solidFill>
            <a:prstDash val="solid"/>
          </a:ln>
        </p:spPr>
      </p:sp>
      <p:sp>
        <p:nvSpPr>
          <p:cNvPr id="24" name="Text 22"/>
          <p:cNvSpPr/>
          <p:nvPr/>
        </p:nvSpPr>
        <p:spPr>
          <a:xfrm>
            <a:off x="3200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200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6" name="Text 24"/>
          <p:cNvSpPr/>
          <p:nvPr/>
        </p:nvSpPr>
        <p:spPr>
          <a:xfrm>
            <a:off x="3218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114800" y="1234440"/>
            <a:ext cx="859536" cy="457200"/>
          </a:xfrm>
          <a:prstGeom prst="rect">
            <a:avLst/>
          </a:prstGeom>
          <a:solidFill>
            <a:srgbClr val="E9A23B"/>
          </a:solidFill>
          <a:ln w="12700">
            <a:solidFill>
              <a:srgbClr val="E9A23B"/>
            </a:solidFill>
            <a:prstDash val="solid"/>
          </a:ln>
        </p:spPr>
      </p:sp>
      <p:sp>
        <p:nvSpPr>
          <p:cNvPr id="28" name="Text 26"/>
          <p:cNvSpPr/>
          <p:nvPr/>
        </p:nvSpPr>
        <p:spPr>
          <a:xfrm>
            <a:off x="41148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1148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30" name="Text 28"/>
          <p:cNvSpPr/>
          <p:nvPr/>
        </p:nvSpPr>
        <p:spPr>
          <a:xfrm>
            <a:off x="41330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187952" y="3154680"/>
            <a:ext cx="7132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1879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029200" y="1234440"/>
            <a:ext cx="859536" cy="457200"/>
          </a:xfrm>
          <a:prstGeom prst="rect">
            <a:avLst/>
          </a:prstGeom>
          <a:solidFill>
            <a:srgbClr val="E9A23B"/>
          </a:solidFill>
          <a:ln w="12700">
            <a:solidFill>
              <a:srgbClr val="E9A23B"/>
            </a:solidFill>
            <a:prstDash val="solid"/>
          </a:ln>
        </p:spPr>
      </p:sp>
      <p:sp>
        <p:nvSpPr>
          <p:cNvPr id="34" name="Text 32"/>
          <p:cNvSpPr/>
          <p:nvPr/>
        </p:nvSpPr>
        <p:spPr>
          <a:xfrm>
            <a:off x="5029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029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6" name="Text 34"/>
          <p:cNvSpPr/>
          <p:nvPr/>
        </p:nvSpPr>
        <p:spPr>
          <a:xfrm>
            <a:off x="5047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102352" y="2743200"/>
            <a:ext cx="7132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1023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5943600" y="1234440"/>
            <a:ext cx="859536" cy="457200"/>
          </a:xfrm>
          <a:prstGeom prst="rect">
            <a:avLst/>
          </a:prstGeom>
          <a:solidFill>
            <a:srgbClr val="6C63A8"/>
          </a:solidFill>
          <a:ln w="12700">
            <a:solidFill>
              <a:srgbClr val="6C63A8"/>
            </a:solidFill>
            <a:prstDash val="solid"/>
          </a:ln>
        </p:spPr>
      </p:sp>
      <p:sp>
        <p:nvSpPr>
          <p:cNvPr id="40" name="Text 38"/>
          <p:cNvSpPr/>
          <p:nvPr/>
        </p:nvSpPr>
        <p:spPr>
          <a:xfrm>
            <a:off x="5943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5943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42" name="Text 40"/>
          <p:cNvSpPr/>
          <p:nvPr/>
        </p:nvSpPr>
        <p:spPr>
          <a:xfrm>
            <a:off x="5961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Dashboards and data storytelling</a:t>
            </a:r>
            <a:endParaRPr lang="en-US" sz="900" dirty="0"/>
          </a:p>
        </p:txBody>
      </p:sp>
      <p:sp>
        <p:nvSpPr>
          <p:cNvPr id="43" name="Shape 41"/>
          <p:cNvSpPr/>
          <p:nvPr/>
        </p:nvSpPr>
        <p:spPr>
          <a:xfrm>
            <a:off x="6858000" y="1234440"/>
            <a:ext cx="859536" cy="457200"/>
          </a:xfrm>
          <a:prstGeom prst="rect">
            <a:avLst/>
          </a:prstGeom>
          <a:solidFill>
            <a:srgbClr val="6C63A8"/>
          </a:solidFill>
          <a:ln w="12700">
            <a:solidFill>
              <a:srgbClr val="6C63A8"/>
            </a:solidFill>
            <a:prstDash val="solid"/>
          </a:ln>
        </p:spPr>
      </p:sp>
      <p:sp>
        <p:nvSpPr>
          <p:cNvPr id="44" name="Text 42"/>
          <p:cNvSpPr/>
          <p:nvPr/>
        </p:nvSpPr>
        <p:spPr>
          <a:xfrm>
            <a:off x="6858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6858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6" name="Text 44"/>
          <p:cNvSpPr/>
          <p:nvPr/>
        </p:nvSpPr>
        <p:spPr>
          <a:xfrm>
            <a:off x="6876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Final dashboard and rehearsal</a:t>
            </a:r>
            <a:endParaRPr lang="en-US" sz="900" dirty="0"/>
          </a:p>
        </p:txBody>
      </p:sp>
      <p:sp>
        <p:nvSpPr>
          <p:cNvPr id="47" name="Shape 45"/>
          <p:cNvSpPr/>
          <p:nvPr/>
        </p:nvSpPr>
        <p:spPr>
          <a:xfrm>
            <a:off x="7772400" y="1234440"/>
            <a:ext cx="859536" cy="457200"/>
          </a:xfrm>
          <a:prstGeom prst="rect">
            <a:avLst/>
          </a:prstGeom>
          <a:solidFill>
            <a:srgbClr val="E55A5A"/>
          </a:solidFill>
          <a:ln w="12700">
            <a:solidFill>
              <a:srgbClr val="E55A5A"/>
            </a:solidFill>
            <a:prstDash val="solid"/>
          </a:ln>
        </p:spPr>
      </p:sp>
      <p:sp>
        <p:nvSpPr>
          <p:cNvPr id="48" name="Text 46"/>
          <p:cNvSpPr/>
          <p:nvPr/>
        </p:nvSpPr>
        <p:spPr>
          <a:xfrm>
            <a:off x="7772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W9</a:t>
            </a:r>
            <a:endParaRPr lang="en-US" sz="1300" dirty="0"/>
          </a:p>
        </p:txBody>
      </p:sp>
      <p:sp>
        <p:nvSpPr>
          <p:cNvPr id="49" name="Text 47"/>
          <p:cNvSpPr/>
          <p:nvPr/>
        </p:nvSpPr>
        <p:spPr>
          <a:xfrm>
            <a:off x="7772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50" name="Text 48"/>
          <p:cNvSpPr/>
          <p:nvPr/>
        </p:nvSpPr>
        <p:spPr>
          <a:xfrm>
            <a:off x="7790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51" name="Shape 49"/>
          <p:cNvSpPr/>
          <p:nvPr/>
        </p:nvSpPr>
        <p:spPr>
          <a:xfrm>
            <a:off x="7845552" y="2743200"/>
            <a:ext cx="713232" cy="329184"/>
          </a:xfrm>
          <a:prstGeom prst="roundRect">
            <a:avLst>
              <a:gd name="adj" fmla="val 22222"/>
            </a:avLst>
          </a:prstGeom>
          <a:solidFill>
            <a:srgbClr val="E55A5A"/>
          </a:solidFill>
          <a:ln w="12700">
            <a:solidFill>
              <a:srgbClr val="E55A5A"/>
            </a:solidFill>
            <a:prstDash val="solid"/>
          </a:ln>
        </p:spPr>
      </p:sp>
      <p:sp>
        <p:nvSpPr>
          <p:cNvPr id="52" name="Text 50"/>
          <p:cNvSpPr/>
          <p:nvPr/>
        </p:nvSpPr>
        <p:spPr>
          <a:xfrm>
            <a:off x="78455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53" name="Shape 51"/>
          <p:cNvSpPr/>
          <p:nvPr/>
        </p:nvSpPr>
        <p:spPr>
          <a:xfrm>
            <a:off x="7845552" y="3154680"/>
            <a:ext cx="713232" cy="329184"/>
          </a:xfrm>
          <a:prstGeom prst="roundRect">
            <a:avLst>
              <a:gd name="adj" fmla="val 22222"/>
            </a:avLst>
          </a:prstGeom>
          <a:solidFill>
            <a:srgbClr val="FFFFFF"/>
          </a:solidFill>
          <a:ln w="12700">
            <a:solidFill>
              <a:srgbClr val="312A63"/>
            </a:solidFill>
            <a:prstDash val="solid"/>
          </a:ln>
        </p:spPr>
      </p:sp>
      <p:sp>
        <p:nvSpPr>
          <p:cNvPr id="54" name="Text 52"/>
          <p:cNvSpPr/>
          <p:nvPr/>
        </p:nvSpPr>
        <p:spPr>
          <a:xfrm>
            <a:off x="78455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5" name="Text 53"/>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25 October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maximum 2 pages (use the templates in the guide)</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22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notebook</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Python or R notebook (.ipynb, .Rmd or Quarto), or Gretl script (.inp) with its output, + exported HTML or PDF + your dataset (CSV or Excel)</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9</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dashboard, presentation and final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(dashboard,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Dashboard link or PDF + slides (maximum 6 slides, 5-minute presentation) + one-page PDF reflection</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25 OCTOBER,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maximum 2 pages (use the templates in the guide)</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25 October,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2026-10-09T10:38:49Z</dcterms:created>
  <dcterms:modified xsi:type="dcterms:W3CDTF">2026-10-09T10:38:49Z</dcterms:modified>
</cp:coreProperties>
</file>