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1</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Kick-off</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Meet the people you will work with, understand how the COIL works and hold your first team meeting.</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1 · 12 Oct – 18 Oct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1792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1792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 min</a:t>
            </a:r>
            <a:endParaRPr lang="en-US" sz="1200" dirty="0"/>
          </a:p>
        </p:txBody>
      </p:sp>
      <p:sp>
        <p:nvSpPr>
          <p:cNvPr id="9" name="Shape 7"/>
          <p:cNvSpPr/>
          <p:nvPr/>
        </p:nvSpPr>
        <p:spPr>
          <a:xfrm>
            <a:off x="3200400" y="1325880"/>
            <a:ext cx="4535424" cy="502920"/>
          </a:xfrm>
          <a:prstGeom prst="rect">
            <a:avLst/>
          </a:prstGeom>
          <a:solidFill>
            <a:srgbClr val="2A9D8F"/>
          </a:solidFill>
          <a:ln w="12700">
            <a:solidFill>
              <a:srgbClr val="2A9D8F"/>
            </a:solidFill>
            <a:prstDash val="solid"/>
          </a:ln>
        </p:spPr>
      </p:sp>
      <p:sp>
        <p:nvSpPr>
          <p:cNvPr id="10" name="Text 8"/>
          <p:cNvSpPr/>
          <p:nvPr/>
        </p:nvSpPr>
        <p:spPr>
          <a:xfrm>
            <a:off x="3200400" y="1325880"/>
            <a:ext cx="45354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min</a:t>
            </a:r>
            <a:endParaRPr lang="en-US" sz="1200" dirty="0"/>
          </a:p>
        </p:txBody>
      </p:sp>
      <p:sp>
        <p:nvSpPr>
          <p:cNvPr id="11" name="Shape 9"/>
          <p:cNvSpPr/>
          <p:nvPr/>
        </p:nvSpPr>
        <p:spPr>
          <a:xfrm>
            <a:off x="7772400" y="1325880"/>
            <a:ext cx="877824" cy="502920"/>
          </a:xfrm>
          <a:prstGeom prst="rect">
            <a:avLst/>
          </a:prstGeom>
          <a:solidFill>
            <a:srgbClr val="E9A23B"/>
          </a:solidFill>
          <a:ln w="12700">
            <a:solidFill>
              <a:srgbClr val="E9A23B"/>
            </a:solidFill>
            <a:prstDash val="solid"/>
          </a:ln>
        </p:spPr>
      </p:sp>
      <p:sp>
        <p:nvSpPr>
          <p:cNvPr id="12" name="Text 10"/>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Welcome from the teachers of the three universities. What is a COIL and what is Ulysseus.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10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How the COIL works: this website, the schedule, three deliverables, the dataset, extra points and certificate.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25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First team meeting in break-out rooms (teams and their slot are announced by the teachers before the session, with students from the three universities): introduce yourself with your fact about your country, choose a communication channel and a weekly meeting time.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9A23B"/>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Questions and closing.</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WELCOME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teaching team</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pic>
        <p:nvPicPr>
          <p:cNvPr id="5" name="Image 0" descr="C:\Users\danir\Desktop\COIL Ulysseus\site\img\team\daniel-ruiz-romera.jpg">    </p:cNvPr>
          <p:cNvPicPr>
            <a:picLocks noChangeAspect="1"/>
          </p:cNvPicPr>
          <p:nvPr/>
        </p:nvPicPr>
        <p:blipFill>
          <a:blip r:embed="rId1"/>
          <a:srcRect l="0" r="0" t="0" b="0"/>
          <a:stretch/>
        </p:blipFill>
        <p:spPr>
          <a:xfrm>
            <a:off x="571500" y="1234440"/>
            <a:ext cx="1143000" cy="1143000"/>
          </a:xfrm>
          <a:prstGeom prst="ellipse">
            <a:avLst/>
          </a:prstGeom>
        </p:spPr>
      </p:pic>
      <p:sp>
        <p:nvSpPr>
          <p:cNvPr id="6" name="Text 3"/>
          <p:cNvSpPr/>
          <p:nvPr/>
        </p:nvSpPr>
        <p:spPr>
          <a:xfrm>
            <a:off x="4572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Daniel Ruiz Romera</a:t>
            </a:r>
            <a:endParaRPr lang="en-US" sz="1250" dirty="0"/>
          </a:p>
        </p:txBody>
      </p:sp>
      <p:sp>
        <p:nvSpPr>
          <p:cNvPr id="7" name="Text 4"/>
          <p:cNvSpPr/>
          <p:nvPr/>
        </p:nvSpPr>
        <p:spPr>
          <a:xfrm>
            <a:off x="4572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8" name="Text 5"/>
          <p:cNvSpPr/>
          <p:nvPr/>
        </p:nvSpPr>
        <p:spPr>
          <a:xfrm>
            <a:off x="4572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druiz8@us.es</a:t>
            </a:r>
            <a:endParaRPr lang="en-US" sz="950" dirty="0"/>
          </a:p>
        </p:txBody>
      </p:sp>
      <p:pic>
        <p:nvPicPr>
          <p:cNvPr id="9" name="Image 1" descr="C:\Users\danir\Desktop\COIL Ulysseus\site\img\team\alena-mojsejova.jpg">    </p:cNvPr>
          <p:cNvPicPr>
            <a:picLocks noChangeAspect="1"/>
          </p:cNvPicPr>
          <p:nvPr/>
        </p:nvPicPr>
        <p:blipFill>
          <a:blip r:embed="rId2"/>
          <a:srcRect l="0" r="0" t="0" b="0"/>
          <a:stretch/>
        </p:blipFill>
        <p:spPr>
          <a:xfrm>
            <a:off x="1943100" y="1234440"/>
            <a:ext cx="1143000" cy="1143000"/>
          </a:xfrm>
          <a:prstGeom prst="ellipse">
            <a:avLst/>
          </a:prstGeom>
        </p:spPr>
      </p:pic>
      <p:sp>
        <p:nvSpPr>
          <p:cNvPr id="10" name="Text 6"/>
          <p:cNvSpPr/>
          <p:nvPr/>
        </p:nvSpPr>
        <p:spPr>
          <a:xfrm>
            <a:off x="18288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Alena Mojsejová</a:t>
            </a:r>
            <a:endParaRPr lang="en-US" sz="1250" dirty="0"/>
          </a:p>
        </p:txBody>
      </p:sp>
      <p:sp>
        <p:nvSpPr>
          <p:cNvPr id="11" name="Text 7"/>
          <p:cNvSpPr/>
          <p:nvPr/>
        </p:nvSpPr>
        <p:spPr>
          <a:xfrm>
            <a:off x="18288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12" name="Text 8"/>
          <p:cNvSpPr/>
          <p:nvPr/>
        </p:nvSpPr>
        <p:spPr>
          <a:xfrm>
            <a:off x="18288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alena.mojsejova@tuke.sk</a:t>
            </a:r>
            <a:endParaRPr lang="en-US" sz="950" dirty="0"/>
          </a:p>
        </p:txBody>
      </p:sp>
      <p:pic>
        <p:nvPicPr>
          <p:cNvPr id="13" name="Image 2" descr="C:\Users\danir\Desktop\COIL Ulysseus\site\img\team\bojan-pejovic.jpg">    </p:cNvPr>
          <p:cNvPicPr>
            <a:picLocks noChangeAspect="1"/>
          </p:cNvPicPr>
          <p:nvPr/>
        </p:nvPicPr>
        <p:blipFill>
          <a:blip r:embed="rId3"/>
          <a:srcRect l="0" r="0" t="0" b="0"/>
          <a:stretch/>
        </p:blipFill>
        <p:spPr>
          <a:xfrm>
            <a:off x="3314700" y="1234440"/>
            <a:ext cx="1143000" cy="1143000"/>
          </a:xfrm>
          <a:prstGeom prst="ellipse">
            <a:avLst/>
          </a:prstGeom>
        </p:spPr>
      </p:pic>
      <p:sp>
        <p:nvSpPr>
          <p:cNvPr id="14" name="Text 9"/>
          <p:cNvSpPr/>
          <p:nvPr/>
        </p:nvSpPr>
        <p:spPr>
          <a:xfrm>
            <a:off x="32004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Bojan Pejović</a:t>
            </a:r>
            <a:endParaRPr lang="en-US" sz="1250" dirty="0"/>
          </a:p>
        </p:txBody>
      </p:sp>
      <p:sp>
        <p:nvSpPr>
          <p:cNvPr id="15" name="Text 10"/>
          <p:cNvSpPr/>
          <p:nvPr/>
        </p:nvSpPr>
        <p:spPr>
          <a:xfrm>
            <a:off x="32004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16" name="Text 11"/>
          <p:cNvSpPr/>
          <p:nvPr/>
        </p:nvSpPr>
        <p:spPr>
          <a:xfrm>
            <a:off x="32004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bojan.p@ucg.ac.me</a:t>
            </a:r>
            <a:endParaRPr lang="en-US" sz="950" dirty="0"/>
          </a:p>
        </p:txBody>
      </p:sp>
      <p:pic>
        <p:nvPicPr>
          <p:cNvPr id="17" name="Image 3" descr="C:\Users\danir\Desktop\COIL Ulysseus\site\img\team\victor-perez-leon.jpg">    </p:cNvPr>
          <p:cNvPicPr>
            <a:picLocks noChangeAspect="1"/>
          </p:cNvPicPr>
          <p:nvPr/>
        </p:nvPicPr>
        <p:blipFill>
          <a:blip r:embed="rId4"/>
          <a:srcRect l="0" r="0" t="0" b="0"/>
          <a:stretch/>
        </p:blipFill>
        <p:spPr>
          <a:xfrm>
            <a:off x="4686300" y="1234440"/>
            <a:ext cx="1143000" cy="1143000"/>
          </a:xfrm>
          <a:prstGeom prst="ellipse">
            <a:avLst/>
          </a:prstGeom>
        </p:spPr>
      </p:pic>
      <p:sp>
        <p:nvSpPr>
          <p:cNvPr id="18" name="Text 12"/>
          <p:cNvSpPr/>
          <p:nvPr/>
        </p:nvSpPr>
        <p:spPr>
          <a:xfrm>
            <a:off x="45720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Víctor Ernesto Pérez León</a:t>
            </a:r>
            <a:endParaRPr lang="en-US" sz="1250" dirty="0"/>
          </a:p>
        </p:txBody>
      </p:sp>
      <p:sp>
        <p:nvSpPr>
          <p:cNvPr id="19" name="Text 13"/>
          <p:cNvSpPr/>
          <p:nvPr/>
        </p:nvSpPr>
        <p:spPr>
          <a:xfrm>
            <a:off x="45720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20" name="Text 14"/>
          <p:cNvSpPr/>
          <p:nvPr/>
        </p:nvSpPr>
        <p:spPr>
          <a:xfrm>
            <a:off x="45720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vpleon@us.es</a:t>
            </a:r>
            <a:endParaRPr lang="en-US" sz="950" dirty="0"/>
          </a:p>
        </p:txBody>
      </p:sp>
      <p:pic>
        <p:nvPicPr>
          <p:cNvPr id="21" name="Image 4" descr="C:\Users\danir\Desktop\COIL Ulysseus\site\img\team\dana-palova.jpg">    </p:cNvPr>
          <p:cNvPicPr>
            <a:picLocks noChangeAspect="1"/>
          </p:cNvPicPr>
          <p:nvPr/>
        </p:nvPicPr>
        <p:blipFill>
          <a:blip r:embed="rId5"/>
          <a:srcRect l="0" r="0" t="0" b="0"/>
          <a:stretch/>
        </p:blipFill>
        <p:spPr>
          <a:xfrm>
            <a:off x="6057900" y="1234440"/>
            <a:ext cx="1143000" cy="1143000"/>
          </a:xfrm>
          <a:prstGeom prst="ellipse">
            <a:avLst/>
          </a:prstGeom>
        </p:spPr>
      </p:pic>
      <p:sp>
        <p:nvSpPr>
          <p:cNvPr id="22" name="Text 15"/>
          <p:cNvSpPr/>
          <p:nvPr/>
        </p:nvSpPr>
        <p:spPr>
          <a:xfrm>
            <a:off x="59436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Dana Paľová</a:t>
            </a:r>
            <a:endParaRPr lang="en-US" sz="1250" dirty="0"/>
          </a:p>
        </p:txBody>
      </p:sp>
      <p:sp>
        <p:nvSpPr>
          <p:cNvPr id="23" name="Text 16"/>
          <p:cNvSpPr/>
          <p:nvPr/>
        </p:nvSpPr>
        <p:spPr>
          <a:xfrm>
            <a:off x="59436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24" name="Text 17"/>
          <p:cNvSpPr/>
          <p:nvPr/>
        </p:nvSpPr>
        <p:spPr>
          <a:xfrm>
            <a:off x="59436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dana.palova@tuke.sk</a:t>
            </a:r>
            <a:endParaRPr lang="en-US" sz="950" dirty="0"/>
          </a:p>
        </p:txBody>
      </p:sp>
      <p:pic>
        <p:nvPicPr>
          <p:cNvPr id="25" name="Image 5" descr="C:\Users\danir\Desktop\COIL Ulysseus\site\img\team\tamara-backovic.jpg">    </p:cNvPr>
          <p:cNvPicPr>
            <a:picLocks noChangeAspect="1"/>
          </p:cNvPicPr>
          <p:nvPr/>
        </p:nvPicPr>
        <p:blipFill>
          <a:blip r:embed="rId6"/>
          <a:srcRect l="0" r="0" t="0" b="0"/>
          <a:stretch/>
        </p:blipFill>
        <p:spPr>
          <a:xfrm>
            <a:off x="7429500" y="1234440"/>
            <a:ext cx="1143000" cy="1143000"/>
          </a:xfrm>
          <a:prstGeom prst="ellipse">
            <a:avLst/>
          </a:prstGeom>
        </p:spPr>
      </p:pic>
      <p:sp>
        <p:nvSpPr>
          <p:cNvPr id="26" name="Text 18"/>
          <p:cNvSpPr/>
          <p:nvPr/>
        </p:nvSpPr>
        <p:spPr>
          <a:xfrm>
            <a:off x="73152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Tamara Backović</a:t>
            </a:r>
            <a:endParaRPr lang="en-US" sz="1250" dirty="0"/>
          </a:p>
        </p:txBody>
      </p:sp>
      <p:sp>
        <p:nvSpPr>
          <p:cNvPr id="27" name="Text 19"/>
          <p:cNvSpPr/>
          <p:nvPr/>
        </p:nvSpPr>
        <p:spPr>
          <a:xfrm>
            <a:off x="73152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28" name="Text 20"/>
          <p:cNvSpPr/>
          <p:nvPr/>
        </p:nvSpPr>
        <p:spPr>
          <a:xfrm>
            <a:off x="73152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tassabacc@ucg.ac.me</a:t>
            </a:r>
            <a:endParaRPr lang="en-US" sz="950" dirty="0"/>
          </a:p>
        </p:txBody>
      </p:sp>
      <p:sp>
        <p:nvSpPr>
          <p:cNvPr id="29" name="Text 21"/>
          <p:cNvSpPr/>
          <p:nvPr/>
        </p:nvSpPr>
        <p:spPr>
          <a:xfrm>
            <a:off x="731520" y="3886200"/>
            <a:ext cx="7680960" cy="640080"/>
          </a:xfrm>
          <a:prstGeom prst="rect">
            <a:avLst/>
          </a:prstGeom>
          <a:noFill/>
          <a:ln/>
        </p:spPr>
        <p:txBody>
          <a:bodyPr wrap="square" lIns="0" tIns="0" rIns="0" bIns="0" rtlCol="0" anchor="ctr"/>
          <a:lstStyle/>
          <a:p>
            <a:pPr algn="ctr" indent="0" marL="0">
              <a:buNone/>
            </a:pPr>
            <a:r>
              <a:rPr lang="en-US" sz="1200" i="1" dirty="0">
                <a:solidFill>
                  <a:srgbClr val="2B2840"/>
                </a:solidFill>
                <a:latin typeface="Calibri" pitchFamily="34" charset="0"/>
                <a:ea typeface="Calibri" pitchFamily="34" charset="-122"/>
                <a:cs typeface="Calibri" pitchFamily="34" charset="-120"/>
              </a:rPr>
              <a:t>The COIL is designed and run jointly by teachers from the three universities. We share the schedule, the dataset and the final presentation, and each of us guides and grades the students of our own university.</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IS THIS?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A COIL, inside the Ulysseus alliance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017520"/>
          </a:xfrm>
          <a:prstGeom prst="rect">
            <a:avLst/>
          </a:prstGeom>
          <a:solidFill>
            <a:srgbClr val="F4F3F9"/>
          </a:solidFill>
          <a:ln w="12700">
            <a:solidFill>
              <a:srgbClr val="F4F3F9"/>
            </a:solidFill>
            <a:prstDash val="solid"/>
          </a:ln>
        </p:spPr>
      </p:sp>
      <p:sp>
        <p:nvSpPr>
          <p:cNvPr id="6" name="Shape 4"/>
          <p:cNvSpPr/>
          <p:nvPr/>
        </p:nvSpPr>
        <p:spPr>
          <a:xfrm>
            <a:off x="731520" y="1463040"/>
            <a:ext cx="685800" cy="685800"/>
          </a:xfrm>
          <a:prstGeom prst="ellipse">
            <a:avLst/>
          </a:prstGeom>
          <a:solidFill>
            <a:srgbClr val="312A63"/>
          </a:solidFill>
          <a:ln w="12700">
            <a:solidFill>
              <a:srgbClr val="312A63"/>
            </a:solidFill>
            <a:prstDash val="solid"/>
          </a:ln>
        </p:spPr>
      </p:sp>
      <p:pic>
        <p:nvPicPr>
          <p:cNvPr id="7" name="Image 0" descr="preencoded.png">    </p:cNvPr>
          <p:cNvPicPr>
            <a:picLocks noChangeAspect="1"/>
          </p:cNvPicPr>
          <p:nvPr/>
        </p:nvPicPr>
        <p:blipFill>
          <a:blip r:embed="rId1"/>
          <a:stretch>
            <a:fillRect/>
          </a:stretch>
        </p:blipFill>
        <p:spPr>
          <a:xfrm>
            <a:off x="896112" y="1627632"/>
            <a:ext cx="365760" cy="365760"/>
          </a:xfrm>
          <a:prstGeom prst="rect">
            <a:avLst/>
          </a:prstGeom>
        </p:spPr>
      </p:pic>
      <p:sp>
        <p:nvSpPr>
          <p:cNvPr id="8" name="Text 5"/>
          <p:cNvSpPr/>
          <p:nvPr/>
        </p:nvSpPr>
        <p:spPr>
          <a:xfrm>
            <a:off x="73152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COIL</a:t>
            </a:r>
            <a:endParaRPr lang="en-US" sz="1800" dirty="0"/>
          </a:p>
        </p:txBody>
      </p:sp>
      <p:sp>
        <p:nvSpPr>
          <p:cNvPr id="9" name="Text 6"/>
          <p:cNvSpPr/>
          <p:nvPr/>
        </p:nvSpPr>
        <p:spPr>
          <a:xfrm>
            <a:off x="73152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Collaborative Online International Learning: your course is connected with courses at partner universities, and you work online in international teams.</a:t>
            </a:r>
            <a:endParaRPr lang="en-US" sz="1150" dirty="0"/>
          </a:p>
        </p:txBody>
      </p:sp>
      <p:sp>
        <p:nvSpPr>
          <p:cNvPr id="10" name="Shape 7"/>
          <p:cNvSpPr/>
          <p:nvPr/>
        </p:nvSpPr>
        <p:spPr>
          <a:xfrm>
            <a:off x="3246120" y="1234440"/>
            <a:ext cx="2606040" cy="3017520"/>
          </a:xfrm>
          <a:prstGeom prst="rect">
            <a:avLst/>
          </a:prstGeom>
          <a:solidFill>
            <a:srgbClr val="F4F3F9"/>
          </a:solidFill>
          <a:ln w="12700">
            <a:solidFill>
              <a:srgbClr val="F4F3F9"/>
            </a:solidFill>
            <a:prstDash val="solid"/>
          </a:ln>
        </p:spPr>
      </p:sp>
      <p:sp>
        <p:nvSpPr>
          <p:cNvPr id="11" name="Shape 8"/>
          <p:cNvSpPr/>
          <p:nvPr/>
        </p:nvSpPr>
        <p:spPr>
          <a:xfrm>
            <a:off x="3520440" y="1463040"/>
            <a:ext cx="685800" cy="685800"/>
          </a:xfrm>
          <a:prstGeom prst="ellipse">
            <a:avLst/>
          </a:prstGeom>
          <a:solidFill>
            <a:srgbClr val="312A63"/>
          </a:solidFill>
          <a:ln w="12700">
            <a:solidFill>
              <a:srgbClr val="312A63"/>
            </a:solidFill>
            <a:prstDash val="solid"/>
          </a:ln>
        </p:spPr>
      </p:sp>
      <p:pic>
        <p:nvPicPr>
          <p:cNvPr id="12" name="Image 1" descr="preencoded.png">    </p:cNvPr>
          <p:cNvPicPr>
            <a:picLocks noChangeAspect="1"/>
          </p:cNvPicPr>
          <p:nvPr/>
        </p:nvPicPr>
        <p:blipFill>
          <a:blip r:embed="rId2"/>
          <a:stretch>
            <a:fillRect/>
          </a:stretch>
        </p:blipFill>
        <p:spPr>
          <a:xfrm>
            <a:off x="3685032" y="1627632"/>
            <a:ext cx="365760" cy="365760"/>
          </a:xfrm>
          <a:prstGeom prst="rect">
            <a:avLst/>
          </a:prstGeom>
        </p:spPr>
      </p:pic>
      <p:sp>
        <p:nvSpPr>
          <p:cNvPr id="13" name="Text 9"/>
          <p:cNvSpPr/>
          <p:nvPr/>
        </p:nvSpPr>
        <p:spPr>
          <a:xfrm>
            <a:off x="352044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Ulysseus</a:t>
            </a:r>
            <a:endParaRPr lang="en-US" sz="1800" dirty="0"/>
          </a:p>
        </p:txBody>
      </p:sp>
      <p:sp>
        <p:nvSpPr>
          <p:cNvPr id="14" name="Text 10"/>
          <p:cNvSpPr/>
          <p:nvPr/>
        </p:nvSpPr>
        <p:spPr>
          <a:xfrm>
            <a:off x="352044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A European University alliance. The University of Seville, the Technical University of Košice and the University of Montenegro are members.</a:t>
            </a:r>
            <a:endParaRPr lang="en-US" sz="1150" dirty="0"/>
          </a:p>
        </p:txBody>
      </p:sp>
      <p:sp>
        <p:nvSpPr>
          <p:cNvPr id="15" name="Shape 11"/>
          <p:cNvSpPr/>
          <p:nvPr/>
        </p:nvSpPr>
        <p:spPr>
          <a:xfrm>
            <a:off x="6035040" y="1234440"/>
            <a:ext cx="2606040" cy="3017520"/>
          </a:xfrm>
          <a:prstGeom prst="rect">
            <a:avLst/>
          </a:prstGeom>
          <a:solidFill>
            <a:srgbClr val="F4F3F9"/>
          </a:solidFill>
          <a:ln w="12700">
            <a:solidFill>
              <a:srgbClr val="F4F3F9"/>
            </a:solidFill>
            <a:prstDash val="solid"/>
          </a:ln>
        </p:spPr>
      </p:sp>
      <p:sp>
        <p:nvSpPr>
          <p:cNvPr id="16" name="Shape 12"/>
          <p:cNvSpPr/>
          <p:nvPr/>
        </p:nvSpPr>
        <p:spPr>
          <a:xfrm>
            <a:off x="6309360" y="1463040"/>
            <a:ext cx="685800" cy="685800"/>
          </a:xfrm>
          <a:prstGeom prst="ellipse">
            <a:avLst/>
          </a:prstGeom>
          <a:solidFill>
            <a:srgbClr val="312A63"/>
          </a:solidFill>
          <a:ln w="12700">
            <a:solidFill>
              <a:srgbClr val="312A63"/>
            </a:solidFill>
            <a:prstDash val="solid"/>
          </a:ln>
        </p:spPr>
      </p:sp>
      <p:pic>
        <p:nvPicPr>
          <p:cNvPr id="17" name="Image 2" descr="preencoded.png">    </p:cNvPr>
          <p:cNvPicPr>
            <a:picLocks noChangeAspect="1"/>
          </p:cNvPicPr>
          <p:nvPr/>
        </p:nvPicPr>
        <p:blipFill>
          <a:blip r:embed="rId3"/>
          <a:stretch>
            <a:fillRect/>
          </a:stretch>
        </p:blipFill>
        <p:spPr>
          <a:xfrm>
            <a:off x="6473952" y="1627632"/>
            <a:ext cx="365760" cy="365760"/>
          </a:xfrm>
          <a:prstGeom prst="rect">
            <a:avLst/>
          </a:prstGeom>
        </p:spPr>
      </p:pic>
      <p:sp>
        <p:nvSpPr>
          <p:cNvPr id="18" name="Text 13"/>
          <p:cNvSpPr/>
          <p:nvPr/>
        </p:nvSpPr>
        <p:spPr>
          <a:xfrm>
            <a:off x="630936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This COIL</a:t>
            </a:r>
            <a:endParaRPr lang="en-US" sz="1800" dirty="0"/>
          </a:p>
        </p:txBody>
      </p:sp>
      <p:sp>
        <p:nvSpPr>
          <p:cNvPr id="19" name="Text 14"/>
          <p:cNvSpPr/>
          <p:nvPr/>
        </p:nvSpPr>
        <p:spPr>
          <a:xfrm>
            <a:off x="630936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Nine weeks, three countries, one data project: compare Spain, Slovakia and Montenegro with the rest of Europe using real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YOUR PROJECT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One question, real data, three countries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463040"/>
            <a:ext cx="1517904" cy="1737360"/>
          </a:xfrm>
          <a:prstGeom prst="rect">
            <a:avLst/>
          </a:prstGeom>
          <a:solidFill>
            <a:srgbClr val="312A63"/>
          </a:solidFill>
          <a:ln w="12700">
            <a:solidFill>
              <a:srgbClr val="312A63"/>
            </a:solidFill>
            <a:prstDash val="solid"/>
          </a:ln>
        </p:spPr>
      </p:sp>
      <p:sp>
        <p:nvSpPr>
          <p:cNvPr id="6" name="Text 4"/>
          <p:cNvSpPr/>
          <p:nvPr/>
        </p:nvSpPr>
        <p:spPr>
          <a:xfrm>
            <a:off x="594360"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594360"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p>
        </p:txBody>
      </p:sp>
      <p:sp>
        <p:nvSpPr>
          <p:cNvPr id="8" name="Text 6"/>
          <p:cNvSpPr/>
          <p:nvPr/>
        </p:nvSpPr>
        <p:spPr>
          <a:xfrm>
            <a:off x="594360"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A socio-economic or policy question</a:t>
            </a:r>
            <a:endParaRPr lang="en-US" sz="1050" dirty="0"/>
          </a:p>
        </p:txBody>
      </p:sp>
      <p:sp>
        <p:nvSpPr>
          <p:cNvPr id="9" name="Shape 7"/>
          <p:cNvSpPr/>
          <p:nvPr/>
        </p:nvSpPr>
        <p:spPr>
          <a:xfrm>
            <a:off x="2139696" y="1463040"/>
            <a:ext cx="1517904" cy="1737360"/>
          </a:xfrm>
          <a:prstGeom prst="rect">
            <a:avLst/>
          </a:prstGeom>
          <a:solidFill>
            <a:srgbClr val="312A63"/>
          </a:solidFill>
          <a:ln w="12700">
            <a:solidFill>
              <a:srgbClr val="312A63"/>
            </a:solidFill>
            <a:prstDash val="solid"/>
          </a:ln>
        </p:spPr>
      </p:sp>
      <p:sp>
        <p:nvSpPr>
          <p:cNvPr id="10" name="Text 8"/>
          <p:cNvSpPr/>
          <p:nvPr/>
        </p:nvSpPr>
        <p:spPr>
          <a:xfrm>
            <a:off x="2276856"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2276856"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12" name="Text 10"/>
          <p:cNvSpPr/>
          <p:nvPr/>
        </p:nvSpPr>
        <p:spPr>
          <a:xfrm>
            <a:off x="2276856"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COIL dataset: 32 European countries</a:t>
            </a:r>
            <a:endParaRPr lang="en-US" sz="1050" dirty="0"/>
          </a:p>
        </p:txBody>
      </p:sp>
      <p:sp>
        <p:nvSpPr>
          <p:cNvPr id="13" name="Shape 11"/>
          <p:cNvSpPr/>
          <p:nvPr/>
        </p:nvSpPr>
        <p:spPr>
          <a:xfrm>
            <a:off x="3822192" y="1463040"/>
            <a:ext cx="1517904" cy="1737360"/>
          </a:xfrm>
          <a:prstGeom prst="rect">
            <a:avLst/>
          </a:prstGeom>
          <a:solidFill>
            <a:srgbClr val="312A63"/>
          </a:solidFill>
          <a:ln w="12700">
            <a:solidFill>
              <a:srgbClr val="312A63"/>
            </a:solidFill>
            <a:prstDash val="solid"/>
          </a:ln>
        </p:spPr>
      </p:sp>
      <p:sp>
        <p:nvSpPr>
          <p:cNvPr id="14" name="Text 12"/>
          <p:cNvSpPr/>
          <p:nvPr/>
        </p:nvSpPr>
        <p:spPr>
          <a:xfrm>
            <a:off x="3959352"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3959352"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Analysis</a:t>
            </a:r>
            <a:endParaRPr lang="en-US" sz="1500" dirty="0"/>
          </a:p>
        </p:txBody>
      </p:sp>
      <p:sp>
        <p:nvSpPr>
          <p:cNvPr id="16" name="Text 14"/>
          <p:cNvSpPr/>
          <p:nvPr/>
        </p:nvSpPr>
        <p:spPr>
          <a:xfrm>
            <a:off x="3959352"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Regression, classification, PCA, clustering</a:t>
            </a:r>
            <a:endParaRPr lang="en-US" sz="1050" dirty="0"/>
          </a:p>
        </p:txBody>
      </p:sp>
      <p:sp>
        <p:nvSpPr>
          <p:cNvPr id="17" name="Shape 15"/>
          <p:cNvSpPr/>
          <p:nvPr/>
        </p:nvSpPr>
        <p:spPr>
          <a:xfrm>
            <a:off x="5504688" y="1463040"/>
            <a:ext cx="1517904" cy="1737360"/>
          </a:xfrm>
          <a:prstGeom prst="rect">
            <a:avLst/>
          </a:prstGeom>
          <a:solidFill>
            <a:srgbClr val="312A63"/>
          </a:solidFill>
          <a:ln w="12700">
            <a:solidFill>
              <a:srgbClr val="312A63"/>
            </a:solidFill>
            <a:prstDash val="solid"/>
          </a:ln>
        </p:spPr>
      </p:sp>
      <p:sp>
        <p:nvSpPr>
          <p:cNvPr id="18" name="Text 16"/>
          <p:cNvSpPr/>
          <p:nvPr/>
        </p:nvSpPr>
        <p:spPr>
          <a:xfrm>
            <a:off x="5641848"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5641848"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Dashboard</a:t>
            </a:r>
            <a:endParaRPr lang="en-US" sz="1500" dirty="0"/>
          </a:p>
        </p:txBody>
      </p:sp>
      <p:sp>
        <p:nvSpPr>
          <p:cNvPr id="20" name="Text 18"/>
          <p:cNvSpPr/>
          <p:nvPr/>
        </p:nvSpPr>
        <p:spPr>
          <a:xfrm>
            <a:off x="5641848"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For a non-specialist audience</a:t>
            </a:r>
            <a:endParaRPr lang="en-US" sz="1050" dirty="0"/>
          </a:p>
        </p:txBody>
      </p:sp>
      <p:sp>
        <p:nvSpPr>
          <p:cNvPr id="21" name="Shape 19"/>
          <p:cNvSpPr/>
          <p:nvPr/>
        </p:nvSpPr>
        <p:spPr>
          <a:xfrm>
            <a:off x="7187184" y="1463040"/>
            <a:ext cx="1517904" cy="1737360"/>
          </a:xfrm>
          <a:prstGeom prst="rect">
            <a:avLst/>
          </a:prstGeom>
          <a:solidFill>
            <a:srgbClr val="E55A5A"/>
          </a:solidFill>
          <a:ln w="12700">
            <a:solidFill>
              <a:srgbClr val="E55A5A"/>
            </a:solidFill>
            <a:prstDash val="solid"/>
          </a:ln>
        </p:spPr>
      </p:sp>
      <p:sp>
        <p:nvSpPr>
          <p:cNvPr id="22" name="Text 20"/>
          <p:cNvSpPr/>
          <p:nvPr/>
        </p:nvSpPr>
        <p:spPr>
          <a:xfrm>
            <a:off x="7324344" y="1554480"/>
            <a:ext cx="548640" cy="457200"/>
          </a:xfrm>
          <a:prstGeom prst="rect">
            <a:avLst/>
          </a:prstGeom>
          <a:noFill/>
          <a:ln/>
        </p:spPr>
        <p:txBody>
          <a:bodyPr wrap="square" lIns="0" tIns="0" rIns="0" bIns="0"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23" name="Text 21"/>
          <p:cNvSpPr/>
          <p:nvPr/>
        </p:nvSpPr>
        <p:spPr>
          <a:xfrm>
            <a:off x="7324344"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24" name="Text 22"/>
          <p:cNvSpPr/>
          <p:nvPr/>
        </p:nvSpPr>
        <p:spPr>
          <a:xfrm>
            <a:off x="7324344"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Week 9, to all three universities</a:t>
            </a:r>
            <a:endParaRPr lang="en-US" sz="1050" dirty="0"/>
          </a:p>
        </p:txBody>
      </p:sp>
      <p:sp>
        <p:nvSpPr>
          <p:cNvPr id="25" name="Text 23"/>
          <p:cNvSpPr/>
          <p:nvPr/>
        </p:nvSpPr>
        <p:spPr>
          <a:xfrm>
            <a:off x="457200" y="3520440"/>
            <a:ext cx="8229600" cy="73152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Example projects are on the website (Projects): education and youth unemployment, the digital divide, ageing and public spending, women in the labour market, the green transition, inequality. You can also propose your own question.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SCHEDULE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Nine weeks · 12 October – 13 December 2026</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859536" cy="457200"/>
          </a:xfrm>
          <a:prstGeom prst="rect">
            <a:avLst/>
          </a:prstGeom>
          <a:solidFill>
            <a:srgbClr val="312A63"/>
          </a:solidFill>
          <a:ln w="12700">
            <a:solidFill>
              <a:srgbClr val="312A63"/>
            </a:solidFill>
            <a:prstDash val="solid"/>
          </a:ln>
        </p:spPr>
      </p:sp>
      <p:sp>
        <p:nvSpPr>
          <p:cNvPr id="6" name="Text 4"/>
          <p:cNvSpPr/>
          <p:nvPr/>
        </p:nvSpPr>
        <p:spPr>
          <a:xfrm>
            <a:off x="457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W1</a:t>
            </a:r>
            <a:endParaRPr lang="en-US" sz="1300" dirty="0"/>
          </a:p>
        </p:txBody>
      </p:sp>
      <p:sp>
        <p:nvSpPr>
          <p:cNvPr id="7" name="Text 5"/>
          <p:cNvSpPr/>
          <p:nvPr/>
        </p:nvSpPr>
        <p:spPr>
          <a:xfrm>
            <a:off x="457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12 Oct</a:t>
            </a:r>
            <a:endParaRPr lang="en-US" sz="900" dirty="0"/>
          </a:p>
        </p:txBody>
      </p:sp>
      <p:sp>
        <p:nvSpPr>
          <p:cNvPr id="8" name="Text 6"/>
          <p:cNvSpPr/>
          <p:nvPr/>
        </p:nvSpPr>
        <p:spPr>
          <a:xfrm>
            <a:off x="475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Kick-off and intercultural orientation</a:t>
            </a:r>
            <a:endParaRPr lang="en-US" sz="900" dirty="0"/>
          </a:p>
        </p:txBody>
      </p:sp>
      <p:sp>
        <p:nvSpPr>
          <p:cNvPr id="9" name="Shape 7"/>
          <p:cNvSpPr/>
          <p:nvPr/>
        </p:nvSpPr>
        <p:spPr>
          <a:xfrm>
            <a:off x="530352" y="3154680"/>
            <a:ext cx="713232" cy="329184"/>
          </a:xfrm>
          <a:prstGeom prst="roundRect">
            <a:avLst>
              <a:gd name="adj" fmla="val 22222"/>
            </a:avLst>
          </a:prstGeom>
          <a:solidFill>
            <a:srgbClr val="FFFFFF"/>
          </a:solidFill>
          <a:ln w="12700">
            <a:solidFill>
              <a:srgbClr val="312A63"/>
            </a:solidFill>
            <a:prstDash val="solid"/>
          </a:ln>
        </p:spPr>
      </p:sp>
      <p:sp>
        <p:nvSpPr>
          <p:cNvPr id="10" name="Text 8"/>
          <p:cNvSpPr/>
          <p:nvPr/>
        </p:nvSpPr>
        <p:spPr>
          <a:xfrm>
            <a:off x="5303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11" name="Shape 9"/>
          <p:cNvSpPr/>
          <p:nvPr/>
        </p:nvSpPr>
        <p:spPr>
          <a:xfrm>
            <a:off x="1371600" y="1234440"/>
            <a:ext cx="859536" cy="457200"/>
          </a:xfrm>
          <a:prstGeom prst="rect">
            <a:avLst/>
          </a:prstGeom>
          <a:solidFill>
            <a:srgbClr val="312A63"/>
          </a:solidFill>
          <a:ln w="12700">
            <a:solidFill>
              <a:srgbClr val="312A63"/>
            </a:solidFill>
            <a:prstDash val="solid"/>
          </a:ln>
        </p:spPr>
      </p:sp>
      <p:sp>
        <p:nvSpPr>
          <p:cNvPr id="12" name="Text 10"/>
          <p:cNvSpPr/>
          <p:nvPr/>
        </p:nvSpPr>
        <p:spPr>
          <a:xfrm>
            <a:off x="1371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W2</a:t>
            </a:r>
            <a:endParaRPr lang="en-US" sz="1300" dirty="0"/>
          </a:p>
        </p:txBody>
      </p:sp>
      <p:sp>
        <p:nvSpPr>
          <p:cNvPr id="13" name="Text 11"/>
          <p:cNvSpPr/>
          <p:nvPr/>
        </p:nvSpPr>
        <p:spPr>
          <a:xfrm>
            <a:off x="1371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19 Oct</a:t>
            </a:r>
            <a:endParaRPr lang="en-US" sz="900" dirty="0"/>
          </a:p>
        </p:txBody>
      </p:sp>
      <p:sp>
        <p:nvSpPr>
          <p:cNvPr id="14" name="Text 12"/>
          <p:cNvSpPr/>
          <p:nvPr/>
        </p:nvSpPr>
        <p:spPr>
          <a:xfrm>
            <a:off x="1389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International teams and topic selection</a:t>
            </a:r>
            <a:endParaRPr lang="en-US" sz="900" dirty="0"/>
          </a:p>
        </p:txBody>
      </p:sp>
      <p:sp>
        <p:nvSpPr>
          <p:cNvPr id="15" name="Shape 13"/>
          <p:cNvSpPr/>
          <p:nvPr/>
        </p:nvSpPr>
        <p:spPr>
          <a:xfrm>
            <a:off x="1444752" y="2743200"/>
            <a:ext cx="713232" cy="329184"/>
          </a:xfrm>
          <a:prstGeom prst="roundRect">
            <a:avLst>
              <a:gd name="adj" fmla="val 22222"/>
            </a:avLst>
          </a:prstGeom>
          <a:solidFill>
            <a:srgbClr val="E55A5A"/>
          </a:solidFill>
          <a:ln w="12700">
            <a:solidFill>
              <a:srgbClr val="E55A5A"/>
            </a:solidFill>
            <a:prstDash val="solid"/>
          </a:ln>
        </p:spPr>
      </p:sp>
      <p:sp>
        <p:nvSpPr>
          <p:cNvPr id="16" name="Text 14"/>
          <p:cNvSpPr/>
          <p:nvPr/>
        </p:nvSpPr>
        <p:spPr>
          <a:xfrm>
            <a:off x="14447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1</a:t>
            </a:r>
            <a:endParaRPr lang="en-US" sz="850" dirty="0"/>
          </a:p>
        </p:txBody>
      </p:sp>
      <p:sp>
        <p:nvSpPr>
          <p:cNvPr id="17" name="Shape 15"/>
          <p:cNvSpPr/>
          <p:nvPr/>
        </p:nvSpPr>
        <p:spPr>
          <a:xfrm>
            <a:off x="2286000" y="1234440"/>
            <a:ext cx="859536" cy="457200"/>
          </a:xfrm>
          <a:prstGeom prst="rect">
            <a:avLst/>
          </a:prstGeom>
          <a:solidFill>
            <a:srgbClr val="2A9D8F"/>
          </a:solidFill>
          <a:ln w="12700">
            <a:solidFill>
              <a:srgbClr val="2A9D8F"/>
            </a:solidFill>
            <a:prstDash val="solid"/>
          </a:ln>
        </p:spPr>
      </p:sp>
      <p:sp>
        <p:nvSpPr>
          <p:cNvPr id="18" name="Text 16"/>
          <p:cNvSpPr/>
          <p:nvPr/>
        </p:nvSpPr>
        <p:spPr>
          <a:xfrm>
            <a:off x="2286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W3</a:t>
            </a:r>
            <a:endParaRPr lang="en-US" sz="1300" dirty="0"/>
          </a:p>
        </p:txBody>
      </p:sp>
      <p:sp>
        <p:nvSpPr>
          <p:cNvPr id="19" name="Text 17"/>
          <p:cNvSpPr/>
          <p:nvPr/>
        </p:nvSpPr>
        <p:spPr>
          <a:xfrm>
            <a:off x="2286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26 Oct</a:t>
            </a:r>
            <a:endParaRPr lang="en-US" sz="900" dirty="0"/>
          </a:p>
        </p:txBody>
      </p:sp>
      <p:sp>
        <p:nvSpPr>
          <p:cNvPr id="20" name="Text 18"/>
          <p:cNvSpPr/>
          <p:nvPr/>
        </p:nvSpPr>
        <p:spPr>
          <a:xfrm>
            <a:off x="2304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Data collection and preparation</a:t>
            </a:r>
            <a:endParaRPr lang="en-US" sz="900" dirty="0"/>
          </a:p>
        </p:txBody>
      </p:sp>
      <p:sp>
        <p:nvSpPr>
          <p:cNvPr id="21" name="Shape 19"/>
          <p:cNvSpPr/>
          <p:nvPr/>
        </p:nvSpPr>
        <p:spPr>
          <a:xfrm>
            <a:off x="2359152" y="3154680"/>
            <a:ext cx="713232" cy="329184"/>
          </a:xfrm>
          <a:prstGeom prst="roundRect">
            <a:avLst>
              <a:gd name="adj" fmla="val 22222"/>
            </a:avLst>
          </a:prstGeom>
          <a:solidFill>
            <a:srgbClr val="FFFFFF"/>
          </a:solidFill>
          <a:ln w="12700">
            <a:solidFill>
              <a:srgbClr val="312A63"/>
            </a:solidFill>
            <a:prstDash val="solid"/>
          </a:ln>
        </p:spPr>
      </p:sp>
      <p:sp>
        <p:nvSpPr>
          <p:cNvPr id="22" name="Text 20"/>
          <p:cNvSpPr/>
          <p:nvPr/>
        </p:nvSpPr>
        <p:spPr>
          <a:xfrm>
            <a:off x="23591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23" name="Shape 21"/>
          <p:cNvSpPr/>
          <p:nvPr/>
        </p:nvSpPr>
        <p:spPr>
          <a:xfrm>
            <a:off x="3200400" y="1234440"/>
            <a:ext cx="859536" cy="457200"/>
          </a:xfrm>
          <a:prstGeom prst="rect">
            <a:avLst/>
          </a:prstGeom>
          <a:solidFill>
            <a:srgbClr val="2A9D8F"/>
          </a:solidFill>
          <a:ln w="12700">
            <a:solidFill>
              <a:srgbClr val="2A9D8F"/>
            </a:solidFill>
            <a:prstDash val="solid"/>
          </a:ln>
        </p:spPr>
      </p:sp>
      <p:sp>
        <p:nvSpPr>
          <p:cNvPr id="24" name="Text 22"/>
          <p:cNvSpPr/>
          <p:nvPr/>
        </p:nvSpPr>
        <p:spPr>
          <a:xfrm>
            <a:off x="3200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W4</a:t>
            </a:r>
            <a:endParaRPr lang="en-US" sz="1300" dirty="0"/>
          </a:p>
        </p:txBody>
      </p:sp>
      <p:sp>
        <p:nvSpPr>
          <p:cNvPr id="25" name="Text 23"/>
          <p:cNvSpPr/>
          <p:nvPr/>
        </p:nvSpPr>
        <p:spPr>
          <a:xfrm>
            <a:off x="3200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 Nov</a:t>
            </a:r>
            <a:endParaRPr lang="en-US" sz="900" dirty="0"/>
          </a:p>
        </p:txBody>
      </p:sp>
      <p:sp>
        <p:nvSpPr>
          <p:cNvPr id="26" name="Text 24"/>
          <p:cNvSpPr/>
          <p:nvPr/>
        </p:nvSpPr>
        <p:spPr>
          <a:xfrm>
            <a:off x="3218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Exploratory data analysis</a:t>
            </a:r>
            <a:endParaRPr lang="en-US" sz="900" dirty="0"/>
          </a:p>
        </p:txBody>
      </p:sp>
      <p:sp>
        <p:nvSpPr>
          <p:cNvPr id="27" name="Shape 25"/>
          <p:cNvSpPr/>
          <p:nvPr/>
        </p:nvSpPr>
        <p:spPr>
          <a:xfrm>
            <a:off x="4114800" y="1234440"/>
            <a:ext cx="859536" cy="457200"/>
          </a:xfrm>
          <a:prstGeom prst="rect">
            <a:avLst/>
          </a:prstGeom>
          <a:solidFill>
            <a:srgbClr val="E9A23B"/>
          </a:solidFill>
          <a:ln w="12700">
            <a:solidFill>
              <a:srgbClr val="E9A23B"/>
            </a:solidFill>
            <a:prstDash val="solid"/>
          </a:ln>
        </p:spPr>
      </p:sp>
      <p:sp>
        <p:nvSpPr>
          <p:cNvPr id="28" name="Text 26"/>
          <p:cNvSpPr/>
          <p:nvPr/>
        </p:nvSpPr>
        <p:spPr>
          <a:xfrm>
            <a:off x="41148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W5</a:t>
            </a:r>
            <a:endParaRPr lang="en-US" sz="1300" dirty="0"/>
          </a:p>
        </p:txBody>
      </p:sp>
      <p:sp>
        <p:nvSpPr>
          <p:cNvPr id="29" name="Text 27"/>
          <p:cNvSpPr/>
          <p:nvPr/>
        </p:nvSpPr>
        <p:spPr>
          <a:xfrm>
            <a:off x="41148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9 Nov</a:t>
            </a:r>
            <a:endParaRPr lang="en-US" sz="900" dirty="0"/>
          </a:p>
        </p:txBody>
      </p:sp>
      <p:sp>
        <p:nvSpPr>
          <p:cNvPr id="30" name="Text 28"/>
          <p:cNvSpPr/>
          <p:nvPr/>
        </p:nvSpPr>
        <p:spPr>
          <a:xfrm>
            <a:off x="41330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Regression and classification</a:t>
            </a:r>
            <a:endParaRPr lang="en-US" sz="900" dirty="0"/>
          </a:p>
        </p:txBody>
      </p:sp>
      <p:sp>
        <p:nvSpPr>
          <p:cNvPr id="31" name="Shape 29"/>
          <p:cNvSpPr/>
          <p:nvPr/>
        </p:nvSpPr>
        <p:spPr>
          <a:xfrm>
            <a:off x="4187952" y="3154680"/>
            <a:ext cx="713232" cy="329184"/>
          </a:xfrm>
          <a:prstGeom prst="roundRect">
            <a:avLst>
              <a:gd name="adj" fmla="val 22222"/>
            </a:avLst>
          </a:prstGeom>
          <a:solidFill>
            <a:srgbClr val="FFFFFF"/>
          </a:solidFill>
          <a:ln w="12700">
            <a:solidFill>
              <a:srgbClr val="312A63"/>
            </a:solidFill>
            <a:prstDash val="solid"/>
          </a:ln>
        </p:spPr>
      </p:sp>
      <p:sp>
        <p:nvSpPr>
          <p:cNvPr id="32" name="Text 30"/>
          <p:cNvSpPr/>
          <p:nvPr/>
        </p:nvSpPr>
        <p:spPr>
          <a:xfrm>
            <a:off x="41879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33" name="Shape 31"/>
          <p:cNvSpPr/>
          <p:nvPr/>
        </p:nvSpPr>
        <p:spPr>
          <a:xfrm>
            <a:off x="5029200" y="1234440"/>
            <a:ext cx="859536" cy="457200"/>
          </a:xfrm>
          <a:prstGeom prst="rect">
            <a:avLst/>
          </a:prstGeom>
          <a:solidFill>
            <a:srgbClr val="E9A23B"/>
          </a:solidFill>
          <a:ln w="12700">
            <a:solidFill>
              <a:srgbClr val="E9A23B"/>
            </a:solidFill>
            <a:prstDash val="solid"/>
          </a:ln>
        </p:spPr>
      </p:sp>
      <p:sp>
        <p:nvSpPr>
          <p:cNvPr id="34" name="Text 32"/>
          <p:cNvSpPr/>
          <p:nvPr/>
        </p:nvSpPr>
        <p:spPr>
          <a:xfrm>
            <a:off x="5029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W6</a:t>
            </a:r>
            <a:endParaRPr lang="en-US" sz="1300" dirty="0"/>
          </a:p>
        </p:txBody>
      </p:sp>
      <p:sp>
        <p:nvSpPr>
          <p:cNvPr id="35" name="Text 33"/>
          <p:cNvSpPr/>
          <p:nvPr/>
        </p:nvSpPr>
        <p:spPr>
          <a:xfrm>
            <a:off x="5029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16 Nov</a:t>
            </a:r>
            <a:endParaRPr lang="en-US" sz="900" dirty="0"/>
          </a:p>
        </p:txBody>
      </p:sp>
      <p:sp>
        <p:nvSpPr>
          <p:cNvPr id="36" name="Text 34"/>
          <p:cNvSpPr/>
          <p:nvPr/>
        </p:nvSpPr>
        <p:spPr>
          <a:xfrm>
            <a:off x="5047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Dimensionality reduction and clustering</a:t>
            </a:r>
            <a:endParaRPr lang="en-US" sz="900" dirty="0"/>
          </a:p>
        </p:txBody>
      </p:sp>
      <p:sp>
        <p:nvSpPr>
          <p:cNvPr id="37" name="Shape 35"/>
          <p:cNvSpPr/>
          <p:nvPr/>
        </p:nvSpPr>
        <p:spPr>
          <a:xfrm>
            <a:off x="5102352" y="2743200"/>
            <a:ext cx="713232" cy="329184"/>
          </a:xfrm>
          <a:prstGeom prst="roundRect">
            <a:avLst>
              <a:gd name="adj" fmla="val 22222"/>
            </a:avLst>
          </a:prstGeom>
          <a:solidFill>
            <a:srgbClr val="E55A5A"/>
          </a:solidFill>
          <a:ln w="12700">
            <a:solidFill>
              <a:srgbClr val="E55A5A"/>
            </a:solidFill>
            <a:prstDash val="solid"/>
          </a:ln>
        </p:spPr>
      </p:sp>
      <p:sp>
        <p:nvSpPr>
          <p:cNvPr id="38" name="Text 36"/>
          <p:cNvSpPr/>
          <p:nvPr/>
        </p:nvSpPr>
        <p:spPr>
          <a:xfrm>
            <a:off x="51023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2</a:t>
            </a:r>
            <a:endParaRPr lang="en-US" sz="850" dirty="0"/>
          </a:p>
        </p:txBody>
      </p:sp>
      <p:sp>
        <p:nvSpPr>
          <p:cNvPr id="39" name="Shape 37"/>
          <p:cNvSpPr/>
          <p:nvPr/>
        </p:nvSpPr>
        <p:spPr>
          <a:xfrm>
            <a:off x="5943600" y="1234440"/>
            <a:ext cx="859536" cy="457200"/>
          </a:xfrm>
          <a:prstGeom prst="rect">
            <a:avLst/>
          </a:prstGeom>
          <a:solidFill>
            <a:srgbClr val="6C63A8"/>
          </a:solidFill>
          <a:ln w="12700">
            <a:solidFill>
              <a:srgbClr val="6C63A8"/>
            </a:solidFill>
            <a:prstDash val="solid"/>
          </a:ln>
        </p:spPr>
      </p:sp>
      <p:sp>
        <p:nvSpPr>
          <p:cNvPr id="40" name="Text 38"/>
          <p:cNvSpPr/>
          <p:nvPr/>
        </p:nvSpPr>
        <p:spPr>
          <a:xfrm>
            <a:off x="5943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W7</a:t>
            </a:r>
            <a:endParaRPr lang="en-US" sz="1300" dirty="0"/>
          </a:p>
        </p:txBody>
      </p:sp>
      <p:sp>
        <p:nvSpPr>
          <p:cNvPr id="41" name="Text 39"/>
          <p:cNvSpPr/>
          <p:nvPr/>
        </p:nvSpPr>
        <p:spPr>
          <a:xfrm>
            <a:off x="5943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23 Nov</a:t>
            </a:r>
            <a:endParaRPr lang="en-US" sz="900" dirty="0"/>
          </a:p>
        </p:txBody>
      </p:sp>
      <p:sp>
        <p:nvSpPr>
          <p:cNvPr id="42" name="Text 40"/>
          <p:cNvSpPr/>
          <p:nvPr/>
        </p:nvSpPr>
        <p:spPr>
          <a:xfrm>
            <a:off x="5961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Dashboards and data storytelling</a:t>
            </a:r>
            <a:endParaRPr lang="en-US" sz="900" dirty="0"/>
          </a:p>
        </p:txBody>
      </p:sp>
      <p:sp>
        <p:nvSpPr>
          <p:cNvPr id="43" name="Shape 41"/>
          <p:cNvSpPr/>
          <p:nvPr/>
        </p:nvSpPr>
        <p:spPr>
          <a:xfrm>
            <a:off x="6858000" y="1234440"/>
            <a:ext cx="859536" cy="457200"/>
          </a:xfrm>
          <a:prstGeom prst="rect">
            <a:avLst/>
          </a:prstGeom>
          <a:solidFill>
            <a:srgbClr val="6C63A8"/>
          </a:solidFill>
          <a:ln w="12700">
            <a:solidFill>
              <a:srgbClr val="6C63A8"/>
            </a:solidFill>
            <a:prstDash val="solid"/>
          </a:ln>
        </p:spPr>
      </p:sp>
      <p:sp>
        <p:nvSpPr>
          <p:cNvPr id="44" name="Text 42"/>
          <p:cNvSpPr/>
          <p:nvPr/>
        </p:nvSpPr>
        <p:spPr>
          <a:xfrm>
            <a:off x="6858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W8</a:t>
            </a:r>
            <a:endParaRPr lang="en-US" sz="1300" dirty="0"/>
          </a:p>
        </p:txBody>
      </p:sp>
      <p:sp>
        <p:nvSpPr>
          <p:cNvPr id="45" name="Text 43"/>
          <p:cNvSpPr/>
          <p:nvPr/>
        </p:nvSpPr>
        <p:spPr>
          <a:xfrm>
            <a:off x="6858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30 Nov</a:t>
            </a:r>
            <a:endParaRPr lang="en-US" sz="900" dirty="0"/>
          </a:p>
        </p:txBody>
      </p:sp>
      <p:sp>
        <p:nvSpPr>
          <p:cNvPr id="46" name="Text 44"/>
          <p:cNvSpPr/>
          <p:nvPr/>
        </p:nvSpPr>
        <p:spPr>
          <a:xfrm>
            <a:off x="6876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Final dashboard and rehearsal</a:t>
            </a:r>
            <a:endParaRPr lang="en-US" sz="900" dirty="0"/>
          </a:p>
        </p:txBody>
      </p:sp>
      <p:sp>
        <p:nvSpPr>
          <p:cNvPr id="47" name="Shape 45"/>
          <p:cNvSpPr/>
          <p:nvPr/>
        </p:nvSpPr>
        <p:spPr>
          <a:xfrm>
            <a:off x="7772400" y="1234440"/>
            <a:ext cx="859536" cy="457200"/>
          </a:xfrm>
          <a:prstGeom prst="rect">
            <a:avLst/>
          </a:prstGeom>
          <a:solidFill>
            <a:srgbClr val="E55A5A"/>
          </a:solidFill>
          <a:ln w="12700">
            <a:solidFill>
              <a:srgbClr val="E55A5A"/>
            </a:solidFill>
            <a:prstDash val="solid"/>
          </a:ln>
        </p:spPr>
      </p:sp>
      <p:sp>
        <p:nvSpPr>
          <p:cNvPr id="48" name="Text 46"/>
          <p:cNvSpPr/>
          <p:nvPr/>
        </p:nvSpPr>
        <p:spPr>
          <a:xfrm>
            <a:off x="7772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W9</a:t>
            </a:r>
            <a:endParaRPr lang="en-US" sz="1300" dirty="0"/>
          </a:p>
        </p:txBody>
      </p:sp>
      <p:sp>
        <p:nvSpPr>
          <p:cNvPr id="49" name="Text 47"/>
          <p:cNvSpPr/>
          <p:nvPr/>
        </p:nvSpPr>
        <p:spPr>
          <a:xfrm>
            <a:off x="7772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7 Dec</a:t>
            </a:r>
            <a:endParaRPr lang="en-US" sz="900" dirty="0"/>
          </a:p>
        </p:txBody>
      </p:sp>
      <p:sp>
        <p:nvSpPr>
          <p:cNvPr id="50" name="Text 48"/>
          <p:cNvSpPr/>
          <p:nvPr/>
        </p:nvSpPr>
        <p:spPr>
          <a:xfrm>
            <a:off x="7790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Joint online presentation and reflection</a:t>
            </a:r>
            <a:endParaRPr lang="en-US" sz="900" dirty="0"/>
          </a:p>
        </p:txBody>
      </p:sp>
      <p:sp>
        <p:nvSpPr>
          <p:cNvPr id="51" name="Shape 49"/>
          <p:cNvSpPr/>
          <p:nvPr/>
        </p:nvSpPr>
        <p:spPr>
          <a:xfrm>
            <a:off x="7845552" y="2743200"/>
            <a:ext cx="713232" cy="329184"/>
          </a:xfrm>
          <a:prstGeom prst="roundRect">
            <a:avLst>
              <a:gd name="adj" fmla="val 22222"/>
            </a:avLst>
          </a:prstGeom>
          <a:solidFill>
            <a:srgbClr val="E55A5A"/>
          </a:solidFill>
          <a:ln w="12700">
            <a:solidFill>
              <a:srgbClr val="E55A5A"/>
            </a:solidFill>
            <a:prstDash val="solid"/>
          </a:ln>
        </p:spPr>
      </p:sp>
      <p:sp>
        <p:nvSpPr>
          <p:cNvPr id="52" name="Text 50"/>
          <p:cNvSpPr/>
          <p:nvPr/>
        </p:nvSpPr>
        <p:spPr>
          <a:xfrm>
            <a:off x="78455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3</a:t>
            </a:r>
            <a:endParaRPr lang="en-US" sz="850" dirty="0"/>
          </a:p>
        </p:txBody>
      </p:sp>
      <p:sp>
        <p:nvSpPr>
          <p:cNvPr id="53" name="Shape 51"/>
          <p:cNvSpPr/>
          <p:nvPr/>
        </p:nvSpPr>
        <p:spPr>
          <a:xfrm>
            <a:off x="7845552" y="3154680"/>
            <a:ext cx="713232" cy="329184"/>
          </a:xfrm>
          <a:prstGeom prst="roundRect">
            <a:avLst>
              <a:gd name="adj" fmla="val 22222"/>
            </a:avLst>
          </a:prstGeom>
          <a:solidFill>
            <a:srgbClr val="FFFFFF"/>
          </a:solidFill>
          <a:ln w="12700">
            <a:solidFill>
              <a:srgbClr val="312A63"/>
            </a:solidFill>
            <a:prstDash val="solid"/>
          </a:ln>
        </p:spPr>
      </p:sp>
      <p:sp>
        <p:nvSpPr>
          <p:cNvPr id="54" name="Text 52"/>
          <p:cNvSpPr/>
          <p:nvPr/>
        </p:nvSpPr>
        <p:spPr>
          <a:xfrm>
            <a:off x="78455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55" name="Text 53"/>
          <p:cNvSpPr/>
          <p:nvPr/>
        </p:nvSpPr>
        <p:spPr>
          <a:xfrm>
            <a:off x="457200" y="3749040"/>
            <a:ext cx="8229600" cy="457200"/>
          </a:xfrm>
          <a:prstGeom prst="rect">
            <a:avLst/>
          </a:prstGeom>
          <a:noFill/>
          <a:ln/>
        </p:spPr>
        <p:txBody>
          <a:bodyPr wrap="square" lIns="0" tIns="0" rIns="0" bIns="0" rtlCol="0" anchor="ctr"/>
          <a:lstStyle/>
          <a:p>
            <a:pPr indent="0" marL="0">
              <a:buNone/>
            </a:pPr>
            <a:r>
              <a:rPr lang="en-US" sz="1000" i="1" dirty="0">
                <a:solidFill>
                  <a:srgbClr val="6B6880"/>
                </a:solidFill>
                <a:latin typeface="Calibri" pitchFamily="34" charset="0"/>
                <a:ea typeface="Calibri" pitchFamily="34" charset="-122"/>
                <a:cs typeface="Calibri" pitchFamily="34" charset="-120"/>
              </a:rPr>
              <a:t>Phases: orientation · data · methods · communication · presentation. Dates are provisional until confirmed by the three universities; the website always shows the current version.</a:t>
            </a:r>
            <a:endParaRPr lang="en-US" sz="10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YOU SUBMIT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Three deliverables, always Sunday, 23:59 CET</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234440"/>
            <a:ext cx="2606040" cy="685800"/>
          </a:xfrm>
          <a:prstGeom prst="rect">
            <a:avLst/>
          </a:prstGeom>
          <a:solidFill>
            <a:srgbClr val="312A63"/>
          </a:solidFill>
          <a:ln w="12700">
            <a:solidFill>
              <a:srgbClr val="312A63"/>
            </a:solidFill>
            <a:prstDash val="solid"/>
          </a:ln>
        </p:spPr>
      </p:sp>
      <p:sp>
        <p:nvSpPr>
          <p:cNvPr id="7" name="Text 5"/>
          <p:cNvSpPr/>
          <p:nvPr/>
        </p:nvSpPr>
        <p:spPr>
          <a:xfrm>
            <a:off x="59436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05156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2</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25 October</a:t>
            </a:r>
            <a:endParaRPr lang="en-US" sz="1100" dirty="0"/>
          </a:p>
        </p:txBody>
      </p:sp>
      <p:sp>
        <p:nvSpPr>
          <p:cNvPr id="9" name="Text 7"/>
          <p:cNvSpPr/>
          <p:nvPr/>
        </p:nvSpPr>
        <p:spPr>
          <a:xfrm>
            <a:off x="59436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Team charter and topic proposal</a:t>
            </a:r>
            <a:endParaRPr lang="en-US" sz="1300" dirty="0"/>
          </a:p>
        </p:txBody>
      </p:sp>
      <p:sp>
        <p:nvSpPr>
          <p:cNvPr id="10" name="Text 8"/>
          <p:cNvSpPr/>
          <p:nvPr/>
        </p:nvSpPr>
        <p:spPr>
          <a:xfrm>
            <a:off x="59436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One PDF, maximum 2 pages (use the templates in the Submit section)</a:t>
            </a:r>
            <a:endParaRPr lang="en-US" sz="1000" dirty="0"/>
          </a:p>
        </p:txBody>
      </p:sp>
      <p:sp>
        <p:nvSpPr>
          <p:cNvPr id="11" name="Shape 9"/>
          <p:cNvSpPr/>
          <p:nvPr/>
        </p:nvSpPr>
        <p:spPr>
          <a:xfrm>
            <a:off x="324612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2" name="Shape 10"/>
          <p:cNvSpPr/>
          <p:nvPr/>
        </p:nvSpPr>
        <p:spPr>
          <a:xfrm>
            <a:off x="3246120" y="1234440"/>
            <a:ext cx="2606040" cy="685800"/>
          </a:xfrm>
          <a:prstGeom prst="rect">
            <a:avLst/>
          </a:prstGeom>
          <a:solidFill>
            <a:srgbClr val="312A63"/>
          </a:solidFill>
          <a:ln w="12700">
            <a:solidFill>
              <a:srgbClr val="312A63"/>
            </a:solidFill>
            <a:prstDash val="solid"/>
          </a:ln>
        </p:spPr>
      </p:sp>
      <p:sp>
        <p:nvSpPr>
          <p:cNvPr id="13" name="Text 11"/>
          <p:cNvSpPr/>
          <p:nvPr/>
        </p:nvSpPr>
        <p:spPr>
          <a:xfrm>
            <a:off x="338328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2</a:t>
            </a:r>
            <a:endParaRPr lang="en-US" sz="3000" dirty="0"/>
          </a:p>
        </p:txBody>
      </p:sp>
      <p:sp>
        <p:nvSpPr>
          <p:cNvPr id="14" name="Text 12"/>
          <p:cNvSpPr/>
          <p:nvPr/>
        </p:nvSpPr>
        <p:spPr>
          <a:xfrm>
            <a:off x="384048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6</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22 November</a:t>
            </a:r>
            <a:endParaRPr lang="en-US" sz="1100" dirty="0"/>
          </a:p>
        </p:txBody>
      </p:sp>
      <p:sp>
        <p:nvSpPr>
          <p:cNvPr id="15" name="Text 13"/>
          <p:cNvSpPr/>
          <p:nvPr/>
        </p:nvSpPr>
        <p:spPr>
          <a:xfrm>
            <a:off x="338328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Analysis notebook</a:t>
            </a:r>
            <a:endParaRPr lang="en-US" sz="1300" dirty="0"/>
          </a:p>
        </p:txBody>
      </p:sp>
      <p:sp>
        <p:nvSpPr>
          <p:cNvPr id="16" name="Text 14"/>
          <p:cNvSpPr/>
          <p:nvPr/>
        </p:nvSpPr>
        <p:spPr>
          <a:xfrm>
            <a:off x="338328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Your analysis file (Python or R notebook, Gretl script or session, or Power BI file) + a PDF or HTML report with all results + your dataset (CSV or Excel)</a:t>
            </a:r>
            <a:endParaRPr lang="en-US" sz="1000" dirty="0"/>
          </a:p>
        </p:txBody>
      </p:sp>
      <p:sp>
        <p:nvSpPr>
          <p:cNvPr id="17" name="Shape 15"/>
          <p:cNvSpPr/>
          <p:nvPr/>
        </p:nvSpPr>
        <p:spPr>
          <a:xfrm>
            <a:off x="603504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6035040" y="1234440"/>
            <a:ext cx="2606040" cy="685800"/>
          </a:xfrm>
          <a:prstGeom prst="rect">
            <a:avLst/>
          </a:prstGeom>
          <a:solidFill>
            <a:srgbClr val="312A63"/>
          </a:solidFill>
          <a:ln w="12700">
            <a:solidFill>
              <a:srgbClr val="312A63"/>
            </a:solidFill>
            <a:prstDash val="solid"/>
          </a:ln>
        </p:spPr>
      </p:sp>
      <p:sp>
        <p:nvSpPr>
          <p:cNvPr id="19" name="Text 17"/>
          <p:cNvSpPr/>
          <p:nvPr/>
        </p:nvSpPr>
        <p:spPr>
          <a:xfrm>
            <a:off x="617220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3</a:t>
            </a:r>
            <a:endParaRPr lang="en-US" sz="3000" dirty="0"/>
          </a:p>
        </p:txBody>
      </p:sp>
      <p:sp>
        <p:nvSpPr>
          <p:cNvPr id="20" name="Text 18"/>
          <p:cNvSpPr/>
          <p:nvPr/>
        </p:nvSpPr>
        <p:spPr>
          <a:xfrm>
            <a:off x="662940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9</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13 December</a:t>
            </a:r>
            <a:endParaRPr lang="en-US" sz="1100" dirty="0"/>
          </a:p>
        </p:txBody>
      </p:sp>
      <p:sp>
        <p:nvSpPr>
          <p:cNvPr id="21" name="Text 19"/>
          <p:cNvSpPr/>
          <p:nvPr/>
        </p:nvSpPr>
        <p:spPr>
          <a:xfrm>
            <a:off x="617220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Final dashboard, presentation and final reflection</a:t>
            </a:r>
            <a:endParaRPr lang="en-US" sz="1300" dirty="0"/>
          </a:p>
        </p:txBody>
      </p:sp>
      <p:sp>
        <p:nvSpPr>
          <p:cNvPr id="22" name="Text 20"/>
          <p:cNvSpPr/>
          <p:nvPr/>
        </p:nvSpPr>
        <p:spPr>
          <a:xfrm>
            <a:off x="617220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 (dashboard, slides and presentation) + individual (reflection)</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Dashboard link or PDF + slides (maximum 6 slides, 5-minute presentation) + one-page PDF reflection</a:t>
            </a:r>
            <a:endParaRPr lang="en-US" sz="1000" dirty="0"/>
          </a:p>
        </p:txBody>
      </p:sp>
      <p:sp>
        <p:nvSpPr>
          <p:cNvPr id="23" name="Text 21"/>
          <p:cNvSpPr/>
          <p:nvPr/>
        </p:nvSpPr>
        <p:spPr>
          <a:xfrm>
            <a:off x="457200" y="4480560"/>
            <a:ext cx="8229600" cy="274320"/>
          </a:xfrm>
          <a:prstGeom prst="rect">
            <a:avLst/>
          </a:prstGeom>
          <a:noFill/>
          <a:ln/>
        </p:spPr>
        <p:txBody>
          <a:bodyPr wrap="square" lIns="0" tIns="0" rIns="0" bIns="0" rtlCol="0" anchor="ctr"/>
          <a:lstStyle/>
          <a:p>
            <a:pPr indent="0" marL="0">
              <a:buNone/>
            </a:pPr>
            <a:r>
              <a:rPr lang="en-US" sz="1050" i="1" dirty="0">
                <a:solidFill>
                  <a:srgbClr val="6B6880"/>
                </a:solidFill>
                <a:latin typeface="Calibri" pitchFamily="34" charset="0"/>
                <a:ea typeface="Calibri" pitchFamily="34" charset="-122"/>
                <a:cs typeface="Calibri" pitchFamily="34" charset="-120"/>
              </a:rPr>
              <a:t>Submit with the Submit button of each deliverable on the website. The full list of what each deliverable must include is in the schedule and the student guide.</a:t>
            </a:r>
            <a:endParaRPr lang="en-US" sz="10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DUE SUNDAY 25 OCTOBER, 23:59 CET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Deliverable 1 · Team charter and topic proposal</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5120640" cy="33832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3383280"/>
          </a:xfrm>
          <a:prstGeom prst="rect">
            <a:avLst/>
          </a:prstGeom>
          <a:solidFill>
            <a:srgbClr val="E55A5A"/>
          </a:solidFill>
          <a:ln w="12700">
            <a:solidFill>
              <a:srgbClr val="E55A5A"/>
            </a:solidFill>
            <a:prstDash val="solid"/>
          </a:ln>
        </p:spPr>
      </p:sp>
      <p:sp>
        <p:nvSpPr>
          <p:cNvPr id="7" name="Text 5"/>
          <p:cNvSpPr/>
          <p:nvPr/>
        </p:nvSpPr>
        <p:spPr>
          <a:xfrm>
            <a:off x="658368" y="1298448"/>
            <a:ext cx="480060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It must include</a:t>
            </a:r>
            <a:endParaRPr lang="en-US" sz="1300" dirty="0"/>
          </a:p>
        </p:txBody>
      </p:sp>
      <p:sp>
        <p:nvSpPr>
          <p:cNvPr id="8" name="Text 6"/>
          <p:cNvSpPr/>
          <p:nvPr/>
        </p:nvSpPr>
        <p:spPr>
          <a:xfrm>
            <a:off x="658368" y="1645920"/>
            <a:ext cx="4800600" cy="285292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Team charter: team name, members and universities, roles, communication channel, weekly meeting time, how you take decisions, what you do if someone does not contribute.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Topic proposal: research question, why it matters for Spain, Slovakia and Montenegro, 3–6 indicators from the COIL dataset (with their codes), countries and years, and the methods you expect to use.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A short note on your use of AI tools (which tool, for what, and how you checked the result), or a sentence saying you did not use any.</a:t>
            </a:r>
            <a:endParaRPr lang="en-US" sz="1150" dirty="0"/>
          </a:p>
        </p:txBody>
      </p:sp>
      <p:sp>
        <p:nvSpPr>
          <p:cNvPr id="9" name="Shape 7"/>
          <p:cNvSpPr/>
          <p:nvPr/>
        </p:nvSpPr>
        <p:spPr>
          <a:xfrm>
            <a:off x="5806440" y="118872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5806440" y="1188720"/>
            <a:ext cx="64008" cy="1600200"/>
          </a:xfrm>
          <a:prstGeom prst="rect">
            <a:avLst/>
          </a:prstGeom>
          <a:solidFill>
            <a:srgbClr val="312A63"/>
          </a:solidFill>
          <a:ln w="12700">
            <a:solidFill>
              <a:srgbClr val="312A63"/>
            </a:solidFill>
            <a:prstDash val="solid"/>
          </a:ln>
        </p:spPr>
      </p:sp>
      <p:sp>
        <p:nvSpPr>
          <p:cNvPr id="11" name="Text 9"/>
          <p:cNvSpPr/>
          <p:nvPr/>
        </p:nvSpPr>
        <p:spPr>
          <a:xfrm>
            <a:off x="6007608" y="129844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Format</a:t>
            </a:r>
            <a:endParaRPr lang="en-US" sz="1300" dirty="0"/>
          </a:p>
        </p:txBody>
      </p:sp>
      <p:sp>
        <p:nvSpPr>
          <p:cNvPr id="12" name="Text 10"/>
          <p:cNvSpPr/>
          <p:nvPr/>
        </p:nvSpPr>
        <p:spPr>
          <a:xfrm>
            <a:off x="6007608" y="164592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One PDF, maximum 2 pages (use the templates in the Submit section)</a:t>
            </a:r>
            <a:endParaRPr lang="en-US" sz="1150" dirty="0"/>
          </a:p>
        </p:txBody>
      </p:sp>
      <p:sp>
        <p:nvSpPr>
          <p:cNvPr id="13" name="Shape 11"/>
          <p:cNvSpPr/>
          <p:nvPr/>
        </p:nvSpPr>
        <p:spPr>
          <a:xfrm>
            <a:off x="5806440" y="297180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806440" y="2971800"/>
            <a:ext cx="64008" cy="1600200"/>
          </a:xfrm>
          <a:prstGeom prst="rect">
            <a:avLst/>
          </a:prstGeom>
          <a:solidFill>
            <a:srgbClr val="2A9D8F"/>
          </a:solidFill>
          <a:ln w="12700">
            <a:solidFill>
              <a:srgbClr val="2A9D8F"/>
            </a:solidFill>
            <a:prstDash val="solid"/>
          </a:ln>
        </p:spPr>
      </p:sp>
      <p:sp>
        <p:nvSpPr>
          <p:cNvPr id="15" name="Text 13"/>
          <p:cNvSpPr/>
          <p:nvPr/>
        </p:nvSpPr>
        <p:spPr>
          <a:xfrm>
            <a:off x="6007608" y="308152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Templates</a:t>
            </a:r>
            <a:endParaRPr lang="en-US" sz="1300" dirty="0"/>
          </a:p>
        </p:txBody>
      </p:sp>
      <p:sp>
        <p:nvSpPr>
          <p:cNvPr id="16" name="Text 14"/>
          <p:cNvSpPr/>
          <p:nvPr/>
        </p:nvSpPr>
        <p:spPr>
          <a:xfrm>
            <a:off x="6007608" y="342900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Topic proposal and team charter templates are in the Guide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THE DATA</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dataset, ready to use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Text 3"/>
          <p:cNvSpPr/>
          <p:nvPr/>
        </p:nvSpPr>
        <p:spPr>
          <a:xfrm>
            <a:off x="45720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32</a:t>
            </a:r>
            <a:endParaRPr lang="en-US" sz="4000" dirty="0"/>
          </a:p>
        </p:txBody>
      </p:sp>
      <p:sp>
        <p:nvSpPr>
          <p:cNvPr id="6" name="Text 4"/>
          <p:cNvSpPr/>
          <p:nvPr/>
        </p:nvSpPr>
        <p:spPr>
          <a:xfrm>
            <a:off x="45720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European countries, plus the EU aggregate</a:t>
            </a:r>
            <a:endParaRPr lang="en-US" sz="1100" dirty="0"/>
          </a:p>
        </p:txBody>
      </p:sp>
      <p:sp>
        <p:nvSpPr>
          <p:cNvPr id="7" name="Text 5"/>
          <p:cNvSpPr/>
          <p:nvPr/>
        </p:nvSpPr>
        <p:spPr>
          <a:xfrm>
            <a:off x="256032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256032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indicators: labour, economy, public finance, population, education, digital, environment</a:t>
            </a:r>
            <a:endParaRPr lang="en-US" sz="1100" dirty="0"/>
          </a:p>
        </p:txBody>
      </p:sp>
      <p:sp>
        <p:nvSpPr>
          <p:cNvPr id="9" name="Text 7"/>
          <p:cNvSpPr/>
          <p:nvPr/>
        </p:nvSpPr>
        <p:spPr>
          <a:xfrm>
            <a:off x="466344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16</a:t>
            </a:r>
            <a:endParaRPr lang="en-US" sz="4000" dirty="0"/>
          </a:p>
        </p:txBody>
      </p:sp>
      <p:sp>
        <p:nvSpPr>
          <p:cNvPr id="10" name="Text 8"/>
          <p:cNvSpPr/>
          <p:nvPr/>
        </p:nvSpPr>
        <p:spPr>
          <a:xfrm>
            <a:off x="466344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years (2010–2025), one row per country and year</a:t>
            </a:r>
            <a:endParaRPr lang="en-US" sz="1100" dirty="0"/>
          </a:p>
        </p:txBody>
      </p:sp>
      <p:sp>
        <p:nvSpPr>
          <p:cNvPr id="11" name="Text 9"/>
          <p:cNvSpPr/>
          <p:nvPr/>
        </p:nvSpPr>
        <p:spPr>
          <a:xfrm>
            <a:off x="676656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a:t>
            </a:r>
            <a:endParaRPr lang="en-US" sz="4000" dirty="0"/>
          </a:p>
        </p:txBody>
      </p:sp>
      <p:sp>
        <p:nvSpPr>
          <p:cNvPr id="12" name="Text 10"/>
          <p:cNvSpPr/>
          <p:nvPr/>
        </p:nvSpPr>
        <p:spPr>
          <a:xfrm>
            <a:off x="676656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file formats: long, wide (Excel, Power BI) and Gretl</a:t>
            </a:r>
            <a:endParaRPr lang="en-US" sz="1100" dirty="0"/>
          </a:p>
        </p:txBody>
      </p:sp>
      <p:sp>
        <p:nvSpPr>
          <p:cNvPr id="13" name="Shape 11"/>
          <p:cNvSpPr/>
          <p:nvPr/>
        </p:nvSpPr>
        <p:spPr>
          <a:xfrm>
            <a:off x="457200" y="2926080"/>
            <a:ext cx="822960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600200"/>
          </a:xfrm>
          <a:prstGeom prst="rect">
            <a:avLst/>
          </a:prstGeom>
          <a:solidFill>
            <a:srgbClr val="2A9D8F"/>
          </a:solidFill>
          <a:ln w="12700">
            <a:solidFill>
              <a:srgbClr val="2A9D8F"/>
            </a:solidFill>
            <a:prstDash val="solid"/>
          </a:ln>
        </p:spPr>
      </p:sp>
      <p:sp>
        <p:nvSpPr>
          <p:cNvPr id="15" name="Text 13"/>
          <p:cNvSpPr/>
          <p:nvPr/>
        </p:nvSpPr>
        <p:spPr>
          <a:xfrm>
            <a:off x="658368" y="3035808"/>
            <a:ext cx="790956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Sources and gaps</a:t>
            </a:r>
            <a:endParaRPr lang="en-US" sz="1300" dirty="0"/>
          </a:p>
        </p:txBody>
      </p:sp>
      <p:sp>
        <p:nvSpPr>
          <p:cNvPr id="16" name="Text 14"/>
          <p:cNvSpPr/>
          <p:nvPr/>
        </p:nvSpPr>
        <p:spPr>
          <a:xfrm>
            <a:off x="658368" y="3383280"/>
            <a:ext cx="7909560" cy="106984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Sources: World Bank (World Development Indicators) and IMF (World Economic Outlook). Each indicator keeps its code and unit.</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Some series have gaps, especially for Montenegro. The data workshop (week 3) shows how to deal with them.</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Download everything from the Data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TOOLS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Use the tool of your course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280160"/>
          </a:xfrm>
          <a:prstGeom prst="rect">
            <a:avLst/>
          </a:prstGeom>
          <a:solidFill>
            <a:srgbClr val="312A63"/>
          </a:solidFill>
          <a:ln w="12700">
            <a:solidFill>
              <a:srgbClr val="312A63"/>
            </a:solidFill>
            <a:prstDash val="solid"/>
          </a:ln>
        </p:spPr>
      </p:sp>
      <p:sp>
        <p:nvSpPr>
          <p:cNvPr id="7" name="Text 5"/>
          <p:cNvSpPr/>
          <p:nvPr/>
        </p:nvSpPr>
        <p:spPr>
          <a:xfrm>
            <a:off x="65836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65836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pandas, statsmodels, scikit-learn; Jupyter notebook</a:t>
            </a:r>
            <a:endParaRPr lang="en-US" sz="1100" dirty="0"/>
          </a:p>
        </p:txBody>
      </p:sp>
      <p:sp>
        <p:nvSpPr>
          <p:cNvPr id="9" name="Shape 7"/>
          <p:cNvSpPr/>
          <p:nvPr/>
        </p:nvSpPr>
        <p:spPr>
          <a:xfrm>
            <a:off x="306324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3063240" y="1188720"/>
            <a:ext cx="64008" cy="1280160"/>
          </a:xfrm>
          <a:prstGeom prst="rect">
            <a:avLst/>
          </a:prstGeom>
          <a:solidFill>
            <a:srgbClr val="2A9D8F"/>
          </a:solidFill>
          <a:ln w="12700">
            <a:solidFill>
              <a:srgbClr val="2A9D8F"/>
            </a:solidFill>
            <a:prstDash val="solid"/>
          </a:ln>
        </p:spPr>
      </p:sp>
      <p:sp>
        <p:nvSpPr>
          <p:cNvPr id="11" name="Text 9"/>
          <p:cNvSpPr/>
          <p:nvPr/>
        </p:nvSpPr>
        <p:spPr>
          <a:xfrm>
            <a:off x="326440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R</a:t>
            </a:r>
            <a:endParaRPr lang="en-US" sz="1300" dirty="0"/>
          </a:p>
        </p:txBody>
      </p:sp>
      <p:sp>
        <p:nvSpPr>
          <p:cNvPr id="12" name="Text 10"/>
          <p:cNvSpPr/>
          <p:nvPr/>
        </p:nvSpPr>
        <p:spPr>
          <a:xfrm>
            <a:off x="326440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lm, glm, prcomp, kmeans, fixest, ggplot2</a:t>
            </a:r>
            <a:endParaRPr lang="en-US" sz="1100" dirty="0"/>
          </a:p>
        </p:txBody>
      </p:sp>
      <p:sp>
        <p:nvSpPr>
          <p:cNvPr id="13" name="Shape 11"/>
          <p:cNvSpPr/>
          <p:nvPr/>
        </p:nvSpPr>
        <p:spPr>
          <a:xfrm>
            <a:off x="45720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606040"/>
            <a:ext cx="64008" cy="1280160"/>
          </a:xfrm>
          <a:prstGeom prst="rect">
            <a:avLst/>
          </a:prstGeom>
          <a:solidFill>
            <a:srgbClr val="E9A23B"/>
          </a:solidFill>
          <a:ln w="12700">
            <a:solidFill>
              <a:srgbClr val="E9A23B"/>
            </a:solidFill>
            <a:prstDash val="solid"/>
          </a:ln>
        </p:spPr>
      </p:sp>
      <p:sp>
        <p:nvSpPr>
          <p:cNvPr id="15" name="Text 13"/>
          <p:cNvSpPr/>
          <p:nvPr/>
        </p:nvSpPr>
        <p:spPr>
          <a:xfrm>
            <a:off x="65836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Gretl</a:t>
            </a:r>
            <a:endParaRPr lang="en-US" sz="1300" dirty="0"/>
          </a:p>
        </p:txBody>
      </p:sp>
      <p:sp>
        <p:nvSpPr>
          <p:cNvPr id="16" name="Text 14"/>
          <p:cNvSpPr/>
          <p:nvPr/>
        </p:nvSpPr>
        <p:spPr>
          <a:xfrm>
            <a:off x="65836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Free econometrics package: regression, logit, panel, PCA</a:t>
            </a:r>
            <a:endParaRPr lang="en-US" sz="1100" dirty="0"/>
          </a:p>
        </p:txBody>
      </p:sp>
      <p:sp>
        <p:nvSpPr>
          <p:cNvPr id="17" name="Shape 15"/>
          <p:cNvSpPr/>
          <p:nvPr/>
        </p:nvSpPr>
        <p:spPr>
          <a:xfrm>
            <a:off x="306324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3063240" y="2606040"/>
            <a:ext cx="64008" cy="1280160"/>
          </a:xfrm>
          <a:prstGeom prst="rect">
            <a:avLst/>
          </a:prstGeom>
          <a:solidFill>
            <a:srgbClr val="E55A5A"/>
          </a:solidFill>
          <a:ln w="12700">
            <a:solidFill>
              <a:srgbClr val="E55A5A"/>
            </a:solidFill>
            <a:prstDash val="solid"/>
          </a:ln>
        </p:spPr>
      </p:sp>
      <p:sp>
        <p:nvSpPr>
          <p:cNvPr id="19" name="Text 17"/>
          <p:cNvSpPr/>
          <p:nvPr/>
        </p:nvSpPr>
        <p:spPr>
          <a:xfrm>
            <a:off x="326440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Power BI</a:t>
            </a:r>
            <a:endParaRPr lang="en-US" sz="1300" dirty="0"/>
          </a:p>
        </p:txBody>
      </p:sp>
      <p:sp>
        <p:nvSpPr>
          <p:cNvPr id="20" name="Text 18"/>
          <p:cNvSpPr/>
          <p:nvPr/>
        </p:nvSpPr>
        <p:spPr>
          <a:xfrm>
            <a:off x="326440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Dashboards; clustering in scatter charts; Python or R visuals</a:t>
            </a:r>
            <a:endParaRPr lang="en-US" sz="1100" dirty="0"/>
          </a:p>
        </p:txBody>
      </p:sp>
      <p:sp>
        <p:nvSpPr>
          <p:cNvPr id="21" name="Shape 19"/>
          <p:cNvSpPr/>
          <p:nvPr/>
        </p:nvSpPr>
        <p:spPr>
          <a:xfrm>
            <a:off x="5806440" y="1188720"/>
            <a:ext cx="2880360" cy="2697480"/>
          </a:xfrm>
          <a:prstGeom prst="rect">
            <a:avLst/>
          </a:prstGeom>
          <a:solidFill>
            <a:srgbClr val="312A63"/>
          </a:solidFill>
          <a:ln w="12700">
            <a:solidFill>
              <a:srgbClr val="312A63"/>
            </a:solidFill>
            <a:prstDash val="solid"/>
          </a:ln>
        </p:spPr>
      </p:sp>
      <p:pic>
        <p:nvPicPr>
          <p:cNvPr id="22" name="Image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23" name="Text 20"/>
          <p:cNvSpPr/>
          <p:nvPr/>
        </p:nvSpPr>
        <p:spPr>
          <a:xfrm>
            <a:off x="6035040" y="1874520"/>
            <a:ext cx="25603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tools are allowed</a:t>
            </a:r>
            <a:endParaRPr lang="en-US" sz="1400" dirty="0"/>
          </a:p>
        </p:txBody>
      </p:sp>
      <p:sp>
        <p:nvSpPr>
          <p:cNvPr id="24" name="Text 21"/>
          <p:cNvSpPr/>
          <p:nvPr/>
        </p:nvSpPr>
        <p:spPr>
          <a:xfrm>
            <a:off x="6035040" y="2240280"/>
            <a:ext cx="2514600" cy="155448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On two conditions: you declare in every deliverable which tool you used and for what, and you check everything it produces. All figures must come from the data, never from the AI.</a:t>
            </a:r>
            <a:endParaRPr lang="en-US" sz="1100" dirty="0"/>
          </a:p>
        </p:txBody>
      </p:sp>
      <p:sp>
        <p:nvSpPr>
          <p:cNvPr id="25" name="Text 22"/>
          <p:cNvSpPr/>
          <p:nvPr/>
        </p:nvSpPr>
        <p:spPr>
          <a:xfrm>
            <a:off x="457200" y="4069080"/>
            <a:ext cx="8229600" cy="320040"/>
          </a:xfrm>
          <a:prstGeom prst="rect">
            <a:avLst/>
          </a:prstGeom>
          <a:noFill/>
          <a:ln/>
        </p:spPr>
        <p:txBody>
          <a:bodyPr wrap="square" lIns="0" tIns="0" rIns="0" bIns="0" rtlCol="0" anchor="ctr"/>
          <a:lstStyle/>
          <a:p>
            <a:pPr indent="0" marL="0">
              <a:buNone/>
            </a:pPr>
            <a:r>
              <a:rPr lang="en-US" sz="1150" i="1" dirty="0">
                <a:solidFill>
                  <a:srgbClr val="6B6880"/>
                </a:solidFill>
                <a:latin typeface="Calibri" pitchFamily="34" charset="0"/>
                <a:ea typeface="Calibri" pitchFamily="34" charset="-122"/>
                <a:cs typeface="Calibri" pitchFamily="34" charset="-120"/>
              </a:rPr>
              <a:t>The methods module shows every method step by step in the four tools.</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ONE PLACE FOR EVERYTHING</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website is the reference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868680" y="1325880"/>
            <a:ext cx="731520" cy="731520"/>
          </a:xfrm>
          <a:prstGeom prst="ellipse">
            <a:avLst/>
          </a:prstGeom>
          <a:solidFill>
            <a:srgbClr val="F4F3F9"/>
          </a:solidFill>
          <a:ln w="12700">
            <a:solidFill>
              <a:srgbClr val="F4F3F9"/>
            </a:solidFill>
            <a:prstDash val="solid"/>
          </a:ln>
        </p:spPr>
      </p:sp>
      <p:pic>
        <p:nvPicPr>
          <p:cNvPr id="6" name="Image 0" descr="preencoded.png">    </p:cNvPr>
          <p:cNvPicPr>
            <a:picLocks noChangeAspect="1"/>
          </p:cNvPicPr>
          <p:nvPr/>
        </p:nvPicPr>
        <p:blipFill>
          <a:blip r:embed="rId1"/>
          <a:stretch>
            <a:fillRect/>
          </a:stretch>
        </p:blipFill>
        <p:spPr>
          <a:xfrm>
            <a:off x="1051560" y="1508760"/>
            <a:ext cx="365760" cy="365760"/>
          </a:xfrm>
          <a:prstGeom prst="rect">
            <a:avLst/>
          </a:prstGeom>
        </p:spPr>
      </p:pic>
      <p:sp>
        <p:nvSpPr>
          <p:cNvPr id="7" name="Text 4"/>
          <p:cNvSpPr/>
          <p:nvPr/>
        </p:nvSpPr>
        <p:spPr>
          <a:xfrm>
            <a:off x="457200"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Session links</a:t>
            </a:r>
            <a:endParaRPr lang="en-US" sz="1300" dirty="0"/>
          </a:p>
        </p:txBody>
      </p:sp>
      <p:sp>
        <p:nvSpPr>
          <p:cNvPr id="8" name="Text 5"/>
          <p:cNvSpPr/>
          <p:nvPr/>
        </p:nvSpPr>
        <p:spPr>
          <a:xfrm>
            <a:off x="457200"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and the vote on dates and times</a:t>
            </a:r>
            <a:endParaRPr lang="en-US" sz="1050" dirty="0"/>
          </a:p>
        </p:txBody>
      </p:sp>
      <p:sp>
        <p:nvSpPr>
          <p:cNvPr id="9" name="Shape 6"/>
          <p:cNvSpPr/>
          <p:nvPr/>
        </p:nvSpPr>
        <p:spPr>
          <a:xfrm>
            <a:off x="2551176" y="1325880"/>
            <a:ext cx="731520" cy="731520"/>
          </a:xfrm>
          <a:prstGeom prst="ellipse">
            <a:avLst/>
          </a:prstGeom>
          <a:solidFill>
            <a:srgbClr val="F4F3F9"/>
          </a:solidFill>
          <a:ln w="12700">
            <a:solidFill>
              <a:srgbClr val="F4F3F9"/>
            </a:solidFill>
            <a:prstDash val="solid"/>
          </a:ln>
        </p:spPr>
      </p:sp>
      <p:pic>
        <p:nvPicPr>
          <p:cNvPr id="10" name="Image 1" descr="preencoded.png">    </p:cNvPr>
          <p:cNvPicPr>
            <a:picLocks noChangeAspect="1"/>
          </p:cNvPicPr>
          <p:nvPr/>
        </p:nvPicPr>
        <p:blipFill>
          <a:blip r:embed="rId2"/>
          <a:stretch>
            <a:fillRect/>
          </a:stretch>
        </p:blipFill>
        <p:spPr>
          <a:xfrm>
            <a:off x="2734056" y="1508760"/>
            <a:ext cx="365760" cy="365760"/>
          </a:xfrm>
          <a:prstGeom prst="rect">
            <a:avLst/>
          </a:prstGeom>
        </p:spPr>
      </p:pic>
      <p:sp>
        <p:nvSpPr>
          <p:cNvPr id="11" name="Text 7"/>
          <p:cNvSpPr/>
          <p:nvPr/>
        </p:nvSpPr>
        <p:spPr>
          <a:xfrm>
            <a:off x="2139696"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Submissions</a:t>
            </a:r>
            <a:endParaRPr lang="en-US" sz="1300" dirty="0"/>
          </a:p>
        </p:txBody>
      </p:sp>
      <p:sp>
        <p:nvSpPr>
          <p:cNvPr id="12" name="Text 8"/>
          <p:cNvSpPr/>
          <p:nvPr/>
        </p:nvSpPr>
        <p:spPr>
          <a:xfrm>
            <a:off x="2139696"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Submit button for each deliverable</a:t>
            </a:r>
            <a:endParaRPr lang="en-US" sz="1050" dirty="0"/>
          </a:p>
        </p:txBody>
      </p:sp>
      <p:sp>
        <p:nvSpPr>
          <p:cNvPr id="13" name="Shape 9"/>
          <p:cNvSpPr/>
          <p:nvPr/>
        </p:nvSpPr>
        <p:spPr>
          <a:xfrm>
            <a:off x="4233672" y="1325880"/>
            <a:ext cx="731520" cy="731520"/>
          </a:xfrm>
          <a:prstGeom prst="ellipse">
            <a:avLst/>
          </a:prstGeom>
          <a:solidFill>
            <a:srgbClr val="F4F3F9"/>
          </a:solidFill>
          <a:ln w="12700">
            <a:solidFill>
              <a:srgbClr val="F4F3F9"/>
            </a:solidFill>
            <a:prstDash val="solid"/>
          </a:ln>
        </p:spPr>
      </p:sp>
      <p:pic>
        <p:nvPicPr>
          <p:cNvPr id="14" name="Image 2" descr="preencoded.png">    </p:cNvPr>
          <p:cNvPicPr>
            <a:picLocks noChangeAspect="1"/>
          </p:cNvPicPr>
          <p:nvPr/>
        </p:nvPicPr>
        <p:blipFill>
          <a:blip r:embed="rId3"/>
          <a:stretch>
            <a:fillRect/>
          </a:stretch>
        </p:blipFill>
        <p:spPr>
          <a:xfrm>
            <a:off x="4416552" y="1508760"/>
            <a:ext cx="365760" cy="365760"/>
          </a:xfrm>
          <a:prstGeom prst="rect">
            <a:avLst/>
          </a:prstGeom>
        </p:spPr>
      </p:pic>
      <p:sp>
        <p:nvSpPr>
          <p:cNvPr id="15" name="Text 10"/>
          <p:cNvSpPr/>
          <p:nvPr/>
        </p:nvSpPr>
        <p:spPr>
          <a:xfrm>
            <a:off x="3822192"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Data</a:t>
            </a:r>
            <a:endParaRPr lang="en-US" sz="1300" dirty="0"/>
          </a:p>
        </p:txBody>
      </p:sp>
      <p:sp>
        <p:nvSpPr>
          <p:cNvPr id="16" name="Text 11"/>
          <p:cNvSpPr/>
          <p:nvPr/>
        </p:nvSpPr>
        <p:spPr>
          <a:xfrm>
            <a:off x="3822192"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CSV files, indicators and coverage</a:t>
            </a:r>
            <a:endParaRPr lang="en-US" sz="1050" dirty="0"/>
          </a:p>
        </p:txBody>
      </p:sp>
      <p:sp>
        <p:nvSpPr>
          <p:cNvPr id="17" name="Shape 12"/>
          <p:cNvSpPr/>
          <p:nvPr/>
        </p:nvSpPr>
        <p:spPr>
          <a:xfrm>
            <a:off x="5916168" y="1325880"/>
            <a:ext cx="731520" cy="731520"/>
          </a:xfrm>
          <a:prstGeom prst="ellipse">
            <a:avLst/>
          </a:prstGeom>
          <a:solidFill>
            <a:srgbClr val="F4F3F9"/>
          </a:solidFill>
          <a:ln w="12700">
            <a:solidFill>
              <a:srgbClr val="F4F3F9"/>
            </a:solidFill>
            <a:prstDash val="solid"/>
          </a:ln>
        </p:spPr>
      </p:sp>
      <p:pic>
        <p:nvPicPr>
          <p:cNvPr id="18" name="Image 3" descr="preencoded.png">    </p:cNvPr>
          <p:cNvPicPr>
            <a:picLocks noChangeAspect="1"/>
          </p:cNvPicPr>
          <p:nvPr/>
        </p:nvPicPr>
        <p:blipFill>
          <a:blip r:embed="rId4"/>
          <a:stretch>
            <a:fillRect/>
          </a:stretch>
        </p:blipFill>
        <p:spPr>
          <a:xfrm>
            <a:off x="6099048" y="1508760"/>
            <a:ext cx="365760" cy="365760"/>
          </a:xfrm>
          <a:prstGeom prst="rect">
            <a:avLst/>
          </a:prstGeom>
        </p:spPr>
      </p:pic>
      <p:sp>
        <p:nvSpPr>
          <p:cNvPr id="19" name="Text 13"/>
          <p:cNvSpPr/>
          <p:nvPr/>
        </p:nvSpPr>
        <p:spPr>
          <a:xfrm>
            <a:off x="5504688"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Materials</a:t>
            </a:r>
            <a:endParaRPr lang="en-US" sz="1300" dirty="0"/>
          </a:p>
        </p:txBody>
      </p:sp>
      <p:sp>
        <p:nvSpPr>
          <p:cNvPr id="20" name="Text 14"/>
          <p:cNvSpPr/>
          <p:nvPr/>
        </p:nvSpPr>
        <p:spPr>
          <a:xfrm>
            <a:off x="5504688"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Slides, methods module and code</a:t>
            </a:r>
            <a:endParaRPr lang="en-US" sz="1050" dirty="0"/>
          </a:p>
        </p:txBody>
      </p:sp>
      <p:sp>
        <p:nvSpPr>
          <p:cNvPr id="21" name="Shape 15"/>
          <p:cNvSpPr/>
          <p:nvPr/>
        </p:nvSpPr>
        <p:spPr>
          <a:xfrm>
            <a:off x="7598664" y="1325880"/>
            <a:ext cx="731520" cy="731520"/>
          </a:xfrm>
          <a:prstGeom prst="ellipse">
            <a:avLst/>
          </a:prstGeom>
          <a:solidFill>
            <a:srgbClr val="F4F3F9"/>
          </a:solidFill>
          <a:ln w="12700">
            <a:solidFill>
              <a:srgbClr val="F4F3F9"/>
            </a:solidFill>
            <a:prstDash val="solid"/>
          </a:ln>
        </p:spPr>
      </p:sp>
      <p:pic>
        <p:nvPicPr>
          <p:cNvPr id="22" name="Image 4" descr="preencoded.png">    </p:cNvPr>
          <p:cNvPicPr>
            <a:picLocks noChangeAspect="1"/>
          </p:cNvPicPr>
          <p:nvPr/>
        </p:nvPicPr>
        <p:blipFill>
          <a:blip r:embed="rId5"/>
          <a:stretch>
            <a:fillRect/>
          </a:stretch>
        </p:blipFill>
        <p:spPr>
          <a:xfrm>
            <a:off x="7781544" y="1508760"/>
            <a:ext cx="365760" cy="365760"/>
          </a:xfrm>
          <a:prstGeom prst="rect">
            <a:avLst/>
          </a:prstGeom>
        </p:spPr>
      </p:pic>
      <p:sp>
        <p:nvSpPr>
          <p:cNvPr id="23" name="Text 16"/>
          <p:cNvSpPr/>
          <p:nvPr/>
        </p:nvSpPr>
        <p:spPr>
          <a:xfrm>
            <a:off x="7187184"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Guide</a:t>
            </a:r>
            <a:endParaRPr lang="en-US" sz="1300" dirty="0"/>
          </a:p>
        </p:txBody>
      </p:sp>
      <p:sp>
        <p:nvSpPr>
          <p:cNvPr id="24" name="Text 17"/>
          <p:cNvSpPr/>
          <p:nvPr/>
        </p:nvSpPr>
        <p:spPr>
          <a:xfrm>
            <a:off x="7187184"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Rules, templates and contacts</a:t>
            </a:r>
            <a:endParaRPr lang="en-US" sz="1050" dirty="0"/>
          </a:p>
        </p:txBody>
      </p:sp>
      <p:sp>
        <p:nvSpPr>
          <p:cNvPr id="25" name="Text 18"/>
          <p:cNvSpPr/>
          <p:nvPr/>
        </p:nvSpPr>
        <p:spPr>
          <a:xfrm>
            <a:off x="457200" y="3566160"/>
            <a:ext cx="8229600" cy="457200"/>
          </a:xfrm>
          <a:prstGeom prst="rect">
            <a:avLst/>
          </a:prstGeom>
          <a:noFill/>
          <a:ln/>
        </p:spPr>
        <p:txBody>
          <a:bodyPr wrap="square" lIns="0" tIns="0" rIns="0" bIns="0" rtlCol="0" anchor="ctr"/>
          <a:lstStyle/>
          <a:p>
            <a:pPr algn="ctr" indent="0" marL="0">
              <a:buNone/>
            </a:pPr>
            <a:r>
              <a:rPr lang="en-US" sz="1500" i="1" dirty="0">
                <a:solidFill>
                  <a:srgbClr val="E55A5A"/>
                </a:solidFill>
                <a:latin typeface="Georgia" pitchFamily="34" charset="0"/>
                <a:ea typeface="Georgia" pitchFamily="34" charset="-122"/>
                <a:cs typeface="Georgia" pitchFamily="34" charset="-120"/>
              </a:rPr>
              <a:t>If something in a slide or a message differs from the website, the website is right.</a:t>
            </a:r>
            <a:endParaRPr lang="en-US" sz="15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WHY IT IS WORTH 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Extra points and a certificate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4937760" cy="3200400"/>
          </a:xfrm>
          <a:prstGeom prst="rect">
            <a:avLst/>
          </a:prstGeom>
          <a:solidFill>
            <a:srgbClr val="312A63"/>
          </a:solidFill>
          <a:ln w="12700">
            <a:solidFill>
              <a:srgbClr val="312A63"/>
            </a:solidFill>
            <a:prstDash val="solid"/>
          </a:ln>
        </p:spPr>
      </p:sp>
      <p:sp>
        <p:nvSpPr>
          <p:cNvPr id="6" name="Text 4"/>
          <p:cNvSpPr/>
          <p:nvPr/>
        </p:nvSpPr>
        <p:spPr>
          <a:xfrm>
            <a:off x="73152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a:t>
            </a:r>
            <a:endParaRPr lang="en-US" sz="4800" dirty="0"/>
          </a:p>
        </p:txBody>
      </p:sp>
      <p:sp>
        <p:nvSpPr>
          <p:cNvPr id="7" name="Text 5"/>
          <p:cNvSpPr/>
          <p:nvPr/>
        </p:nvSpPr>
        <p:spPr>
          <a:xfrm>
            <a:off x="73152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a:t>
            </a:r>
            <a:endParaRPr lang="en-US" sz="1500" dirty="0"/>
          </a:p>
        </p:txBody>
      </p:sp>
      <p:sp>
        <p:nvSpPr>
          <p:cNvPr id="8" name="Text 6"/>
          <p:cNvSpPr/>
          <p:nvPr/>
        </p:nvSpPr>
        <p:spPr>
          <a:xfrm>
            <a:off x="73152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University of Seville</a:t>
            </a:r>
            <a:endParaRPr lang="en-US" sz="1100" dirty="0"/>
          </a:p>
        </p:txBody>
      </p:sp>
      <p:sp>
        <p:nvSpPr>
          <p:cNvPr id="9" name="Text 7"/>
          <p:cNvSpPr/>
          <p:nvPr/>
        </p:nvSpPr>
        <p:spPr>
          <a:xfrm>
            <a:off x="310896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+20</a:t>
            </a:r>
            <a:endParaRPr lang="en-US" sz="4800" dirty="0"/>
          </a:p>
        </p:txBody>
      </p:sp>
      <p:sp>
        <p:nvSpPr>
          <p:cNvPr id="10" name="Text 8"/>
          <p:cNvSpPr/>
          <p:nvPr/>
        </p:nvSpPr>
        <p:spPr>
          <a:xfrm>
            <a:off x="310896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100</a:t>
            </a:r>
            <a:endParaRPr lang="en-US" sz="1500" dirty="0"/>
          </a:p>
        </p:txBody>
      </p:sp>
      <p:sp>
        <p:nvSpPr>
          <p:cNvPr id="11" name="Text 9"/>
          <p:cNvSpPr/>
          <p:nvPr/>
        </p:nvSpPr>
        <p:spPr>
          <a:xfrm>
            <a:off x="310896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Technical University of Košice · University of Montenegro</a:t>
            </a:r>
            <a:endParaRPr lang="en-US" sz="1100" dirty="0"/>
          </a:p>
        </p:txBody>
      </p:sp>
      <p:sp>
        <p:nvSpPr>
          <p:cNvPr id="12" name="Text 10"/>
          <p:cNvSpPr/>
          <p:nvPr/>
        </p:nvSpPr>
        <p:spPr>
          <a:xfrm>
            <a:off x="731520" y="3520440"/>
            <a:ext cx="448056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Extra points on your course grade for students who complete the final presentation.</a:t>
            </a:r>
            <a:endParaRPr lang="en-US" sz="1150" dirty="0"/>
          </a:p>
        </p:txBody>
      </p:sp>
      <p:sp>
        <p:nvSpPr>
          <p:cNvPr id="13" name="Shape 11"/>
          <p:cNvSpPr/>
          <p:nvPr/>
        </p:nvSpPr>
        <p:spPr>
          <a:xfrm>
            <a:off x="5577840" y="1188720"/>
            <a:ext cx="3108960" cy="3200400"/>
          </a:xfrm>
          <a:prstGeom prst="rect">
            <a:avLst/>
          </a:prstGeom>
          <a:solidFill>
            <a:srgbClr val="FDEEEE"/>
          </a:solidFill>
          <a:ln w="12700">
            <a:solidFill>
              <a:srgbClr val="FDEEEE"/>
            </a:solidFill>
            <a:prstDash val="solid"/>
          </a:ln>
        </p:spPr>
      </p:sp>
      <p:sp>
        <p:nvSpPr>
          <p:cNvPr id="14" name="Shape 12"/>
          <p:cNvSpPr/>
          <p:nvPr/>
        </p:nvSpPr>
        <p:spPr>
          <a:xfrm>
            <a:off x="5806440" y="1417320"/>
            <a:ext cx="731520" cy="731520"/>
          </a:xfrm>
          <a:prstGeom prst="ellipse">
            <a:avLst/>
          </a:prstGeom>
          <a:solidFill>
            <a:srgbClr val="E55A5A"/>
          </a:solidFill>
          <a:ln w="12700">
            <a:solidFill>
              <a:srgbClr val="E55A5A"/>
            </a:solidFill>
            <a:prstDash val="solid"/>
          </a:ln>
        </p:spPr>
      </p:sp>
      <p:pic>
        <p:nvPicPr>
          <p:cNvPr id="15" name="Image 0" descr="preencoded.png">    </p:cNvPr>
          <p:cNvPicPr>
            <a:picLocks noChangeAspect="1"/>
          </p:cNvPicPr>
          <p:nvPr/>
        </p:nvPicPr>
        <p:blipFill>
          <a:blip r:embed="rId1"/>
          <a:stretch>
            <a:fillRect/>
          </a:stretch>
        </p:blipFill>
        <p:spPr>
          <a:xfrm>
            <a:off x="5989320" y="1600200"/>
            <a:ext cx="365760" cy="365760"/>
          </a:xfrm>
          <a:prstGeom prst="rect">
            <a:avLst/>
          </a:prstGeom>
        </p:spPr>
      </p:pic>
      <p:sp>
        <p:nvSpPr>
          <p:cNvPr id="16" name="Text 13"/>
          <p:cNvSpPr/>
          <p:nvPr/>
        </p:nvSpPr>
        <p:spPr>
          <a:xfrm>
            <a:off x="5806440" y="2286000"/>
            <a:ext cx="2743200" cy="365760"/>
          </a:xfrm>
          <a:prstGeom prst="rect">
            <a:avLst/>
          </a:prstGeom>
          <a:noFill/>
          <a:ln/>
        </p:spPr>
        <p:txBody>
          <a:bodyPr wrap="square" lIns="0" tIns="0" rIns="0" bIns="0" rtlCol="0" anchor="ctr"/>
          <a:lstStyle/>
          <a:p>
            <a:pPr indent="0" marL="0">
              <a:buNone/>
            </a:pPr>
            <a:r>
              <a:rPr lang="en-US" sz="1500" b="1" dirty="0">
                <a:solidFill>
                  <a:srgbClr val="E55A5A"/>
                </a:solidFill>
                <a:latin typeface="Calibri" pitchFamily="34" charset="0"/>
                <a:ea typeface="Calibri" pitchFamily="34" charset="-122"/>
                <a:cs typeface="Calibri" pitchFamily="34" charset="-120"/>
              </a:rPr>
              <a:t>Certificate</a:t>
            </a:r>
            <a:endParaRPr lang="en-US" sz="1500" dirty="0"/>
          </a:p>
        </p:txBody>
      </p:sp>
      <p:sp>
        <p:nvSpPr>
          <p:cNvPr id="17" name="Text 14"/>
          <p:cNvSpPr/>
          <p:nvPr/>
        </p:nvSpPr>
        <p:spPr>
          <a:xfrm>
            <a:off x="5806440" y="2697480"/>
            <a:ext cx="2697480" cy="146304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BREAK-OUT ROOMS · 25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first team meeting</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8016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23444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Introduce yourself: name, university, what you study, and your surprising fact about your country.</a:t>
            </a:r>
            <a:endParaRPr lang="en-US" sz="1250" dirty="0"/>
          </a:p>
        </p:txBody>
      </p:sp>
      <p:sp>
        <p:nvSpPr>
          <p:cNvPr id="8" name="Shape 6"/>
          <p:cNvSpPr/>
          <p:nvPr/>
        </p:nvSpPr>
        <p:spPr>
          <a:xfrm>
            <a:off x="457200" y="2057400"/>
            <a:ext cx="384048" cy="384048"/>
          </a:xfrm>
          <a:prstGeom prst="ellipse">
            <a:avLst/>
          </a:prstGeom>
          <a:solidFill>
            <a:srgbClr val="E55A5A"/>
          </a:solidFill>
          <a:ln w="12700">
            <a:solidFill>
              <a:srgbClr val="E55A5A"/>
            </a:solidFill>
            <a:prstDash val="solid"/>
          </a:ln>
        </p:spPr>
      </p:sp>
      <p:sp>
        <p:nvSpPr>
          <p:cNvPr id="9" name="Text 7"/>
          <p:cNvSpPr/>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201168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Choose one communication channel for the team (and agree to answer within 48 hours on working days).</a:t>
            </a:r>
            <a:endParaRPr lang="en-US" sz="1250" dirty="0"/>
          </a:p>
        </p:txBody>
      </p:sp>
      <p:sp>
        <p:nvSpPr>
          <p:cNvPr id="11" name="Shape 9"/>
          <p:cNvSpPr/>
          <p:nvPr/>
        </p:nvSpPr>
        <p:spPr>
          <a:xfrm>
            <a:off x="457200" y="283464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834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78892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Fix a weekly meeting time. All three countries are in the same time zone (CET).</a:t>
            </a:r>
            <a:endParaRPr lang="en-US" sz="1250" dirty="0"/>
          </a:p>
        </p:txBody>
      </p:sp>
      <p:sp>
        <p:nvSpPr>
          <p:cNvPr id="14" name="Shape 12"/>
          <p:cNvSpPr/>
          <p:nvPr/>
        </p:nvSpPr>
        <p:spPr>
          <a:xfrm>
            <a:off x="457200" y="36118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611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56616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Exchange first ideas for your question: look at the example projects on the website.</a:t>
            </a:r>
            <a:endParaRPr lang="en-US" sz="1250" dirty="0"/>
          </a:p>
        </p:txBody>
      </p:sp>
      <p:sp>
        <p:nvSpPr>
          <p:cNvPr id="17" name="Shape 15"/>
          <p:cNvSpPr/>
          <p:nvPr/>
        </p:nvSpPr>
        <p:spPr>
          <a:xfrm>
            <a:off x="6309360" y="1234440"/>
            <a:ext cx="2377440" cy="3017520"/>
          </a:xfrm>
          <a:prstGeom prst="rect">
            <a:avLst/>
          </a:prstGeom>
          <a:solidFill>
            <a:srgbClr val="F4F3F9"/>
          </a:solidFill>
          <a:ln w="12700">
            <a:solidFill>
              <a:srgbClr val="F4F3F9"/>
            </a:solidFill>
            <a:prstDash val="solid"/>
          </a:ln>
        </p:spPr>
      </p:sp>
      <p:pic>
        <p:nvPicPr>
          <p:cNvPr id="18" name="Image 0" descr="preencoded.png">    </p:cNvPr>
          <p:cNvPicPr>
            <a:picLocks noChangeAspect="1"/>
          </p:cNvPicPr>
          <p:nvPr/>
        </p:nvPicPr>
        <p:blipFill>
          <a:blip r:embed="rId1"/>
          <a:stretch>
            <a:fillRect/>
          </a:stretch>
        </p:blipFill>
        <p:spPr>
          <a:xfrm>
            <a:off x="7178040" y="1463040"/>
            <a:ext cx="640080" cy="640080"/>
          </a:xfrm>
          <a:prstGeom prst="rect">
            <a:avLst/>
          </a:prstGeom>
        </p:spPr>
      </p:pic>
      <p:sp>
        <p:nvSpPr>
          <p:cNvPr id="19" name="Text 16"/>
          <p:cNvSpPr/>
          <p:nvPr/>
        </p:nvSpPr>
        <p:spPr>
          <a:xfrm>
            <a:off x="6309360" y="2194560"/>
            <a:ext cx="2377440" cy="822960"/>
          </a:xfrm>
          <a:prstGeom prst="rect">
            <a:avLst/>
          </a:prstGeom>
          <a:noFill/>
          <a:ln/>
        </p:spPr>
        <p:txBody>
          <a:bodyPr wrap="square" lIns="0" tIns="0" rIns="0" bIns="0" rtlCol="0" anchor="ctr"/>
          <a:lstStyle/>
          <a:p>
            <a:pPr algn="ctr" indent="0" marL="0">
              <a:buNone/>
            </a:pPr>
            <a:r>
              <a:rPr lang="en-US" sz="5400" b="1" dirty="0">
                <a:solidFill>
                  <a:srgbClr val="312A63"/>
                </a:solidFill>
                <a:latin typeface="Georgia" pitchFamily="34" charset="0"/>
                <a:ea typeface="Georgia" pitchFamily="34" charset="-122"/>
                <a:cs typeface="Georgia" pitchFamily="34" charset="-120"/>
              </a:rPr>
              <a:t>25</a:t>
            </a:r>
            <a:endParaRPr lang="en-US" sz="5400" dirty="0"/>
          </a:p>
        </p:txBody>
      </p:sp>
      <p:sp>
        <p:nvSpPr>
          <p:cNvPr id="20" name="Text 17"/>
          <p:cNvSpPr/>
          <p:nvPr/>
        </p:nvSpPr>
        <p:spPr>
          <a:xfrm>
            <a:off x="6492240" y="3063240"/>
            <a:ext cx="2011680" cy="548640"/>
          </a:xfrm>
          <a:prstGeom prst="rect">
            <a:avLst/>
          </a:prstGeom>
          <a:noFill/>
          <a:ln/>
        </p:spPr>
        <p:txBody>
          <a:bodyPr wrap="square" lIns="0" tIns="0" rIns="0" bIns="0" rtlCol="0" anchor="ctr"/>
          <a:lstStyle/>
          <a:p>
            <a:pPr algn="ctr" indent="0" marL="0">
              <a:buNone/>
            </a:pPr>
            <a:r>
              <a:rPr lang="en-US" sz="1150" dirty="0">
                <a:solidFill>
                  <a:srgbClr val="6B6880"/>
                </a:solidFill>
                <a:latin typeface="Calibri" pitchFamily="34" charset="0"/>
                <a:ea typeface="Calibri" pitchFamily="34" charset="-122"/>
                <a:cs typeface="Calibri" pitchFamily="34" charset="-120"/>
              </a:rPr>
              <a:t>minutes, then back to the main room</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BEFORE NEXT WEEK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checklist for week 2</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92608" cy="292608"/>
          </a:xfrm>
          <a:prstGeom prst="rect">
            <a:avLst/>
          </a:prstGeom>
          <a:solidFill>
            <a:srgbClr val="FFFFFF"/>
          </a:solidFill>
          <a:ln w="19050">
            <a:solidFill>
              <a:srgbClr val="312A63"/>
            </a:solidFill>
            <a:prstDash val="solid"/>
          </a:ln>
        </p:spPr>
      </p:sp>
      <p:sp>
        <p:nvSpPr>
          <p:cNvPr id="6" name="Text 4"/>
          <p:cNvSpPr/>
          <p:nvPr/>
        </p:nvSpPr>
        <p:spPr>
          <a:xfrm>
            <a:off x="914400" y="1188720"/>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Read the student guide and the schedule on the website.</a:t>
            </a:r>
            <a:endParaRPr lang="en-US" sz="1300" dirty="0"/>
          </a:p>
        </p:txBody>
      </p:sp>
      <p:sp>
        <p:nvSpPr>
          <p:cNvPr id="7" name="Shape 5"/>
          <p:cNvSpPr/>
          <p:nvPr/>
        </p:nvSpPr>
        <p:spPr>
          <a:xfrm>
            <a:off x="457200" y="1856232"/>
            <a:ext cx="292608" cy="292608"/>
          </a:xfrm>
          <a:prstGeom prst="rect">
            <a:avLst/>
          </a:prstGeom>
          <a:solidFill>
            <a:srgbClr val="FFFFFF"/>
          </a:solidFill>
          <a:ln w="19050">
            <a:solidFill>
              <a:srgbClr val="312A63"/>
            </a:solidFill>
            <a:prstDash val="solid"/>
          </a:ln>
        </p:spPr>
      </p:sp>
      <p:sp>
        <p:nvSpPr>
          <p:cNvPr id="8" name="Text 6"/>
          <p:cNvSpPr/>
          <p:nvPr/>
        </p:nvSpPr>
        <p:spPr>
          <a:xfrm>
            <a:off x="914400" y="1810512"/>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Hold your first full team meeting and write your team charter.</a:t>
            </a:r>
            <a:endParaRPr lang="en-US" sz="1300" dirty="0"/>
          </a:p>
        </p:txBody>
      </p:sp>
      <p:sp>
        <p:nvSpPr>
          <p:cNvPr id="9" name="Shape 7"/>
          <p:cNvSpPr/>
          <p:nvPr/>
        </p:nvSpPr>
        <p:spPr>
          <a:xfrm>
            <a:off x="457200" y="2478024"/>
            <a:ext cx="292608" cy="292608"/>
          </a:xfrm>
          <a:prstGeom prst="rect">
            <a:avLst/>
          </a:prstGeom>
          <a:solidFill>
            <a:srgbClr val="FFFFFF"/>
          </a:solidFill>
          <a:ln w="19050">
            <a:solidFill>
              <a:srgbClr val="312A63"/>
            </a:solidFill>
            <a:prstDash val="solid"/>
          </a:ln>
        </p:spPr>
      </p:sp>
      <p:sp>
        <p:nvSpPr>
          <p:cNvPr id="10" name="Text 8"/>
          <p:cNvSpPr/>
          <p:nvPr/>
        </p:nvSpPr>
        <p:spPr>
          <a:xfrm>
            <a:off x="914400" y="2432304"/>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Choose your question and 3–6 indicators from the COIL dataset.</a:t>
            </a:r>
            <a:endParaRPr lang="en-US" sz="1300" dirty="0"/>
          </a:p>
        </p:txBody>
      </p:sp>
      <p:sp>
        <p:nvSpPr>
          <p:cNvPr id="11" name="Shape 9"/>
          <p:cNvSpPr/>
          <p:nvPr/>
        </p:nvSpPr>
        <p:spPr>
          <a:xfrm>
            <a:off x="457200" y="3099816"/>
            <a:ext cx="292608" cy="292608"/>
          </a:xfrm>
          <a:prstGeom prst="rect">
            <a:avLst/>
          </a:prstGeom>
          <a:solidFill>
            <a:srgbClr val="FFFFFF"/>
          </a:solidFill>
          <a:ln w="19050">
            <a:solidFill>
              <a:srgbClr val="312A63"/>
            </a:solidFill>
            <a:prstDash val="solid"/>
          </a:ln>
        </p:spPr>
      </p:sp>
      <p:sp>
        <p:nvSpPr>
          <p:cNvPr id="12" name="Text 10"/>
          <p:cNvSpPr/>
          <p:nvPr/>
        </p:nvSpPr>
        <p:spPr>
          <a:xfrm>
            <a:off x="914400" y="3054096"/>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Submit deliverable 1 on the website by Sunday 25 October, 23:59 CET.</a:t>
            </a:r>
            <a:endParaRPr lang="en-US" sz="1300" dirty="0"/>
          </a:p>
        </p:txBody>
      </p:sp>
      <p:sp>
        <p:nvSpPr>
          <p:cNvPr id="13" name="Shape 11"/>
          <p:cNvSpPr/>
          <p:nvPr/>
        </p:nvSpPr>
        <p:spPr>
          <a:xfrm>
            <a:off x="457200" y="3721608"/>
            <a:ext cx="292608" cy="292608"/>
          </a:xfrm>
          <a:prstGeom prst="rect">
            <a:avLst/>
          </a:prstGeom>
          <a:solidFill>
            <a:srgbClr val="FFFFFF"/>
          </a:solidFill>
          <a:ln w="19050">
            <a:solidFill>
              <a:srgbClr val="312A63"/>
            </a:solidFill>
            <a:prstDash val="solid"/>
          </a:ln>
        </p:spPr>
      </p:sp>
      <p:sp>
        <p:nvSpPr>
          <p:cNvPr id="14" name="Text 12"/>
          <p:cNvSpPr/>
          <p:nvPr/>
        </p:nvSpPr>
        <p:spPr>
          <a:xfrm>
            <a:off x="914400" y="3675888"/>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Next joint session: Data workshop, week 3. Vote for the date and time on the website.</a:t>
            </a:r>
            <a:endParaRPr lang="en-US" sz="1300" dirty="0"/>
          </a:p>
        </p:txBody>
      </p:sp>
      <p:sp>
        <p:nvSpPr>
          <p:cNvPr id="15" name="Text 13"/>
          <p:cNvSpPr/>
          <p:nvPr/>
        </p:nvSpPr>
        <p:spPr>
          <a:xfrm>
            <a:off x="457200" y="4343400"/>
            <a:ext cx="8229600" cy="365760"/>
          </a:xfrm>
          <a:prstGeom prst="rect">
            <a:avLst/>
          </a:prstGeom>
          <a:noFill/>
          <a:ln/>
        </p:spPr>
        <p:txBody>
          <a:bodyPr wrap="square" lIns="0" tIns="0" rIns="0" bIns="0" rtlCol="0" anchor="ctr"/>
          <a:lstStyle/>
          <a:p>
            <a:pPr indent="0" marL="0">
              <a:buNone/>
            </a:pPr>
            <a:r>
              <a:rPr lang="en-US" sz="1800" b="1" dirty="0">
                <a:solidFill>
                  <a:srgbClr val="E55A5A"/>
                </a:solidFill>
                <a:latin typeface="Georgia" pitchFamily="34" charset="0"/>
                <a:ea typeface="Georgia" pitchFamily="34" charset="-122"/>
                <a:cs typeface="Georgia" pitchFamily="34" charset="-120"/>
              </a:rPr>
              <a:t>Questions?</a:t>
            </a:r>
            <a:endParaRPr lang="en-US" sz="18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Kick-off</dc:title>
  <dc:subject>PptxGenJS Presentation</dc:subject>
  <dc:creator>Ulysseus COIL teaching team</dc:creator>
  <cp:lastModifiedBy>Ulysseus COIL teaching team</cp:lastModifiedBy>
  <cp:revision>1</cp:revision>
  <dcterms:created xsi:type="dcterms:W3CDTF">2026-10-19T10:03:06Z</dcterms:created>
  <dcterms:modified xsi:type="dcterms:W3CDTF">2026-10-19T10:03:06Z</dcterms:modified>
</cp:coreProperties>
</file>