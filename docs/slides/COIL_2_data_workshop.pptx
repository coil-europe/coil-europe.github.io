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-1463040"/>
            <a:ext cx="4572000" cy="45720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23760" y="2011680"/>
            <a:ext cx="3108960" cy="3108960"/>
          </a:xfrm>
          <a:prstGeom prst="ellipse">
            <a:avLst/>
          </a:prstGeom>
          <a:solidFill>
            <a:srgbClr val="E55A5A">
              <a:alpha val="15000"/>
            </a:srgbClr>
          </a:solidFill>
          <a:ln w="12700">
            <a:solidFill>
              <a:srgbClr val="E55A5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SESSION · WEEK 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workshop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Europe with Data. Be able to load and document the COIL data in your tool (Python, R, Gretl or Power BI) before the analysis starts.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· 2 Nov – 8 Nov 2026 · 45 minutes · Microsoft Teams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886200"/>
            <a:ext cx="5062347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069080"/>
            <a:ext cx="1203579" cy="41148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39" y="4000500"/>
            <a:ext cx="603504" cy="548640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8723" y="4000500"/>
            <a:ext cx="994410" cy="548640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4613" y="4000500"/>
            <a:ext cx="569214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· 45 MINUTES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do today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Data workshop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77824" cy="502920"/>
          </a:xfrm>
          <a:prstGeom prst="rect">
            <a:avLst/>
          </a:prstGeom>
          <a:solidFill>
            <a:srgbClr val="312A63"/>
          </a:solidFill>
          <a:ln w="12700">
            <a:solidFill>
              <a:srgbClr val="312A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2588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1325880"/>
            <a:ext cx="3621024" cy="502920"/>
          </a:xfrm>
          <a:prstGeom prst="rect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1325880"/>
            <a:ext cx="3621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1325880"/>
            <a:ext cx="877824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325880"/>
            <a:ext cx="8778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0" y="1325880"/>
            <a:ext cx="2706624" cy="502920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1325880"/>
            <a:ext cx="2706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7406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12A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dataset: indicators, sources, coverage and gaps (especially Montenegro).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55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demo, about 5 minutes per tool: loading the data, selecting countries and indicators and a first chart in Python, R, Gretl and Power BI.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to write the data dictionary and handle missing values.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9A2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Questions from the teams.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row per country and year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Data workshop</a:t>
            </a:r>
            <a:endParaRPr lang="en-US" sz="8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1280160"/>
                <a:gridCol w="640080"/>
                <a:gridCol w="1828800"/>
                <a:gridCol w="201168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SL_UEM_1524_ZS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NY_GDP_PCAP_PP_KD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IT_NET_USER_ZS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A63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46733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47323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Slovakia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38649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Slovakia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39502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Montenegro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25583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Montenegro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27243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337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 = one year, many countries. Panel = many countries followed over many years. Codes are World Bank / IMF codes; in this file the dots are replaced by underscores, so the same names work in Python, R, Gretl and Power BI.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analysis, drop the row "EUU" (EU aggregate): it is not a country.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SECTION OF THE WEBSITE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files with the same data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Data workshop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060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64008" cy="2194560"/>
          </a:xfrm>
          <a:prstGeom prst="rect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441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coil_indicators_gretl.csv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8368" y="1691640"/>
            <a:ext cx="22860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country and year; codes with underscores. Use it in Gretl, Python and R (all the code in the methods module uses this file).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1234440"/>
            <a:ext cx="26060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234440"/>
            <a:ext cx="64008" cy="2194560"/>
          </a:xfrm>
          <a:prstGeom prst="rect">
            <a:avLst/>
          </a:prstGeom>
          <a:solidFill>
            <a:srgbClr val="312A63"/>
          </a:solidFill>
          <a:ln w="12700">
            <a:solidFill>
              <a:srgbClr val="312A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13441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coil_indicators_wide.csv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47288" y="1691640"/>
            <a:ext cx="22860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country and year; original codes with dots. Easiest for Excel and Power BI.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35040" y="1234440"/>
            <a:ext cx="26060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234440"/>
            <a:ext cx="64008" cy="219456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36208" y="13441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coil_indicators_long.csv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36208" y="1691640"/>
            <a:ext cx="22860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country, year and indicator, with unit and source in every row. Handy for the data dictionary.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3703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section also shows the coverage of every indicator by country, and the list of indicators with their units.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INDICATORS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in the dataset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Data workshop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667512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Indicators (unit)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A63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Labour market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Unemployment, total (% of labour force (modelled ILO estimate)) · Unemployment, youth (15-24) (% of labour force aged 15-24) · Female labour force participation (% of female population 15+)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and growth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 per capita, PPP (constant 2021 international $) · GDP growth (annual %) · Inflation, consumer prices (annual %) · Services, value added (% of GDP)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Inequality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 index (index (0-100))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finance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government gross debt (% of GDP) · Tax revenue (% of GDP)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Population, total (persons) · Population aged 65 and above (% of total population) · Fertility rate (births per woman)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Tertiary school enrolment (% gross) · Government expenditure on education (% of GDP)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 expectancy at birth (years) · Current health expenditure (% of GDP)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Digitalisation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Individuals using the Internet (% of population) · Fixed broadband subscriptions (per 100 people)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Renewable energy consumption (% of total final energy consumption) · CO2 emissions per capita (excl. LULUCF) (t CO2e per capita)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Gaps you have to know about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Data workshop</a:t>
            </a:r>
            <a:endParaRPr lang="en-US" sz="850" dirty="0"/>
          </a:p>
        </p:txBody>
      </p:sp>
      <p:pic>
        <p:nvPicPr>
          <p:cNvPr id="5" name="Image 0" descr="C:\Users\danir\Desktop\COIL Ulysseus\presentaciones\figuras\huec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120640" cy="31821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3159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= data available, pink = missing (2010–2024)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5715000" y="1143000"/>
            <a:ext cx="297180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15000" y="1143000"/>
            <a:ext cx="64008" cy="3429000"/>
          </a:xfrm>
          <a:prstGeom prst="rect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16168" y="12527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16168" y="1600200"/>
            <a:ext cx="2651760" cy="2898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Montenegro has no tax revenue data (15 of 15 years missing), and no CO2 or education spending series.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Renewable energy ends in 2021 for every country; the Gini index ends in 2022–2023.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expenditure ends in 2023.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coverage before you choose your indicators and years.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· 20 MINUTES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first chart in four tools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Data workshop</a:t>
            </a:r>
            <a:endParaRPr lang="en-US" sz="850" dirty="0"/>
          </a:p>
        </p:txBody>
      </p:sp>
      <p:pic>
        <p:nvPicPr>
          <p:cNvPr id="5" name="Image 0" descr="C:\Users\danir\Desktop\COIL Ulysseus\presentaciones\figuras\de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5120640" cy="31181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15000" y="1143000"/>
            <a:ext cx="297180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715000" y="1143000"/>
            <a:ext cx="64008" cy="3383280"/>
          </a:xfrm>
          <a:prstGeom prst="rect">
            <a:avLst/>
          </a:prstGeom>
          <a:solidFill>
            <a:srgbClr val="312A63"/>
          </a:solidFill>
          <a:ln w="12700">
            <a:solidFill>
              <a:srgbClr val="312A6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16168" y="125272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task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16168" y="1600200"/>
            <a:ext cx="265176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COIL file.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Spain, Slovakia and Montenegro.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youth unemployment (SL_UEM_1524_ZS) from 2010 to 2025.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takes about 5 minutes: first without code (Power BI, Gretl), then with code (Python, R).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NO CODE NEEDED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Without writing code: Power BI and Gretl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Data workshop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2336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43000"/>
            <a:ext cx="64008" cy="2834640"/>
          </a:xfrm>
          <a:prstGeom prst="rect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5272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600200"/>
            <a:ext cx="370332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data &gt; Text/CSV &gt; coil_indicators_wide.csv &gt; Load.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Line chart.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X-axis: year. Y-axis: SL.UEM.1524.ZS. Legend: country.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pane: country is Spain, Slovakia, Montenegro.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year is a whole number, not summarised.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02336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43000"/>
            <a:ext cx="64008" cy="2834640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25272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Gretl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64608" y="1600200"/>
            <a:ext cx="3703320" cy="2304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&gt; Open data &gt; User file &gt; coil_indicators_gretl.csv.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&gt; Dataset structure &gt; Panel: unit = iso3, time = year.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&gt; Restrict, based on criterion: iso3 == "ESP" || iso3 == "SVK" || iso3 == "MNE".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chart, type one line in the Gretl console: panplot SL_UEM_1524_ZS --overlay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routes give the chart on the previous slide. The step-by-step guide for each method is in the methods module.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· OPTIONAL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code: Python and R (if your course uses them)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Data workshop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4023360" cy="2743200"/>
          </a:xfrm>
          <a:prstGeom prst="rect">
            <a:avLst/>
          </a:prstGeom>
          <a:solidFill>
            <a:srgbClr val="1B1636"/>
          </a:solidFill>
          <a:ln w="12700">
            <a:solidFill>
              <a:srgbClr val="1B16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4023360" cy="256032"/>
          </a:xfrm>
          <a:prstGeom prst="rect">
            <a:avLst/>
          </a:prstGeom>
          <a:solidFill>
            <a:srgbClr val="312A63"/>
          </a:solidFill>
          <a:ln w="12700">
            <a:solidFill>
              <a:srgbClr val="312A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43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(pandas + matplotlib)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453896"/>
            <a:ext cx="3840480" cy="2377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= pd.read_csv("coil_indicators_gretl.csv")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d[d.iso3.isin(["ESP", "SVK", "MNE"])]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h.pivot(index="year", columns="country",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values="SL_UEM_1524_ZS").plot()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plt.ylabel("Youth unemployment, 15-24 (%)")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023360" cy="2743200"/>
          </a:xfrm>
          <a:prstGeom prst="rect">
            <a:avLst/>
          </a:prstGeom>
          <a:solidFill>
            <a:srgbClr val="1B1636"/>
          </a:solidFill>
          <a:ln w="12700">
            <a:solidFill>
              <a:srgbClr val="1B16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143000"/>
            <a:ext cx="4023360" cy="25603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1430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(ggplot2)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453896"/>
            <a:ext cx="3840480" cy="2377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 &lt;- read.csv("coil_indicators_gretl.csv")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&lt;- subset(d, iso3 %in% c("ESP", "SVK", "MNE"))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library(ggplot2)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ggplot(h, aes(year, SL_UEM_1524_ZS,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colour = country))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geom_line()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8E6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labs(y = "Youth unemployment, 15-24 (%)")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code from the folder where you saved the CSV file. In R, install ggplot2 once with install.packages("ggplot2").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DELIVERABLE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dictionary: one row per variable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Data workshop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34440"/>
                <a:gridCol w="1325880"/>
                <a:gridCol w="1097280"/>
                <a:gridCol w="777240"/>
                <a:gridCol w="731520"/>
                <a:gridCol w="2148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A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values and what we did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12A6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youth_unemp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SL.UEM.1524.ZS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Unemployment, youth (15–24)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labour force 15–24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World Bank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2010–2025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health_exp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SH.XPD.CHEX.GD.ZS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health expenditure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GDP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World Bank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2010–2023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Montenegro 2010 missing: Montenegro enters in 2011 (unbalanced panel)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GC.TAX.TOTL.GD.ZS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 revenue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of GDP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World Bank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2010–2024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B28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data for Montenegro: country left out of this variable, stated in the report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A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as soon as you choose your indicators. It saves time in every later step and it is part of deliverable 2.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fill a gap silently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Data workshop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64008" cy="1417320"/>
          </a:xfrm>
          <a:prstGeom prst="rect">
            <a:avLst/>
          </a:prstGeom>
          <a:solidFill>
            <a:srgbClr val="312A63"/>
          </a:solidFill>
          <a:ln w="12700">
            <a:solidFill>
              <a:srgbClr val="312A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29844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Change the year or the indicator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8368" y="1645920"/>
            <a:ext cx="37033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year or an indicator with full coverage for your countries.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188720"/>
            <a:ext cx="4023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188720"/>
            <a:ext cx="64008" cy="1417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4608" y="129844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Leave the country out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64608" y="1645920"/>
            <a:ext cx="37033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that variable only, and say so in the report and in every table (n = …).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4023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88920"/>
            <a:ext cx="64008" cy="1417320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89864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Interpolate inside a country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" y="3246120"/>
            <a:ext cx="37033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between two known years, never beyond the last one. Mark the values you created.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2788920"/>
            <a:ext cx="402336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AE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788920"/>
            <a:ext cx="64008" cy="1417320"/>
          </a:xfrm>
          <a:prstGeom prst="rect">
            <a:avLst/>
          </a:prstGeom>
          <a:solidFill>
            <a:srgbClr val="E55A5A"/>
          </a:solidFill>
          <a:ln w="12700">
            <a:solidFill>
              <a:srgbClr val="E55A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4608" y="289864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12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Add another source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64608" y="3246120"/>
            <a:ext cx="37033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Eurostat or the national statistics office (e.g. MONSTAT). Document it in the data dictionary.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5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WEEK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12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checklist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81888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Ulysseus COIL · Comparing Europe with Data · Data workshop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312A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17043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dataset is ready (one row per country and year) and every variable is documented in a data dictionary.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312A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5623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variable has its code, unit, source and years in the data dictionary.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312A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54203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know which gaps affect your countries and what you will do with them.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292608" cy="292608"/>
          </a:xfrm>
          <a:prstGeom prst="rect">
            <a:avLst/>
          </a:prstGeom>
          <a:solidFill>
            <a:srgbClr val="FFFFFF"/>
          </a:solidFill>
          <a:ln w="19050">
            <a:solidFill>
              <a:srgbClr val="312A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22783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4: exploratory data analysis. Descriptive statistics and first charts are done, and the team agrees on what the data show.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55A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from the teams · 15 minutes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91456"/>
            <a:ext cx="41148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B68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Comparing Europe with Data · Data workshop</dc:title>
  <dc:subject>PptxGenJS Presentation</dc:subject>
  <dc:creator>Ulysseus COIL teaching team</dc:creator>
  <cp:lastModifiedBy>Ulysseus COIL teaching team</cp:lastModifiedBy>
  <cp:revision>1</cp:revision>
  <dcterms:created xsi:type="dcterms:W3CDTF">2026-10-19T10:55:13Z</dcterms:created>
  <dcterms:modified xsi:type="dcterms:W3CDTF">2026-10-19T10:55:13Z</dcterms:modified>
</cp:coreProperties>
</file>